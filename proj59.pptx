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4.svg" ContentType="image/svg+xml"/>
  <Override PartName="/ppt/media/image17.svg" ContentType="image/svg+xml"/>
  <Override PartName="/ppt/media/image2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8288000" cy="10287000"/>
  <p:notesSz cx="6858000" cy="9144000"/>
  <p:embeddedFontLst>
    <p:embeddedFont>
      <p:font typeface="Arimo Bold" panose="020B0704020202020204"/>
      <p:bold r:id="rId35"/>
    </p:embeddedFont>
    <p:embeddedFont>
      <p:font typeface="Arimo" panose="020B0604020202020204"/>
      <p:regular r:id="rId36"/>
    </p:embeddedFont>
    <p:embeddedFont>
      <p:font typeface="Calibri (MS)" panose="020F0502020204030204"/>
      <p:regular r:id="rId37"/>
    </p:embeddedFont>
    <p:embeddedFont>
      <p:font typeface="Calibri (MS) Bold" panose="020F0702030404030204"/>
      <p:bold r:id="rId38"/>
    </p:embeddedFont>
    <p:embeddedFont>
      <p:font typeface="Calibri" panose="020F0502020204030204" charset="0"/>
      <p:regular r:id="rId39"/>
      <p:bold r:id="rId40"/>
      <p:italic r:id="rId41"/>
      <p:boldItalic r:id="rId42"/>
    </p:embeddedFont>
    <p:embeddedFont>
      <p:font typeface="字由点字典黑 Bold" panose="00020600040101010101" charset="-122"/>
      <p:regular r:id="rId43"/>
    </p:embeddedFont>
    <p:embeddedFont>
      <p:font typeface="可画糯糯体-简" panose="020B0500000000000000" charset="-122"/>
      <p:regular r:id="rId44"/>
    </p:embeddedFont>
  </p:embeddedFontLst>
  <p:custDataLst>
    <p:tags r:id="rId4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tags" Target="tags/tag4.xml"/><Relationship Id="rId44" Type="http://schemas.openxmlformats.org/officeDocument/2006/relationships/font" Target="fonts/font10.fntdata"/><Relationship Id="rId43" Type="http://schemas.openxmlformats.org/officeDocument/2006/relationships/font" Target="fonts/font9.fntdata"/><Relationship Id="rId42" Type="http://schemas.openxmlformats.org/officeDocument/2006/relationships/font" Target="fonts/font8.fntdata"/><Relationship Id="rId41" Type="http://schemas.openxmlformats.org/officeDocument/2006/relationships/font" Target="fonts/font7.fntdata"/><Relationship Id="rId40" Type="http://schemas.openxmlformats.org/officeDocument/2006/relationships/font" Target="fonts/font6.fntdata"/><Relationship Id="rId4" Type="http://schemas.openxmlformats.org/officeDocument/2006/relationships/notesMaster" Target="notesMasters/notesMaster1.xml"/><Relationship Id="rId39" Type="http://schemas.openxmlformats.org/officeDocument/2006/relationships/font" Target="fonts/font5.fntdata"/><Relationship Id="rId38" Type="http://schemas.openxmlformats.org/officeDocument/2006/relationships/font" Target="fonts/font4.fntdata"/><Relationship Id="rId37" Type="http://schemas.openxmlformats.org/officeDocument/2006/relationships/font" Target="fonts/font3.fntdata"/><Relationship Id="rId36" Type="http://schemas.openxmlformats.org/officeDocument/2006/relationships/font" Target="fonts/font2.fntdata"/><Relationship Id="rId35" Type="http://schemas.openxmlformats.org/officeDocument/2006/relationships/font" Target="fonts/font1.fntdata"/><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a:t>
            </a:r>
            <a:endParaRPr lang="en-US"/>
          </a:p>
          <a:p>
            <a:r>
              <a:rPr lang="en-US"/>
              <a:t>2</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a:t>
            </a:r>
            <a:endParaRPr lang="en-US"/>
          </a:p>
          <a:p>
            <a:r>
              <a:rPr lang="en-US"/>
              <a:t>3</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PPT作者请关注公众号壹课，请尊重原作者。</a:t>
            </a:r>
            <a:endParaRPr lang="en-US"/>
          </a:p>
          <a:p>
            <a:r>
              <a:rPr lang="en-US"/>
              <a:t>5</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a:t>
            </a:r>
            <a:endParaRPr lang="en-US"/>
          </a:p>
          <a:p>
            <a:r>
              <a:rPr lang="en-US"/>
              <a:t>6</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a:t>
            </a:r>
            <a:endParaRPr lang="en-US"/>
          </a:p>
          <a:p>
            <a:r>
              <a:rPr lang="en-US"/>
              <a:t>6</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PPT作者请关注公众号壹课，请尊重原作者。</a:t>
            </a:r>
            <a:endParaRPr lang="en-US"/>
          </a:p>
          <a:p>
            <a:r>
              <a:rPr lang="en-US"/>
              <a:t>7</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PPT作者请关注公众号壹课，请尊重原作者。</a:t>
            </a:r>
            <a:endParaRPr lang="en-US"/>
          </a:p>
          <a:p>
            <a:r>
              <a:rPr lang="en-US"/>
              <a:t>12</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PPT作者请关注公众号壹课，请尊重原作者。</a:t>
            </a:r>
            <a:endParaRPr lang="en-US"/>
          </a:p>
          <a:p>
            <a:r>
              <a:rPr lang="en-US"/>
              <a:t>14</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任务分配函数就是根据资源访问情况，先调用分组和组分配函数处理访问资源的任务，最后采用Worst-Fit分配无临界区任务</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PPT作者请关注公众号壹课，请尊重原作者。</a:t>
            </a:r>
            <a:endParaRPr lang="en-US"/>
          </a:p>
          <a:p>
            <a:r>
              <a:rPr lang="en-US"/>
              <a:t>29</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PPT作者请关注公众号壹课。PPT作者请关注公众号壹课，请尊重原作者。</a:t>
            </a:r>
            <a:endParaRPr lang="en-US"/>
          </a:p>
          <a:p/>
          <a:p>
            <a:r>
              <a:rPr lang="en-US"/>
              <a:t>30</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PPT作者请关注公众号壹课。PPT作者请关注公众号壹课，请尊重原作者。</a:t>
            </a:r>
            <a:endParaRPr lang="en-US"/>
          </a:p>
          <a:p/>
          <a:p>
            <a:r>
              <a:rPr lang="en-US"/>
              <a:t>32</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公众号壹课</a:t>
            </a:r>
            <a:endParaRPr lang="en-US"/>
          </a:p>
          <a:p>
            <a:r>
              <a:rPr lang="en-US"/>
              <a:t>38</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tags" Target="../tags/tag1.xml"/><Relationship Id="rId2" Type="http://schemas.openxmlformats.org/officeDocument/2006/relationships/image" Target="../media/image7.png"/><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tags" Target="../tags/tag2.xml"/><Relationship Id="rId2" Type="http://schemas.openxmlformats.org/officeDocument/2006/relationships/image" Target="../media/image7.png"/><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tags" Target="../tags/tag3.xml"/><Relationship Id="rId2" Type="http://schemas.openxmlformats.org/officeDocument/2006/relationships/image" Target="../media/image7.png"/><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7.png"/><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7.png"/><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7.png"/><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7.png"/><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7.xml"/><Relationship Id="rId4" Type="http://schemas.openxmlformats.org/officeDocument/2006/relationships/image" Target="../media/image23.png"/><Relationship Id="rId3" Type="http://schemas.openxmlformats.org/officeDocument/2006/relationships/image" Target="../media/image7.png"/><Relationship Id="rId2" Type="http://schemas.openxmlformats.org/officeDocument/2006/relationships/image" Target="../media/image17.svg"/><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7.svg"/><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7.png"/><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image" Target="../media/image6.jpe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7.png"/><Relationship Id="rId3" Type="http://schemas.openxmlformats.org/officeDocument/2006/relationships/image" Target="../media/image28.svg"/><Relationship Id="rId2" Type="http://schemas.openxmlformats.org/officeDocument/2006/relationships/image" Target="../media/image13.png"/><Relationship Id="rId1" Type="http://schemas.openxmlformats.org/officeDocument/2006/relationships/image" Target="../media/image6.jpe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8.svg"/><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image" Target="../media/image6.jpeg"/></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27.xml"/><Relationship Id="rId8" Type="http://schemas.openxmlformats.org/officeDocument/2006/relationships/slideLayout" Target="../slideLayouts/slideLayout7.xml"/><Relationship Id="rId7" Type="http://schemas.openxmlformats.org/officeDocument/2006/relationships/image" Target="../media/image35.png"/><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8.svg"/><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image" Target="../media/image6.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22575" y="8373541"/>
            <a:ext cx="8806236" cy="1913455"/>
            <a:chOff x="0" y="0"/>
            <a:chExt cx="11741648" cy="2551274"/>
          </a:xfrm>
        </p:grpSpPr>
        <p:sp>
          <p:nvSpPr>
            <p:cNvPr id="4" name="Freeform 4"/>
            <p:cNvSpPr/>
            <p:nvPr/>
          </p:nvSpPr>
          <p:spPr>
            <a:xfrm>
              <a:off x="0" y="0"/>
              <a:ext cx="11741658" cy="2551303"/>
            </a:xfrm>
            <a:custGeom>
              <a:avLst/>
              <a:gdLst/>
              <a:ahLst/>
              <a:cxnLst/>
              <a:rect l="l" t="t" r="r" b="b"/>
              <a:pathLst>
                <a:path w="11741658" h="2551303">
                  <a:moveTo>
                    <a:pt x="0" y="0"/>
                  </a:moveTo>
                  <a:lnTo>
                    <a:pt x="11741658" y="0"/>
                  </a:lnTo>
                  <a:lnTo>
                    <a:pt x="11741658" y="2551303"/>
                  </a:lnTo>
                  <a:lnTo>
                    <a:pt x="0" y="2551303"/>
                  </a:lnTo>
                  <a:lnTo>
                    <a:pt x="0" y="0"/>
                  </a:lnTo>
                  <a:close/>
                </a:path>
              </a:pathLst>
            </a:custGeom>
            <a:blipFill>
              <a:blip r:embed="rId2"/>
              <a:stretch>
                <a:fillRect t="-64192" r="-17271" b="-151669"/>
              </a:stretch>
            </a:blipFill>
          </p:spPr>
        </p:sp>
      </p:grpSp>
      <p:grpSp>
        <p:nvGrpSpPr>
          <p:cNvPr id="5" name="Group 5"/>
          <p:cNvGrpSpPr/>
          <p:nvPr/>
        </p:nvGrpSpPr>
        <p:grpSpPr>
          <a:xfrm rot="0">
            <a:off x="531005" y="-124065"/>
            <a:ext cx="4170402" cy="4595592"/>
            <a:chOff x="0" y="0"/>
            <a:chExt cx="5560536" cy="6127456"/>
          </a:xfrm>
        </p:grpSpPr>
        <p:sp>
          <p:nvSpPr>
            <p:cNvPr id="6" name="Freeform 6"/>
            <p:cNvSpPr/>
            <p:nvPr/>
          </p:nvSpPr>
          <p:spPr>
            <a:xfrm>
              <a:off x="0" y="0"/>
              <a:ext cx="5560568" cy="6127496"/>
            </a:xfrm>
            <a:custGeom>
              <a:avLst/>
              <a:gdLst/>
              <a:ahLst/>
              <a:cxnLst/>
              <a:rect l="l" t="t" r="r" b="b"/>
              <a:pathLst>
                <a:path w="5560568" h="6127496">
                  <a:moveTo>
                    <a:pt x="0" y="0"/>
                  </a:moveTo>
                  <a:lnTo>
                    <a:pt x="5560568" y="0"/>
                  </a:lnTo>
                  <a:lnTo>
                    <a:pt x="5560568" y="3347212"/>
                  </a:lnTo>
                  <a:cubicBezTo>
                    <a:pt x="5560568" y="4882769"/>
                    <a:pt x="4315841" y="6127496"/>
                    <a:pt x="2780284" y="6127496"/>
                  </a:cubicBezTo>
                  <a:cubicBezTo>
                    <a:pt x="1244727" y="6127496"/>
                    <a:pt x="0" y="4882642"/>
                    <a:pt x="0" y="3347212"/>
                  </a:cubicBezTo>
                  <a:close/>
                </a:path>
              </a:pathLst>
            </a:custGeom>
            <a:solidFill>
              <a:srgbClr val="014924"/>
            </a:solidFill>
          </p:spPr>
        </p:sp>
      </p:grpSp>
      <p:grpSp>
        <p:nvGrpSpPr>
          <p:cNvPr id="7" name="Group 7"/>
          <p:cNvGrpSpPr/>
          <p:nvPr/>
        </p:nvGrpSpPr>
        <p:grpSpPr>
          <a:xfrm rot="0">
            <a:off x="766908" y="113989"/>
            <a:ext cx="3658785" cy="3658788"/>
            <a:chOff x="0" y="0"/>
            <a:chExt cx="4878380" cy="4878384"/>
          </a:xfrm>
        </p:grpSpPr>
        <p:sp>
          <p:nvSpPr>
            <p:cNvPr id="8" name="Freeform 8"/>
            <p:cNvSpPr/>
            <p:nvPr/>
          </p:nvSpPr>
          <p:spPr>
            <a:xfrm>
              <a:off x="0" y="0"/>
              <a:ext cx="4878324" cy="4878324"/>
            </a:xfrm>
            <a:custGeom>
              <a:avLst/>
              <a:gdLst/>
              <a:ahLst/>
              <a:cxnLst/>
              <a:rect l="l" t="t" r="r" b="b"/>
              <a:pathLst>
                <a:path w="4878324" h="4878324">
                  <a:moveTo>
                    <a:pt x="0" y="2439162"/>
                  </a:moveTo>
                  <a:cubicBezTo>
                    <a:pt x="0" y="1092073"/>
                    <a:pt x="1092073" y="0"/>
                    <a:pt x="2439162" y="0"/>
                  </a:cubicBezTo>
                  <a:cubicBezTo>
                    <a:pt x="3786251" y="0"/>
                    <a:pt x="4878324" y="1092073"/>
                    <a:pt x="4878324" y="2439162"/>
                  </a:cubicBezTo>
                  <a:cubicBezTo>
                    <a:pt x="4878324" y="3786251"/>
                    <a:pt x="3786378" y="4878324"/>
                    <a:pt x="2439162" y="4878324"/>
                  </a:cubicBezTo>
                  <a:cubicBezTo>
                    <a:pt x="1091946" y="4878324"/>
                    <a:pt x="0" y="3786378"/>
                    <a:pt x="0" y="2439162"/>
                  </a:cubicBezTo>
                  <a:close/>
                </a:path>
              </a:pathLst>
            </a:custGeom>
            <a:gradFill rotWithShape="1">
              <a:gsLst>
                <a:gs pos="0">
                  <a:srgbClr val="FFFFFF">
                    <a:alpha val="100000"/>
                  </a:srgbClr>
                </a:gs>
                <a:gs pos="100000">
                  <a:srgbClr val="E8E8E8">
                    <a:alpha val="100000"/>
                  </a:srgbClr>
                </a:gs>
              </a:gsLst>
              <a:lin ang="5400000"/>
            </a:gradFill>
          </p:spPr>
        </p:sp>
      </p:grpSp>
      <p:grpSp>
        <p:nvGrpSpPr>
          <p:cNvPr id="9" name="Group 9"/>
          <p:cNvGrpSpPr/>
          <p:nvPr/>
        </p:nvGrpSpPr>
        <p:grpSpPr>
          <a:xfrm rot="-10800000">
            <a:off x="1004647" y="351729"/>
            <a:ext cx="3183307" cy="3183308"/>
            <a:chOff x="0" y="0"/>
            <a:chExt cx="4244409" cy="4244411"/>
          </a:xfrm>
        </p:grpSpPr>
        <p:sp>
          <p:nvSpPr>
            <p:cNvPr id="10" name="Freeform 10"/>
            <p:cNvSpPr/>
            <p:nvPr/>
          </p:nvSpPr>
          <p:spPr>
            <a:xfrm>
              <a:off x="0" y="0"/>
              <a:ext cx="4244340" cy="4244340"/>
            </a:xfrm>
            <a:custGeom>
              <a:avLst/>
              <a:gdLst/>
              <a:ahLst/>
              <a:cxnLst/>
              <a:rect l="l" t="t" r="r" b="b"/>
              <a:pathLst>
                <a:path w="4244340" h="4244340">
                  <a:moveTo>
                    <a:pt x="0" y="2122170"/>
                  </a:moveTo>
                  <a:cubicBezTo>
                    <a:pt x="0" y="950087"/>
                    <a:pt x="950087" y="0"/>
                    <a:pt x="2122170" y="0"/>
                  </a:cubicBezTo>
                  <a:cubicBezTo>
                    <a:pt x="3294253" y="0"/>
                    <a:pt x="4244340" y="950087"/>
                    <a:pt x="4244340" y="2122170"/>
                  </a:cubicBezTo>
                  <a:cubicBezTo>
                    <a:pt x="4244340" y="3294253"/>
                    <a:pt x="3294253" y="4244340"/>
                    <a:pt x="2122170" y="4244340"/>
                  </a:cubicBezTo>
                  <a:cubicBezTo>
                    <a:pt x="950087" y="4244340"/>
                    <a:pt x="0" y="3294253"/>
                    <a:pt x="0" y="2122170"/>
                  </a:cubicBezTo>
                  <a:close/>
                </a:path>
              </a:pathLst>
            </a:custGeom>
            <a:gradFill rotWithShape="1">
              <a:gsLst>
                <a:gs pos="0">
                  <a:srgbClr val="FFFFFF">
                    <a:alpha val="100000"/>
                  </a:srgbClr>
                </a:gs>
                <a:gs pos="100000">
                  <a:srgbClr val="E8E8E8">
                    <a:alpha val="100000"/>
                  </a:srgbClr>
                </a:gs>
              </a:gsLst>
              <a:lin ang="5400000"/>
            </a:gradFill>
          </p:spPr>
        </p:sp>
      </p:grpSp>
      <p:grpSp>
        <p:nvGrpSpPr>
          <p:cNvPr id="11" name="Group 11"/>
          <p:cNvGrpSpPr/>
          <p:nvPr/>
        </p:nvGrpSpPr>
        <p:grpSpPr>
          <a:xfrm rot="0">
            <a:off x="0" y="8373543"/>
            <a:ext cx="18288000" cy="1913455"/>
            <a:chOff x="0" y="0"/>
            <a:chExt cx="24384000" cy="2551274"/>
          </a:xfrm>
        </p:grpSpPr>
        <p:sp>
          <p:nvSpPr>
            <p:cNvPr id="12" name="Freeform 12"/>
            <p:cNvSpPr/>
            <p:nvPr/>
          </p:nvSpPr>
          <p:spPr>
            <a:xfrm>
              <a:off x="0" y="0"/>
              <a:ext cx="24384000" cy="2551303"/>
            </a:xfrm>
            <a:custGeom>
              <a:avLst/>
              <a:gdLst/>
              <a:ahLst/>
              <a:cxnLst/>
              <a:rect l="l" t="t" r="r" b="b"/>
              <a:pathLst>
                <a:path w="24384000" h="2551303">
                  <a:moveTo>
                    <a:pt x="0" y="0"/>
                  </a:moveTo>
                  <a:lnTo>
                    <a:pt x="24384000" y="0"/>
                  </a:lnTo>
                  <a:lnTo>
                    <a:pt x="24384000" y="2551303"/>
                  </a:lnTo>
                  <a:lnTo>
                    <a:pt x="0" y="2551303"/>
                  </a:lnTo>
                  <a:close/>
                </a:path>
              </a:pathLst>
            </a:custGeom>
            <a:gradFill rotWithShape="1">
              <a:gsLst>
                <a:gs pos="0">
                  <a:srgbClr val="014924">
                    <a:alpha val="100000"/>
                  </a:srgbClr>
                </a:gs>
                <a:gs pos="51000">
                  <a:srgbClr val="014924">
                    <a:alpha val="100000"/>
                  </a:srgbClr>
                </a:gs>
                <a:gs pos="80000">
                  <a:srgbClr val="014924">
                    <a:alpha val="80000"/>
                  </a:srgbClr>
                </a:gs>
                <a:gs pos="100000">
                  <a:srgbClr val="014924">
                    <a:alpha val="60000"/>
                  </a:srgbClr>
                </a:gs>
              </a:gsLst>
              <a:lin ang="10800000"/>
            </a:gradFill>
          </p:spPr>
        </p:sp>
      </p:grpSp>
      <p:grpSp>
        <p:nvGrpSpPr>
          <p:cNvPr id="13" name="Group 13"/>
          <p:cNvGrpSpPr/>
          <p:nvPr/>
        </p:nvGrpSpPr>
        <p:grpSpPr>
          <a:xfrm rot="0">
            <a:off x="-25569" y="8128587"/>
            <a:ext cx="18288000" cy="115662"/>
            <a:chOff x="0" y="0"/>
            <a:chExt cx="24384000" cy="154216"/>
          </a:xfrm>
        </p:grpSpPr>
        <p:sp>
          <p:nvSpPr>
            <p:cNvPr id="14" name="Freeform 14"/>
            <p:cNvSpPr/>
            <p:nvPr/>
          </p:nvSpPr>
          <p:spPr>
            <a:xfrm>
              <a:off x="0" y="0"/>
              <a:ext cx="24384000" cy="154178"/>
            </a:xfrm>
            <a:custGeom>
              <a:avLst/>
              <a:gdLst/>
              <a:ahLst/>
              <a:cxnLst/>
              <a:rect l="l" t="t" r="r" b="b"/>
              <a:pathLst>
                <a:path w="24384000" h="154178">
                  <a:moveTo>
                    <a:pt x="0" y="0"/>
                  </a:moveTo>
                  <a:lnTo>
                    <a:pt x="24384000" y="0"/>
                  </a:lnTo>
                  <a:lnTo>
                    <a:pt x="24384000" y="154178"/>
                  </a:lnTo>
                  <a:lnTo>
                    <a:pt x="0" y="154178"/>
                  </a:lnTo>
                  <a:close/>
                </a:path>
              </a:pathLst>
            </a:custGeom>
            <a:solidFill>
              <a:srgbClr val="014924"/>
            </a:solidFill>
          </p:spPr>
        </p:sp>
      </p:grpSp>
      <p:grpSp>
        <p:nvGrpSpPr>
          <p:cNvPr id="15" name="Group 15"/>
          <p:cNvGrpSpPr>
            <a:grpSpLocks noChangeAspect="1"/>
          </p:cNvGrpSpPr>
          <p:nvPr/>
        </p:nvGrpSpPr>
        <p:grpSpPr>
          <a:xfrm rot="0">
            <a:off x="1144006" y="495275"/>
            <a:ext cx="2904588" cy="2896216"/>
            <a:chOff x="0" y="0"/>
            <a:chExt cx="3872784" cy="3861622"/>
          </a:xfrm>
        </p:grpSpPr>
        <p:sp>
          <p:nvSpPr>
            <p:cNvPr id="16" name="Freeform 16"/>
            <p:cNvSpPr/>
            <p:nvPr/>
          </p:nvSpPr>
          <p:spPr>
            <a:xfrm>
              <a:off x="0" y="0"/>
              <a:ext cx="3872738" cy="3861562"/>
            </a:xfrm>
            <a:custGeom>
              <a:avLst/>
              <a:gdLst/>
              <a:ahLst/>
              <a:cxnLst/>
              <a:rect l="l" t="t" r="r" b="b"/>
              <a:pathLst>
                <a:path w="3872738" h="3861562">
                  <a:moveTo>
                    <a:pt x="0" y="0"/>
                  </a:moveTo>
                  <a:lnTo>
                    <a:pt x="3872738" y="0"/>
                  </a:lnTo>
                  <a:lnTo>
                    <a:pt x="3872738" y="3861562"/>
                  </a:lnTo>
                  <a:lnTo>
                    <a:pt x="0" y="3861562"/>
                  </a:lnTo>
                  <a:lnTo>
                    <a:pt x="0" y="0"/>
                  </a:lnTo>
                  <a:close/>
                </a:path>
              </a:pathLst>
            </a:custGeom>
            <a:blipFill>
              <a:blip r:embed="rId3"/>
              <a:stretch>
                <a:fillRect t="-36" r="-1" b="-38"/>
              </a:stretch>
            </a:blipFill>
          </p:spPr>
        </p:sp>
      </p:grpSp>
      <p:grpSp>
        <p:nvGrpSpPr>
          <p:cNvPr id="17" name="Group 17"/>
          <p:cNvGrpSpPr>
            <a:grpSpLocks noChangeAspect="1"/>
          </p:cNvGrpSpPr>
          <p:nvPr/>
        </p:nvGrpSpPr>
        <p:grpSpPr>
          <a:xfrm rot="0">
            <a:off x="13809295" y="746643"/>
            <a:ext cx="3767117" cy="831614"/>
            <a:chOff x="0" y="0"/>
            <a:chExt cx="4622188" cy="1020376"/>
          </a:xfrm>
        </p:grpSpPr>
        <p:sp>
          <p:nvSpPr>
            <p:cNvPr id="18" name="Freeform 18"/>
            <p:cNvSpPr/>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
              <a:stretch>
                <a:fillRect b="-5"/>
              </a:stretch>
            </a:blipFill>
          </p:spPr>
        </p:sp>
      </p:grpSp>
      <p:sp>
        <p:nvSpPr>
          <p:cNvPr id="19" name="Freeform 19"/>
          <p:cNvSpPr/>
          <p:nvPr/>
        </p:nvSpPr>
        <p:spPr>
          <a:xfrm>
            <a:off x="7448447" y="746643"/>
            <a:ext cx="5113470" cy="3536783"/>
          </a:xfrm>
          <a:custGeom>
            <a:avLst/>
            <a:gdLst/>
            <a:ahLst/>
            <a:cxnLst/>
            <a:rect l="l" t="t" r="r" b="b"/>
            <a:pathLst>
              <a:path w="5113470" h="3536783">
                <a:moveTo>
                  <a:pt x="0" y="0"/>
                </a:moveTo>
                <a:lnTo>
                  <a:pt x="5113470" y="0"/>
                </a:lnTo>
                <a:lnTo>
                  <a:pt x="5113470" y="3536783"/>
                </a:lnTo>
                <a:lnTo>
                  <a:pt x="0" y="3536783"/>
                </a:lnTo>
                <a:lnTo>
                  <a:pt x="0" y="0"/>
                </a:lnTo>
                <a:close/>
              </a:path>
            </a:pathLst>
          </a:custGeom>
          <a:blipFill>
            <a:blip r:embed="rId5"/>
            <a:stretch>
              <a:fillRect l="-55456" t="-121681" r="-46343" b="-190702"/>
            </a:stretch>
          </a:blipFill>
        </p:spPr>
      </p:sp>
      <p:sp>
        <p:nvSpPr>
          <p:cNvPr id="20" name="TextBox 20"/>
          <p:cNvSpPr txBox="1"/>
          <p:nvPr/>
        </p:nvSpPr>
        <p:spPr>
          <a:xfrm>
            <a:off x="5555107" y="3928062"/>
            <a:ext cx="8012144" cy="3429000"/>
          </a:xfrm>
          <a:prstGeom prst="rect">
            <a:avLst/>
          </a:prstGeom>
        </p:spPr>
        <p:txBody>
          <a:bodyPr lIns="0" tIns="0" rIns="0" bIns="0" rtlCol="0" anchor="t">
            <a:spAutoFit/>
          </a:bodyPr>
          <a:lstStyle/>
          <a:p>
            <a:pPr algn="ctr">
              <a:lnSpc>
                <a:spcPts val="9720"/>
              </a:lnSpc>
            </a:pPr>
            <a:r>
              <a:rPr lang="en-US" sz="8100" b="1">
                <a:solidFill>
                  <a:srgbClr val="014924"/>
                </a:solidFill>
                <a:latin typeface="Arimo Bold" panose="020B0704020202020204"/>
                <a:ea typeface="Arimo Bold" panose="020B0704020202020204"/>
                <a:cs typeface="Arimo Bold" panose="020B0704020202020204"/>
                <a:sym typeface="Arimo Bold" panose="020B0704020202020204"/>
              </a:rPr>
              <a:t>Yat-CASched</a:t>
            </a:r>
            <a:endParaRPr lang="en-US" sz="8100" b="1">
              <a:solidFill>
                <a:srgbClr val="014924"/>
              </a:solidFill>
              <a:latin typeface="Arimo Bold" panose="020B0704020202020204"/>
              <a:ea typeface="Arimo Bold" panose="020B0704020202020204"/>
              <a:cs typeface="Arimo Bold" panose="020B0704020202020204"/>
              <a:sym typeface="Arimo Bold" panose="020B0704020202020204"/>
            </a:endParaRPr>
          </a:p>
          <a:p>
            <a:pPr algn="ctr">
              <a:lnSpc>
                <a:spcPts val="4320"/>
              </a:lnSpc>
            </a:pPr>
            <a:r>
              <a:rPr lang="en-US" sz="3600">
                <a:solidFill>
                  <a:srgbClr val="000000"/>
                </a:solidFill>
                <a:latin typeface="Arimo" panose="020B0604020202020204"/>
                <a:ea typeface="Arimo" panose="020B0604020202020204"/>
                <a:cs typeface="Arimo" panose="020B0604020202020204"/>
                <a:sym typeface="Arimo" panose="020B0604020202020204"/>
              </a:rPr>
              <a:t>Proj59 : </a:t>
            </a:r>
            <a:r>
              <a:rPr lang="en-US" sz="3600" b="1">
                <a:solidFill>
                  <a:srgbClr val="014924"/>
                </a:solidFill>
                <a:latin typeface="Arimo Bold" panose="020B0704020202020204"/>
                <a:ea typeface="Arimo Bold" panose="020B0704020202020204"/>
                <a:cs typeface="Arimo Bold" panose="020B0704020202020204"/>
                <a:sym typeface="Arimo Bold" panose="020B0704020202020204"/>
              </a:rPr>
              <a:t>Linux 内核低时延调度器</a:t>
            </a:r>
            <a:endParaRPr lang="en-US" sz="3600" b="1">
              <a:solidFill>
                <a:srgbClr val="014924"/>
              </a:solidFill>
              <a:latin typeface="Arimo Bold" panose="020B0704020202020204"/>
              <a:ea typeface="Arimo Bold" panose="020B0704020202020204"/>
              <a:cs typeface="Arimo Bold" panose="020B0704020202020204"/>
              <a:sym typeface="Arimo Bold" panose="020B0704020202020204"/>
            </a:endParaRPr>
          </a:p>
          <a:p>
            <a:pPr algn="ctr">
              <a:lnSpc>
                <a:spcPts val="4320"/>
              </a:lnSpc>
            </a:pPr>
            <a:r>
              <a:rPr lang="en-US" sz="3600">
                <a:solidFill>
                  <a:srgbClr val="014924"/>
                </a:solidFill>
                <a:latin typeface="Arimo" panose="020B0604020202020204"/>
                <a:ea typeface="Arimo" panose="020B0604020202020204"/>
                <a:cs typeface="Arimo" panose="020B0604020202020204"/>
                <a:sym typeface="Arimo" panose="020B0604020202020204"/>
              </a:rPr>
              <a:t>—— 面向多核实</a:t>
            </a:r>
            <a:endParaRPr lang="en-US" sz="3600">
              <a:solidFill>
                <a:srgbClr val="014924"/>
              </a:solidFill>
              <a:latin typeface="Arimo" panose="020B0604020202020204"/>
              <a:ea typeface="Arimo" panose="020B0604020202020204"/>
              <a:cs typeface="Arimo" panose="020B0604020202020204"/>
              <a:sym typeface="Arimo" panose="020B0604020202020204"/>
            </a:endParaRPr>
          </a:p>
          <a:p>
            <a:pPr algn="ctr">
              <a:lnSpc>
                <a:spcPts val="4320"/>
              </a:lnSpc>
            </a:pPr>
            <a:r>
              <a:rPr lang="en-US" sz="3600">
                <a:solidFill>
                  <a:srgbClr val="014924"/>
                </a:solidFill>
                <a:latin typeface="Arimo" panose="020B0604020202020204"/>
                <a:ea typeface="Arimo" panose="020B0604020202020204"/>
                <a:cs typeface="Arimo" panose="020B0604020202020204"/>
                <a:sym typeface="Arimo" panose="020B0604020202020204"/>
              </a:rPr>
              <a:t>时系统的轻量化缓存感知</a:t>
            </a:r>
            <a:endParaRPr lang="en-US" sz="3600">
              <a:solidFill>
                <a:srgbClr val="014924"/>
              </a:solidFill>
              <a:latin typeface="Arimo" panose="020B0604020202020204"/>
              <a:ea typeface="Arimo" panose="020B0604020202020204"/>
              <a:cs typeface="Arimo" panose="020B0604020202020204"/>
              <a:sym typeface="Arimo" panose="020B0604020202020204"/>
            </a:endParaRPr>
          </a:p>
          <a:p>
            <a:pPr algn="ctr">
              <a:lnSpc>
                <a:spcPts val="4320"/>
              </a:lnSpc>
            </a:pPr>
            <a:r>
              <a:rPr lang="en-US" sz="3600">
                <a:solidFill>
                  <a:srgbClr val="014924"/>
                </a:solidFill>
                <a:latin typeface="Arimo" panose="020B0604020202020204"/>
                <a:ea typeface="Arimo" panose="020B0604020202020204"/>
                <a:cs typeface="Arimo" panose="020B0604020202020204"/>
                <a:sym typeface="Arimo" panose="020B0604020202020204"/>
              </a:rPr>
              <a:t>型调度方法及实现</a:t>
            </a:r>
            <a:endParaRPr lang="en-US" sz="3600">
              <a:solidFill>
                <a:srgbClr val="014924"/>
              </a:solidFill>
              <a:latin typeface="Arimo" panose="020B0604020202020204"/>
              <a:ea typeface="Arimo" panose="020B0604020202020204"/>
              <a:cs typeface="Arimo" panose="020B0604020202020204"/>
              <a:sym typeface="Arimo" panose="020B0604020202020204"/>
            </a:endParaRPr>
          </a:p>
        </p:txBody>
      </p:sp>
      <p:sp>
        <p:nvSpPr>
          <p:cNvPr id="21" name="TextBox 21"/>
          <p:cNvSpPr txBox="1"/>
          <p:nvPr/>
        </p:nvSpPr>
        <p:spPr>
          <a:xfrm>
            <a:off x="12159375" y="8995856"/>
            <a:ext cx="6011616" cy="428625"/>
          </a:xfrm>
          <a:prstGeom prst="rect">
            <a:avLst/>
          </a:prstGeom>
        </p:spPr>
        <p:txBody>
          <a:bodyPr lIns="0" tIns="0" rIns="0" bIns="0" rtlCol="0" anchor="t">
            <a:spAutoFit/>
          </a:bodyPr>
          <a:lstStyle/>
          <a:p>
            <a:pPr marL="488315" lvl="1" indent="-244475" algn="l">
              <a:lnSpc>
                <a:spcPts val="3240"/>
              </a:lnSpc>
              <a:buFont typeface="Arial" panose="020B0604020202020204"/>
              <a:buChar char="•"/>
            </a:pPr>
            <a:r>
              <a:rPr lang="en-US" sz="2700" b="1">
                <a:solidFill>
                  <a:srgbClr val="FFFFFF"/>
                </a:solidFill>
                <a:latin typeface="Arimo Bold" panose="020B0704020202020204"/>
                <a:ea typeface="Arimo Bold" panose="020B0704020202020204"/>
                <a:cs typeface="Arimo Bold" panose="020B0704020202020204"/>
                <a:sym typeface="Arimo Bold" panose="020B0704020202020204"/>
              </a:rPr>
              <a:t>队伍编号</a:t>
            </a:r>
            <a:r>
              <a:rPr lang="en-US" sz="2700">
                <a:solidFill>
                  <a:srgbClr val="FFFFFF"/>
                </a:solidFill>
                <a:latin typeface="Arimo" panose="020B0604020202020204"/>
                <a:ea typeface="Arimo" panose="020B0604020202020204"/>
                <a:cs typeface="Arimo" panose="020B0604020202020204"/>
                <a:sym typeface="Arimo" panose="020B0604020202020204"/>
              </a:rPr>
              <a:t>：T202510558995172  </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
        <p:nvSpPr>
          <p:cNvPr id="22" name="TextBox 22"/>
          <p:cNvSpPr txBox="1"/>
          <p:nvPr/>
        </p:nvSpPr>
        <p:spPr>
          <a:xfrm>
            <a:off x="6140482" y="8995856"/>
            <a:ext cx="6269775" cy="428625"/>
          </a:xfrm>
          <a:prstGeom prst="rect">
            <a:avLst/>
          </a:prstGeom>
        </p:spPr>
        <p:txBody>
          <a:bodyPr lIns="0" tIns="0" rIns="0" bIns="0" rtlCol="0" anchor="t">
            <a:spAutoFit/>
          </a:bodyPr>
          <a:lstStyle/>
          <a:p>
            <a:pPr marL="488315" lvl="1" indent="-244475" algn="l">
              <a:lnSpc>
                <a:spcPts val="3240"/>
              </a:lnSpc>
              <a:buFont typeface="Arial" panose="020B0604020202020204"/>
              <a:buChar char="•"/>
            </a:pPr>
            <a:r>
              <a:rPr lang="en-US" sz="2700" b="1">
                <a:solidFill>
                  <a:srgbClr val="FFFFFF"/>
                </a:solidFill>
                <a:latin typeface="Arimo Bold" panose="020B0704020202020204"/>
                <a:ea typeface="Arimo Bold" panose="020B0704020202020204"/>
                <a:cs typeface="Arimo Bold" panose="020B0704020202020204"/>
                <a:sym typeface="Arimo Bold" panose="020B0704020202020204"/>
              </a:rPr>
              <a:t>答辩人</a:t>
            </a:r>
            <a:r>
              <a:rPr lang="en-US" sz="2700">
                <a:solidFill>
                  <a:srgbClr val="FFFFFF"/>
                </a:solidFill>
                <a:latin typeface="Arimo" panose="020B0604020202020204"/>
                <a:ea typeface="Arimo" panose="020B0604020202020204"/>
                <a:cs typeface="Arimo" panose="020B0604020202020204"/>
                <a:sym typeface="Arimo" panose="020B0604020202020204"/>
              </a:rPr>
              <a:t>：林炜东、马福泉、刘昊</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
        <p:nvSpPr>
          <p:cNvPr id="23" name="TextBox 23"/>
          <p:cNvSpPr txBox="1"/>
          <p:nvPr/>
        </p:nvSpPr>
        <p:spPr>
          <a:xfrm>
            <a:off x="296868" y="9016263"/>
            <a:ext cx="6011616" cy="428625"/>
          </a:xfrm>
          <a:prstGeom prst="rect">
            <a:avLst/>
          </a:prstGeom>
        </p:spPr>
        <p:txBody>
          <a:bodyPr lIns="0" tIns="0" rIns="0" bIns="0" rtlCol="0" anchor="t">
            <a:spAutoFit/>
          </a:bodyPr>
          <a:lstStyle/>
          <a:p>
            <a:pPr marL="488315" lvl="1" indent="-244475" algn="l">
              <a:lnSpc>
                <a:spcPts val="3240"/>
              </a:lnSpc>
              <a:buFont typeface="Arial" panose="020B0604020202020204"/>
              <a:buChar char="•"/>
            </a:pPr>
            <a:r>
              <a:rPr lang="en-US" sz="2700" b="1">
                <a:solidFill>
                  <a:srgbClr val="FFFFFF"/>
                </a:solidFill>
                <a:latin typeface="Arimo Bold" panose="020B0704020202020204"/>
                <a:ea typeface="Arimo Bold" panose="020B0704020202020204"/>
                <a:cs typeface="Arimo Bold" panose="020B0704020202020204"/>
                <a:sym typeface="Arimo Bold" panose="020B0704020202020204"/>
              </a:rPr>
              <a:t>队伍名称</a:t>
            </a:r>
            <a:r>
              <a:rPr lang="en-US" sz="2700">
                <a:solidFill>
                  <a:srgbClr val="FFFFFF"/>
                </a:solidFill>
                <a:latin typeface="Arimo" panose="020B0604020202020204"/>
                <a:ea typeface="Arimo" panose="020B0604020202020204"/>
                <a:cs typeface="Arimo" panose="020B0604020202020204"/>
                <a:sym typeface="Arimo" panose="020B0604020202020204"/>
              </a:rPr>
              <a:t>：从容应队</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TextBox 5"/>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0</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6" name="TextBox 6"/>
          <p:cNvSpPr txBox="1"/>
          <p:nvPr/>
        </p:nvSpPr>
        <p:spPr>
          <a:xfrm>
            <a:off x="1143186" y="244078"/>
            <a:ext cx="2556328"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队伍介绍</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grpSp>
        <p:nvGrpSpPr>
          <p:cNvPr id="7" name="Group 7"/>
          <p:cNvGrpSpPr/>
          <p:nvPr/>
        </p:nvGrpSpPr>
        <p:grpSpPr>
          <a:xfrm rot="0">
            <a:off x="4406504" y="326236"/>
            <a:ext cx="14596457" cy="492914"/>
            <a:chOff x="0" y="0"/>
            <a:chExt cx="19461943" cy="657218"/>
          </a:xfrm>
        </p:grpSpPr>
        <p:sp>
          <p:nvSpPr>
            <p:cNvPr id="8" name="Freeform 8"/>
            <p:cNvSpPr/>
            <p:nvPr/>
          </p:nvSpPr>
          <p:spPr>
            <a:xfrm>
              <a:off x="0" y="0"/>
              <a:ext cx="19461862" cy="657225"/>
            </a:xfrm>
            <a:custGeom>
              <a:avLst/>
              <a:gdLst/>
              <a:ahLst/>
              <a:cxnLst/>
              <a:rect l="l" t="t" r="r" b="b"/>
              <a:pathLst>
                <a:path w="19461862" h="657225">
                  <a:moveTo>
                    <a:pt x="0" y="328549"/>
                  </a:moveTo>
                  <a:cubicBezTo>
                    <a:pt x="0" y="147066"/>
                    <a:pt x="147066" y="0"/>
                    <a:pt x="328549" y="0"/>
                  </a:cubicBezTo>
                  <a:lnTo>
                    <a:pt x="19133313" y="0"/>
                  </a:lnTo>
                  <a:cubicBezTo>
                    <a:pt x="19314796" y="0"/>
                    <a:pt x="19461862" y="147066"/>
                    <a:pt x="19461862" y="328549"/>
                  </a:cubicBezTo>
                  <a:cubicBezTo>
                    <a:pt x="19461862" y="510032"/>
                    <a:pt x="19314796" y="657098"/>
                    <a:pt x="19133313" y="657098"/>
                  </a:cubicBezTo>
                  <a:lnTo>
                    <a:pt x="328549" y="657098"/>
                  </a:lnTo>
                  <a:cubicBezTo>
                    <a:pt x="147066" y="657225"/>
                    <a:pt x="0" y="510032"/>
                    <a:pt x="0" y="328549"/>
                  </a:cubicBezTo>
                  <a:close/>
                </a:path>
              </a:pathLst>
            </a:custGeom>
            <a:solidFill>
              <a:srgbClr val="014924"/>
            </a:solidFill>
          </p:spPr>
        </p:sp>
      </p:grpSp>
      <p:grpSp>
        <p:nvGrpSpPr>
          <p:cNvPr id="9" name="Group 9"/>
          <p:cNvGrpSpPr/>
          <p:nvPr/>
        </p:nvGrpSpPr>
        <p:grpSpPr>
          <a:xfrm rot="0">
            <a:off x="4424887" y="931548"/>
            <a:ext cx="14596459" cy="54000"/>
            <a:chOff x="0" y="0"/>
            <a:chExt cx="19461945" cy="72000"/>
          </a:xfrm>
        </p:grpSpPr>
        <p:sp>
          <p:nvSpPr>
            <p:cNvPr id="10" name="Freeform 10"/>
            <p:cNvSpPr/>
            <p:nvPr/>
          </p:nvSpPr>
          <p:spPr>
            <a:xfrm>
              <a:off x="0" y="0"/>
              <a:ext cx="19461860" cy="72009"/>
            </a:xfrm>
            <a:custGeom>
              <a:avLst/>
              <a:gdLst/>
              <a:ahLst/>
              <a:cxnLst/>
              <a:rect l="l" t="t" r="r" b="b"/>
              <a:pathLst>
                <a:path w="19461860" h="72009">
                  <a:moveTo>
                    <a:pt x="0" y="35941"/>
                  </a:moveTo>
                  <a:cubicBezTo>
                    <a:pt x="0" y="55880"/>
                    <a:pt x="16129" y="72009"/>
                    <a:pt x="35941" y="72009"/>
                  </a:cubicBezTo>
                  <a:lnTo>
                    <a:pt x="19425920" y="72009"/>
                  </a:lnTo>
                  <a:cubicBezTo>
                    <a:pt x="19445858" y="72009"/>
                    <a:pt x="19461860" y="55880"/>
                    <a:pt x="19461860" y="36068"/>
                  </a:cubicBezTo>
                  <a:cubicBezTo>
                    <a:pt x="19461860" y="16256"/>
                    <a:pt x="19445860" y="0"/>
                    <a:pt x="19425920" y="0"/>
                  </a:cubicBezTo>
                  <a:lnTo>
                    <a:pt x="35941" y="0"/>
                  </a:lnTo>
                  <a:cubicBezTo>
                    <a:pt x="16129" y="0"/>
                    <a:pt x="0" y="16129"/>
                    <a:pt x="0" y="35941"/>
                  </a:cubicBezTo>
                  <a:close/>
                </a:path>
              </a:pathLst>
            </a:custGeom>
            <a:solidFill>
              <a:srgbClr val="014924"/>
            </a:solidFill>
          </p:spPr>
        </p:sp>
      </p:grpSp>
      <p:sp>
        <p:nvSpPr>
          <p:cNvPr id="11" name="TextBox 11"/>
          <p:cNvSpPr txBox="1"/>
          <p:nvPr/>
        </p:nvSpPr>
        <p:spPr>
          <a:xfrm>
            <a:off x="4650263" y="391614"/>
            <a:ext cx="1267514" cy="343107"/>
          </a:xfrm>
          <a:prstGeom prst="rect">
            <a:avLst/>
          </a:prstGeom>
        </p:spPr>
        <p:txBody>
          <a:bodyPr lIns="0" tIns="0" rIns="0" bIns="0" rtlCol="0" anchor="t">
            <a:spAutoFit/>
          </a:bodyPr>
          <a:lstStyle/>
          <a:p>
            <a:pPr algn="ctr">
              <a:lnSpc>
                <a:spcPts val="2160"/>
              </a:lnSpc>
            </a:pPr>
            <a:r>
              <a:rPr lang="en-US" sz="1800">
                <a:solidFill>
                  <a:srgbClr val="FFFFFF"/>
                </a:solidFill>
                <a:latin typeface="Arimo" panose="020B0604020202020204"/>
                <a:ea typeface="Arimo" panose="020B0604020202020204"/>
                <a:cs typeface="Arimo" panose="020B0604020202020204"/>
                <a:sym typeface="Arimo" panose="020B0604020202020204"/>
              </a:rPr>
              <a:t>ABOUT US</a:t>
            </a:r>
            <a:endParaRPr lang="en-US" sz="18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2" name="Group 12"/>
          <p:cNvGrpSpPr>
            <a:grpSpLocks noChangeAspect="1"/>
          </p:cNvGrpSpPr>
          <p:nvPr/>
        </p:nvGrpSpPr>
        <p:grpSpPr>
          <a:xfrm rot="0">
            <a:off x="16100484" y="264381"/>
            <a:ext cx="1896959" cy="667167"/>
            <a:chOff x="0" y="0"/>
            <a:chExt cx="2529278" cy="889556"/>
          </a:xfrm>
        </p:grpSpPr>
        <p:sp>
          <p:nvSpPr>
            <p:cNvPr id="13" name="Freeform 13"/>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4" name="TextBox 14"/>
          <p:cNvSpPr txBox="1"/>
          <p:nvPr/>
        </p:nvSpPr>
        <p:spPr>
          <a:xfrm>
            <a:off x="3699514" y="1389608"/>
            <a:ext cx="14130967" cy="1967469"/>
          </a:xfrm>
          <a:prstGeom prst="rect">
            <a:avLst/>
          </a:prstGeom>
        </p:spPr>
        <p:txBody>
          <a:bodyPr lIns="0" tIns="0" rIns="0" bIns="0" rtlCol="0" anchor="t">
            <a:spAutoFit/>
          </a:bodyPr>
          <a:lstStyle/>
          <a:p>
            <a:pPr algn="l">
              <a:lnSpc>
                <a:spcPts val="7990"/>
              </a:lnSpc>
            </a:pPr>
            <a:r>
              <a:rPr lang="en-US" sz="3445">
                <a:solidFill>
                  <a:srgbClr val="000000"/>
                </a:solidFill>
                <a:latin typeface="Calibri (MS)" panose="020F0502020204030204"/>
                <a:ea typeface="Calibri (MS)" panose="020F0502020204030204"/>
                <a:cs typeface="Calibri (MS)" panose="020F0502020204030204"/>
                <a:sym typeface="Calibri (MS)" panose="020F0502020204030204"/>
              </a:rPr>
              <a:t>我们队伍名称为</a:t>
            </a:r>
            <a:r>
              <a:rPr lang="en-US" sz="3445" b="1">
                <a:solidFill>
                  <a:srgbClr val="000000"/>
                </a:solidFill>
                <a:latin typeface="Calibri (MS) Bold" panose="020F0702030404030204"/>
                <a:ea typeface="Calibri (MS) Bold" panose="020F0702030404030204"/>
                <a:cs typeface="Calibri (MS) Bold" panose="020F0702030404030204"/>
                <a:sym typeface="Calibri (MS) Bold" panose="020F0702030404030204"/>
              </a:rPr>
              <a:t>从容应队</a:t>
            </a:r>
            <a:r>
              <a:rPr lang="en-US" sz="3445">
                <a:solidFill>
                  <a:srgbClr val="000000"/>
                </a:solidFill>
                <a:latin typeface="Calibri (MS)" panose="020F0502020204030204"/>
                <a:ea typeface="Calibri (MS)" panose="020F0502020204030204"/>
                <a:cs typeface="Calibri (MS)" panose="020F0502020204030204"/>
                <a:sym typeface="Calibri (MS)" panose="020F0502020204030204"/>
              </a:rPr>
              <a:t>，队伍编号：</a:t>
            </a:r>
            <a:r>
              <a:rPr lang="en-US" sz="3445" u="none">
                <a:solidFill>
                  <a:srgbClr val="000000"/>
                </a:solidFill>
                <a:latin typeface="Calibri (MS)" panose="020F0502020204030204"/>
                <a:ea typeface="Calibri (MS)" panose="020F0502020204030204"/>
                <a:cs typeface="Calibri (MS)" panose="020F0502020204030204"/>
                <a:sym typeface="Calibri (MS)" panose="020F0502020204030204"/>
              </a:rPr>
              <a:t>T202</a:t>
            </a:r>
            <a:r>
              <a:rPr lang="en-US" sz="3445">
                <a:solidFill>
                  <a:srgbClr val="000000"/>
                </a:solidFill>
                <a:latin typeface="Calibri (MS)" panose="020F0502020204030204"/>
                <a:ea typeface="Calibri (MS)" panose="020F0502020204030204"/>
                <a:cs typeface="Calibri (MS)" panose="020F0502020204030204"/>
                <a:sym typeface="Calibri (MS)" panose="020F0502020204030204"/>
              </a:rPr>
              <a:t>5</a:t>
            </a:r>
            <a:r>
              <a:rPr lang="en-US" sz="3445" u="none">
                <a:solidFill>
                  <a:srgbClr val="000000"/>
                </a:solidFill>
                <a:latin typeface="Calibri (MS)" panose="020F0502020204030204"/>
                <a:ea typeface="Calibri (MS)" panose="020F0502020204030204"/>
                <a:cs typeface="Calibri (MS)" panose="020F0502020204030204"/>
                <a:sym typeface="Calibri (MS)" panose="020F0502020204030204"/>
              </a:rPr>
              <a:t>1055899</a:t>
            </a:r>
            <a:r>
              <a:rPr lang="en-US" sz="3445">
                <a:solidFill>
                  <a:srgbClr val="000000"/>
                </a:solidFill>
                <a:latin typeface="Calibri (MS)" panose="020F0502020204030204"/>
                <a:ea typeface="Calibri (MS)" panose="020F0502020204030204"/>
                <a:cs typeface="Calibri (MS)" panose="020F0502020204030204"/>
                <a:sym typeface="Calibri (MS)" panose="020F0502020204030204"/>
              </a:rPr>
              <a:t>517</a:t>
            </a:r>
            <a:r>
              <a:rPr lang="en-US" sz="3445" u="none">
                <a:solidFill>
                  <a:srgbClr val="000000"/>
                </a:solidFill>
                <a:latin typeface="Calibri (MS)" panose="020F0502020204030204"/>
                <a:ea typeface="Calibri (MS)" panose="020F0502020204030204"/>
                <a:cs typeface="Calibri (MS)" panose="020F0502020204030204"/>
                <a:sym typeface="Calibri (MS)" panose="020F0502020204030204"/>
              </a:rPr>
              <a:t>2</a:t>
            </a:r>
            <a:r>
              <a:rPr lang="en-US" sz="3445">
                <a:solidFill>
                  <a:srgbClr val="000000"/>
                </a:solidFill>
                <a:latin typeface="Calibri (MS)" panose="020F0502020204030204"/>
                <a:ea typeface="Calibri (MS)" panose="020F0502020204030204"/>
                <a:cs typeface="Calibri (MS)" panose="020F0502020204030204"/>
                <a:sym typeface="Calibri (MS)" panose="020F0502020204030204"/>
              </a:rPr>
              <a:t> ，</a:t>
            </a:r>
            <a:endParaRPr lang="en-US" sz="3445">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7990"/>
              </a:lnSpc>
            </a:pPr>
            <a:r>
              <a:rPr lang="en-US" sz="3445">
                <a:solidFill>
                  <a:srgbClr val="000000"/>
                </a:solidFill>
                <a:latin typeface="Calibri (MS)" panose="020F0502020204030204"/>
                <a:ea typeface="Calibri (MS)" panose="020F0502020204030204"/>
                <a:cs typeface="Calibri (MS)" panose="020F0502020204030204"/>
                <a:sym typeface="Calibri (MS)" panose="020F0502020204030204"/>
              </a:rPr>
              <a:t>来自中山大学，基本情况如下：</a:t>
            </a:r>
            <a:endParaRPr lang="en-US" sz="3445">
              <a:solidFill>
                <a:srgbClr val="000000"/>
              </a:solidFill>
              <a:latin typeface="Calibri (MS)" panose="020F0502020204030204"/>
              <a:ea typeface="Calibri (MS)" panose="020F0502020204030204"/>
              <a:cs typeface="Calibri (MS)" panose="020F0502020204030204"/>
              <a:sym typeface="Calibri (MS)" panose="020F0502020204030204"/>
            </a:endParaRPr>
          </a:p>
        </p:txBody>
      </p:sp>
      <p:sp>
        <p:nvSpPr>
          <p:cNvPr id="15" name="TextBox 15"/>
          <p:cNvSpPr txBox="1"/>
          <p:nvPr/>
        </p:nvSpPr>
        <p:spPr>
          <a:xfrm>
            <a:off x="2778759" y="3621636"/>
            <a:ext cx="15218684" cy="4999355"/>
          </a:xfrm>
          <a:prstGeom prst="rect">
            <a:avLst/>
          </a:prstGeom>
        </p:spPr>
        <p:txBody>
          <a:bodyPr lIns="0" tIns="0" rIns="0" bIns="0" rtlCol="0" anchor="t">
            <a:spAutoFit/>
          </a:bodyPr>
          <a:lstStyle/>
          <a:p>
            <a:pPr marL="779145" lvl="1" indent="-389255" algn="l">
              <a:lnSpc>
                <a:spcPct val="300000"/>
              </a:lnSpc>
              <a:buAutoNum type="arabicPeriod"/>
            </a:pPr>
            <a:r>
              <a:rPr lang="en-US" sz="3610">
                <a:solidFill>
                  <a:srgbClr val="000000"/>
                </a:solidFill>
                <a:latin typeface="Calibri (MS)" panose="020F0502020204030204"/>
                <a:ea typeface="Calibri (MS)" panose="020F0502020204030204"/>
                <a:cs typeface="Calibri (MS)" panose="020F0502020204030204"/>
                <a:sym typeface="Calibri (MS)" panose="020F0502020204030204"/>
              </a:rPr>
              <a:t>队长</a:t>
            </a:r>
            <a:r>
              <a:rPr lang="en-US" sz="3610" b="1">
                <a:solidFill>
                  <a:srgbClr val="000000"/>
                </a:solidFill>
                <a:latin typeface="Calibri (MS) Bold" panose="020F0702030404030204"/>
                <a:ea typeface="Calibri (MS) Bold" panose="020F0702030404030204"/>
                <a:cs typeface="Calibri (MS) Bold" panose="020F0702030404030204"/>
                <a:sym typeface="Calibri (MS) Bold" panose="020F0702030404030204"/>
              </a:rPr>
              <a:t>林炜东</a:t>
            </a:r>
            <a:r>
              <a:rPr lang="en-US" sz="3610">
                <a:solidFill>
                  <a:srgbClr val="000000"/>
                </a:solidFill>
                <a:latin typeface="Calibri (MS)" panose="020F0502020204030204"/>
                <a:ea typeface="Calibri (MS)" panose="020F0502020204030204"/>
                <a:cs typeface="Calibri (MS)" panose="020F0502020204030204"/>
                <a:sym typeface="Calibri (MS)" panose="020F0502020204030204"/>
              </a:rPr>
              <a:t>，中山大学计算机学院计算机科学与技术专业 2023 级本科生。</a:t>
            </a:r>
            <a:endParaRPr lang="en-US" sz="3610">
              <a:solidFill>
                <a:srgbClr val="000000"/>
              </a:solidFill>
              <a:latin typeface="Calibri (MS)" panose="020F0502020204030204"/>
              <a:ea typeface="Calibri (MS)" panose="020F0502020204030204"/>
              <a:cs typeface="Calibri (MS)" panose="020F0502020204030204"/>
              <a:sym typeface="Calibri (MS)" panose="020F0502020204030204"/>
            </a:endParaRPr>
          </a:p>
          <a:p>
            <a:pPr marL="779145" lvl="1" indent="-389255" algn="l">
              <a:lnSpc>
                <a:spcPct val="300000"/>
              </a:lnSpc>
              <a:buAutoNum type="arabicPeriod"/>
            </a:pPr>
            <a:r>
              <a:rPr lang="en-US" sz="3610">
                <a:solidFill>
                  <a:srgbClr val="000000"/>
                </a:solidFill>
                <a:latin typeface="Calibri (MS)" panose="020F0502020204030204"/>
                <a:ea typeface="Calibri (MS)" panose="020F0502020204030204"/>
                <a:cs typeface="Calibri (MS)" panose="020F0502020204030204"/>
                <a:sym typeface="Calibri (MS)" panose="020F0502020204030204"/>
              </a:rPr>
              <a:t>队员</a:t>
            </a:r>
            <a:r>
              <a:rPr lang="en-US" sz="3610" b="1">
                <a:solidFill>
                  <a:srgbClr val="000000"/>
                </a:solidFill>
                <a:latin typeface="Calibri (MS) Bold" panose="020F0702030404030204"/>
                <a:ea typeface="Calibri (MS) Bold" panose="020F0702030404030204"/>
                <a:cs typeface="Calibri (MS) Bold" panose="020F0702030404030204"/>
                <a:sym typeface="Calibri (MS) Bold" panose="020F0702030404030204"/>
              </a:rPr>
              <a:t>马福泉</a:t>
            </a:r>
            <a:r>
              <a:rPr lang="en-US" sz="3610">
                <a:solidFill>
                  <a:srgbClr val="000000"/>
                </a:solidFill>
                <a:latin typeface="Calibri (MS)" panose="020F0502020204030204"/>
                <a:ea typeface="Calibri (MS)" panose="020F0502020204030204"/>
                <a:cs typeface="Calibri (MS)" panose="020F0502020204030204"/>
                <a:sym typeface="Calibri (MS)" panose="020F0502020204030204"/>
              </a:rPr>
              <a:t>，中山大学计算机学院计算机科学与技术专业2023 级本科生。</a:t>
            </a:r>
            <a:endParaRPr lang="en-US" sz="3610">
              <a:solidFill>
                <a:srgbClr val="000000"/>
              </a:solidFill>
              <a:latin typeface="Calibri (MS)" panose="020F0502020204030204"/>
              <a:ea typeface="Calibri (MS)" panose="020F0502020204030204"/>
              <a:cs typeface="Calibri (MS)" panose="020F0502020204030204"/>
              <a:sym typeface="Calibri (MS)" panose="020F0502020204030204"/>
            </a:endParaRPr>
          </a:p>
          <a:p>
            <a:pPr marL="779145" lvl="1" indent="-389255" algn="l">
              <a:lnSpc>
                <a:spcPct val="300000"/>
              </a:lnSpc>
              <a:buAutoNum type="arabicPeriod"/>
            </a:pPr>
            <a:r>
              <a:rPr lang="en-US" sz="3610">
                <a:solidFill>
                  <a:srgbClr val="000000"/>
                </a:solidFill>
                <a:latin typeface="Calibri (MS)" panose="020F0502020204030204"/>
                <a:ea typeface="Calibri (MS)" panose="020F0502020204030204"/>
                <a:cs typeface="Calibri (MS)" panose="020F0502020204030204"/>
                <a:sym typeface="Calibri (MS)" panose="020F0502020204030204"/>
              </a:rPr>
              <a:t>队员</a:t>
            </a:r>
            <a:r>
              <a:rPr lang="en-US" sz="3610" b="1">
                <a:solidFill>
                  <a:srgbClr val="000000"/>
                </a:solidFill>
                <a:latin typeface="Calibri (MS) Bold" panose="020F0702030404030204"/>
                <a:ea typeface="Calibri (MS) Bold" panose="020F0702030404030204"/>
                <a:cs typeface="Calibri (MS) Bold" panose="020F0702030404030204"/>
                <a:sym typeface="Calibri (MS) Bold" panose="020F0702030404030204"/>
              </a:rPr>
              <a:t>刘昊</a:t>
            </a:r>
            <a:r>
              <a:rPr lang="en-US" sz="3610">
                <a:solidFill>
                  <a:srgbClr val="000000"/>
                </a:solidFill>
                <a:latin typeface="Calibri (MS)" panose="020F0502020204030204"/>
                <a:ea typeface="Calibri (MS)" panose="020F0502020204030204"/>
                <a:cs typeface="Calibri (MS)" panose="020F0502020204030204"/>
                <a:sym typeface="Calibri (MS)" panose="020F0502020204030204"/>
              </a:rPr>
              <a:t>，中山大学计算机学院计算机科学与技术专业 2023 级本科生。</a:t>
            </a:r>
            <a:endParaRPr lang="en-US" sz="361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nvGrpSpPr>
          <p:cNvPr id="16" name="Group 16"/>
          <p:cNvGrpSpPr>
            <a:grpSpLocks noChangeAspect="1"/>
          </p:cNvGrpSpPr>
          <p:nvPr/>
        </p:nvGrpSpPr>
        <p:grpSpPr>
          <a:xfrm rot="0">
            <a:off x="708660" y="1626723"/>
            <a:ext cx="2516516" cy="2509263"/>
            <a:chOff x="0" y="0"/>
            <a:chExt cx="3872784" cy="3861622"/>
          </a:xfrm>
        </p:grpSpPr>
        <p:sp>
          <p:nvSpPr>
            <p:cNvPr id="17" name="Freeform 17"/>
            <p:cNvSpPr/>
            <p:nvPr/>
          </p:nvSpPr>
          <p:spPr>
            <a:xfrm>
              <a:off x="0" y="0"/>
              <a:ext cx="3872738" cy="3861562"/>
            </a:xfrm>
            <a:custGeom>
              <a:avLst/>
              <a:gdLst/>
              <a:ahLst/>
              <a:cxnLst/>
              <a:rect l="l" t="t" r="r" b="b"/>
              <a:pathLst>
                <a:path w="3872738" h="3861562">
                  <a:moveTo>
                    <a:pt x="0" y="0"/>
                  </a:moveTo>
                  <a:lnTo>
                    <a:pt x="3872738" y="0"/>
                  </a:lnTo>
                  <a:lnTo>
                    <a:pt x="3872738" y="3861562"/>
                  </a:lnTo>
                  <a:lnTo>
                    <a:pt x="0" y="3861562"/>
                  </a:lnTo>
                  <a:lnTo>
                    <a:pt x="0" y="0"/>
                  </a:lnTo>
                  <a:close/>
                </a:path>
              </a:pathLst>
            </a:custGeom>
            <a:blipFill>
              <a:blip r:embed="rId3"/>
              <a:stretch>
                <a:fillRect t="-36" r="-1" b="-38"/>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grpSp>
        <p:nvGrpSpPr>
          <p:cNvPr id="5" name="Group 5"/>
          <p:cNvGrpSpPr/>
          <p:nvPr/>
        </p:nvGrpSpPr>
        <p:grpSpPr>
          <a:xfrm rot="0">
            <a:off x="4406504" y="326236"/>
            <a:ext cx="14596457" cy="492914"/>
            <a:chOff x="0" y="0"/>
            <a:chExt cx="19461943" cy="657218"/>
          </a:xfrm>
        </p:grpSpPr>
        <p:sp>
          <p:nvSpPr>
            <p:cNvPr id="6" name="Freeform 6"/>
            <p:cNvSpPr/>
            <p:nvPr/>
          </p:nvSpPr>
          <p:spPr>
            <a:xfrm>
              <a:off x="0" y="0"/>
              <a:ext cx="19461862" cy="657225"/>
            </a:xfrm>
            <a:custGeom>
              <a:avLst/>
              <a:gdLst/>
              <a:ahLst/>
              <a:cxnLst/>
              <a:rect l="l" t="t" r="r" b="b"/>
              <a:pathLst>
                <a:path w="19461862" h="657225">
                  <a:moveTo>
                    <a:pt x="0" y="328549"/>
                  </a:moveTo>
                  <a:cubicBezTo>
                    <a:pt x="0" y="147066"/>
                    <a:pt x="147066" y="0"/>
                    <a:pt x="328549" y="0"/>
                  </a:cubicBezTo>
                  <a:lnTo>
                    <a:pt x="19133313" y="0"/>
                  </a:lnTo>
                  <a:cubicBezTo>
                    <a:pt x="19314796" y="0"/>
                    <a:pt x="19461862" y="147066"/>
                    <a:pt x="19461862" y="328549"/>
                  </a:cubicBezTo>
                  <a:cubicBezTo>
                    <a:pt x="19461862" y="510032"/>
                    <a:pt x="19314796" y="657098"/>
                    <a:pt x="19133313" y="657098"/>
                  </a:cubicBezTo>
                  <a:lnTo>
                    <a:pt x="328549" y="657098"/>
                  </a:lnTo>
                  <a:cubicBezTo>
                    <a:pt x="147066" y="657225"/>
                    <a:pt x="0" y="510032"/>
                    <a:pt x="0" y="328549"/>
                  </a:cubicBezTo>
                  <a:close/>
                </a:path>
              </a:pathLst>
            </a:custGeom>
            <a:solidFill>
              <a:srgbClr val="014924"/>
            </a:solidFill>
          </p:spPr>
        </p:sp>
      </p:grpSp>
      <p:grpSp>
        <p:nvGrpSpPr>
          <p:cNvPr id="7" name="Group 7"/>
          <p:cNvGrpSpPr/>
          <p:nvPr/>
        </p:nvGrpSpPr>
        <p:grpSpPr>
          <a:xfrm rot="0">
            <a:off x="4424887" y="931548"/>
            <a:ext cx="14596459" cy="54000"/>
            <a:chOff x="0" y="0"/>
            <a:chExt cx="19461945" cy="72000"/>
          </a:xfrm>
        </p:grpSpPr>
        <p:sp>
          <p:nvSpPr>
            <p:cNvPr id="8" name="Freeform 8"/>
            <p:cNvSpPr/>
            <p:nvPr/>
          </p:nvSpPr>
          <p:spPr>
            <a:xfrm>
              <a:off x="0" y="0"/>
              <a:ext cx="19461860" cy="72009"/>
            </a:xfrm>
            <a:custGeom>
              <a:avLst/>
              <a:gdLst/>
              <a:ahLst/>
              <a:cxnLst/>
              <a:rect l="l" t="t" r="r" b="b"/>
              <a:pathLst>
                <a:path w="19461860" h="72009">
                  <a:moveTo>
                    <a:pt x="0" y="35941"/>
                  </a:moveTo>
                  <a:cubicBezTo>
                    <a:pt x="0" y="55880"/>
                    <a:pt x="16129" y="72009"/>
                    <a:pt x="35941" y="72009"/>
                  </a:cubicBezTo>
                  <a:lnTo>
                    <a:pt x="19425920" y="72009"/>
                  </a:lnTo>
                  <a:cubicBezTo>
                    <a:pt x="19445858" y="72009"/>
                    <a:pt x="19461860" y="55880"/>
                    <a:pt x="19461860" y="36068"/>
                  </a:cubicBezTo>
                  <a:cubicBezTo>
                    <a:pt x="19461860" y="16256"/>
                    <a:pt x="19445860" y="0"/>
                    <a:pt x="19425920" y="0"/>
                  </a:cubicBezTo>
                  <a:lnTo>
                    <a:pt x="35941" y="0"/>
                  </a:lnTo>
                  <a:cubicBezTo>
                    <a:pt x="16129" y="0"/>
                    <a:pt x="0" y="16129"/>
                    <a:pt x="0" y="35941"/>
                  </a:cubicBezTo>
                  <a:close/>
                </a:path>
              </a:pathLst>
            </a:custGeom>
            <a:solidFill>
              <a:srgbClr val="014924"/>
            </a:solidFill>
          </p:spPr>
        </p:sp>
      </p:grpSp>
      <p:sp>
        <p:nvSpPr>
          <p:cNvPr id="9" name="TextBox 9"/>
          <p:cNvSpPr txBox="1"/>
          <p:nvPr/>
        </p:nvSpPr>
        <p:spPr>
          <a:xfrm>
            <a:off x="4650263" y="391614"/>
            <a:ext cx="1267514" cy="343107"/>
          </a:xfrm>
          <a:prstGeom prst="rect">
            <a:avLst/>
          </a:prstGeom>
        </p:spPr>
        <p:txBody>
          <a:bodyPr lIns="0" tIns="0" rIns="0" bIns="0" rtlCol="0" anchor="t">
            <a:spAutoFit/>
          </a:bodyPr>
          <a:lstStyle/>
          <a:p>
            <a:pPr algn="ctr">
              <a:lnSpc>
                <a:spcPts val="2160"/>
              </a:lnSpc>
            </a:pPr>
            <a:r>
              <a:rPr lang="en-US" sz="1800">
                <a:solidFill>
                  <a:srgbClr val="FFFFFF"/>
                </a:solidFill>
                <a:latin typeface="Arimo" panose="020B0604020202020204"/>
                <a:ea typeface="Arimo" panose="020B0604020202020204"/>
                <a:cs typeface="Arimo" panose="020B0604020202020204"/>
                <a:sym typeface="Arimo" panose="020B0604020202020204"/>
              </a:rPr>
              <a:t>ABOUT US</a:t>
            </a:r>
            <a:endParaRPr lang="en-US" sz="18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0" name="Group 10"/>
          <p:cNvGrpSpPr>
            <a:grpSpLocks noChangeAspect="1"/>
          </p:cNvGrpSpPr>
          <p:nvPr/>
        </p:nvGrpSpPr>
        <p:grpSpPr>
          <a:xfrm rot="0">
            <a:off x="16100484" y="264381"/>
            <a:ext cx="1896959" cy="667167"/>
            <a:chOff x="0" y="0"/>
            <a:chExt cx="2529278" cy="889556"/>
          </a:xfrm>
        </p:grpSpPr>
        <p:sp>
          <p:nvSpPr>
            <p:cNvPr id="11" name="Freeform 11"/>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2" name="TextBox 12"/>
          <p:cNvSpPr txBox="1"/>
          <p:nvPr/>
        </p:nvSpPr>
        <p:spPr>
          <a:xfrm>
            <a:off x="4137664" y="-1210700"/>
            <a:ext cx="13378811" cy="9274126"/>
          </a:xfrm>
          <a:prstGeom prst="rect">
            <a:avLst/>
          </a:prstGeom>
        </p:spPr>
        <p:txBody>
          <a:bodyPr lIns="0" tIns="0" rIns="0" bIns="0" rtlCol="0" anchor="t">
            <a:spAutoFit/>
          </a:bodyPr>
          <a:lstStyle/>
          <a:p>
            <a:pPr algn="l">
              <a:lnSpc>
                <a:spcPts val="7405"/>
              </a:lnSpc>
            </a:pPr>
          </a:p>
          <a:p>
            <a:pPr algn="l">
              <a:lnSpc>
                <a:spcPts val="7405"/>
              </a:lnSpc>
            </a:pPr>
          </a:p>
          <a:p>
            <a:pPr algn="l">
              <a:lnSpc>
                <a:spcPts val="7405"/>
              </a:lnSpc>
            </a:pPr>
          </a:p>
          <a:p>
            <a:pPr algn="l">
              <a:lnSpc>
                <a:spcPts val="7405"/>
              </a:lnSpc>
            </a:pPr>
            <a:r>
              <a:rPr lang="en-US" sz="2960" b="1">
                <a:solidFill>
                  <a:srgbClr val="000000"/>
                </a:solidFill>
                <a:latin typeface="Calibri (MS) Bold" panose="020F0702030404030204"/>
                <a:ea typeface="Calibri (MS) Bold" panose="020F0702030404030204"/>
                <a:cs typeface="Calibri (MS) Bold" panose="020F0702030404030204"/>
                <a:sym typeface="Calibri (MS) Bold" panose="020F0702030404030204"/>
              </a:rPr>
              <a:t>校内指导老师简介：</a:t>
            </a:r>
            <a:endParaRPr lang="en-US" sz="2960"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a:p>
            <a:pPr algn="l">
              <a:lnSpc>
                <a:spcPts val="7405"/>
              </a:lnSpc>
            </a:pPr>
            <a:r>
              <a:rPr lang="en-US" sz="2960" b="1">
                <a:solidFill>
                  <a:srgbClr val="000000"/>
                </a:solidFill>
                <a:latin typeface="Calibri (MS) Bold" panose="020F0702030404030204"/>
                <a:ea typeface="Calibri (MS) Bold" panose="020F0702030404030204"/>
                <a:cs typeface="Calibri (MS) Bold" panose="020F0702030404030204"/>
                <a:sym typeface="Calibri (MS) Bold" panose="020F0702030404030204"/>
              </a:rPr>
              <a:t>赵帅</a:t>
            </a:r>
            <a:r>
              <a:rPr lang="en-US" sz="2960">
                <a:solidFill>
                  <a:srgbClr val="000000"/>
                </a:solidFill>
                <a:latin typeface="Calibri (MS)" panose="020F0502020204030204"/>
                <a:ea typeface="Calibri (MS)" panose="020F0502020204030204"/>
                <a:cs typeface="Calibri (MS)" panose="020F0502020204030204"/>
                <a:sym typeface="Calibri (MS)" panose="020F0502020204030204"/>
              </a:rPr>
              <a:t>，硕士生导师，“百人计划”引进副教授。主要从事实时系统、操作系统领域的理论与应用研究，旨在围绕操作系统，为上层应用提供高性能、硬实时的计算与通讯保障，专注于复杂实时系统设计与分析、系统资源共享与管理、硬软件协同设计与寻优等具体方向。 个人主页</a:t>
            </a:r>
            <a:r>
              <a:rPr lang="en-US" sz="2960">
                <a:solidFill>
                  <a:srgbClr val="0070C0"/>
                </a:solidFill>
                <a:latin typeface="Calibri (MS)" panose="020F0502020204030204"/>
                <a:ea typeface="Calibri (MS)" panose="020F0502020204030204"/>
                <a:cs typeface="Calibri (MS)" panose="020F0502020204030204"/>
                <a:sym typeface="Calibri (MS)" panose="020F0502020204030204"/>
              </a:rPr>
              <a:t>https://cse.sysu.edu.cn/content/6598</a:t>
            </a:r>
            <a:endParaRPr lang="en-US" sz="2960">
              <a:solidFill>
                <a:srgbClr val="0070C0"/>
              </a:solidFill>
              <a:latin typeface="Calibri (MS)" panose="020F0502020204030204"/>
              <a:ea typeface="Calibri (MS)" panose="020F0502020204030204"/>
              <a:cs typeface="Calibri (MS)" panose="020F0502020204030204"/>
              <a:sym typeface="Calibri (MS)" panose="020F0502020204030204"/>
            </a:endParaRPr>
          </a:p>
          <a:p>
            <a:pPr algn="l">
              <a:lnSpc>
                <a:spcPts val="7405"/>
              </a:lnSpc>
            </a:pPr>
          </a:p>
          <a:p>
            <a:pPr algn="l">
              <a:lnSpc>
                <a:spcPts val="7405"/>
              </a:lnSpc>
            </a:pPr>
          </a:p>
        </p:txBody>
      </p:sp>
      <p:sp>
        <p:nvSpPr>
          <p:cNvPr id="13" name="Freeform 13"/>
          <p:cNvSpPr/>
          <p:nvPr/>
        </p:nvSpPr>
        <p:spPr>
          <a:xfrm>
            <a:off x="189999" y="1787580"/>
            <a:ext cx="3346579" cy="4462105"/>
          </a:xfrm>
          <a:custGeom>
            <a:avLst/>
            <a:gdLst/>
            <a:ahLst/>
            <a:cxnLst/>
            <a:rect l="l" t="t" r="r" b="b"/>
            <a:pathLst>
              <a:path w="3346579" h="4462105">
                <a:moveTo>
                  <a:pt x="0" y="0"/>
                </a:moveTo>
                <a:lnTo>
                  <a:pt x="3346579" y="0"/>
                </a:lnTo>
                <a:lnTo>
                  <a:pt x="3346579" y="4462105"/>
                </a:lnTo>
                <a:lnTo>
                  <a:pt x="0" y="4462105"/>
                </a:lnTo>
                <a:lnTo>
                  <a:pt x="0" y="0"/>
                </a:lnTo>
                <a:close/>
              </a:path>
            </a:pathLst>
          </a:custGeom>
          <a:blipFill>
            <a:blip r:embed="rId3"/>
            <a:stretch>
              <a:fillRect/>
            </a:stretch>
          </a:blipFill>
        </p:spPr>
      </p:sp>
      <p:sp>
        <p:nvSpPr>
          <p:cNvPr id="14" name="TextBox 14"/>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0</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5" name="TextBox 15"/>
          <p:cNvSpPr txBox="1"/>
          <p:nvPr/>
        </p:nvSpPr>
        <p:spPr>
          <a:xfrm>
            <a:off x="1143186" y="244078"/>
            <a:ext cx="2556328"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队伍介绍</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sp>
        <p:nvSpPr>
          <p:cNvPr id="16" name="TextBox 16"/>
          <p:cNvSpPr txBox="1"/>
          <p:nvPr/>
        </p:nvSpPr>
        <p:spPr>
          <a:xfrm>
            <a:off x="422117" y="6479652"/>
            <a:ext cx="17443766" cy="3807348"/>
          </a:xfrm>
          <a:prstGeom prst="rect">
            <a:avLst/>
          </a:prstGeom>
        </p:spPr>
        <p:txBody>
          <a:bodyPr lIns="0" tIns="0" rIns="0" bIns="0" rtlCol="0" anchor="t">
            <a:spAutoFit/>
          </a:bodyPr>
          <a:lstStyle/>
          <a:p>
            <a:pPr algn="l">
              <a:lnSpc>
                <a:spcPts val="7685"/>
              </a:lnSpc>
            </a:pPr>
            <a:r>
              <a:rPr lang="en-US" sz="3075">
                <a:solidFill>
                  <a:srgbClr val="000000"/>
                </a:solidFill>
                <a:latin typeface="Arimo" panose="020B0604020202020204"/>
                <a:ea typeface="Arimo" panose="020B0604020202020204"/>
                <a:cs typeface="Arimo" panose="020B0604020202020204"/>
                <a:sym typeface="Arimo" panose="020B0604020202020204"/>
              </a:rPr>
              <a:t>所选赛题：Proj59: Linux 内核低时延调度器</a:t>
            </a:r>
            <a:endParaRPr lang="en-US" sz="3075">
              <a:solidFill>
                <a:srgbClr val="000000"/>
              </a:solidFill>
              <a:latin typeface="Arimo" panose="020B0604020202020204"/>
              <a:ea typeface="Arimo" panose="020B0604020202020204"/>
              <a:cs typeface="Arimo" panose="020B0604020202020204"/>
              <a:sym typeface="Arimo" panose="020B0604020202020204"/>
            </a:endParaRPr>
          </a:p>
          <a:p>
            <a:pPr algn="l">
              <a:lnSpc>
                <a:spcPts val="7685"/>
              </a:lnSpc>
            </a:pPr>
            <a:r>
              <a:rPr lang="en-US" sz="3075" b="1">
                <a:solidFill>
                  <a:srgbClr val="FF0000"/>
                </a:solidFill>
                <a:latin typeface="Arimo Bold" panose="020B0704020202020204"/>
                <a:ea typeface="Arimo Bold" panose="020B0704020202020204"/>
                <a:cs typeface="Arimo Bold" panose="020B0704020202020204"/>
                <a:sym typeface="Arimo Bold" panose="020B0704020202020204"/>
              </a:rPr>
              <a:t>难度：中等</a:t>
            </a:r>
            <a:endParaRPr lang="en-US" sz="3075" b="1">
              <a:solidFill>
                <a:srgbClr val="FF0000"/>
              </a:solidFill>
              <a:latin typeface="Arimo Bold" panose="020B0704020202020204"/>
              <a:ea typeface="Arimo Bold" panose="020B0704020202020204"/>
              <a:cs typeface="Arimo Bold" panose="020B0704020202020204"/>
              <a:sym typeface="Arimo Bold" panose="020B0704020202020204"/>
            </a:endParaRPr>
          </a:p>
          <a:p>
            <a:pPr algn="l">
              <a:lnSpc>
                <a:spcPts val="7935"/>
              </a:lnSpc>
            </a:pPr>
            <a:r>
              <a:rPr lang="en-US" sz="3175">
                <a:solidFill>
                  <a:srgbClr val="000000"/>
                </a:solidFill>
                <a:latin typeface="Arimo" panose="020B0604020202020204"/>
                <a:ea typeface="Arimo" panose="020B0604020202020204"/>
                <a:cs typeface="Arimo" panose="020B0604020202020204"/>
                <a:sym typeface="Arimo" panose="020B0604020202020204"/>
              </a:rPr>
              <a:t>项目导师：谢秀奇、成坚         赛题链接：https://github.com/oscomp/proj59-linux-fast-scheduler</a:t>
            </a:r>
            <a:endParaRPr lang="en-US" sz="3175">
              <a:solidFill>
                <a:srgbClr val="000000"/>
              </a:solidFill>
              <a:latin typeface="Arimo" panose="020B0604020202020204"/>
              <a:ea typeface="Arimo" panose="020B0604020202020204"/>
              <a:cs typeface="Arimo" panose="020B0604020202020204"/>
              <a:sym typeface="Arimo" panose="020B0604020202020204"/>
            </a:endParaRPr>
          </a:p>
          <a:p>
            <a:pPr algn="l">
              <a:lnSpc>
                <a:spcPts val="7685"/>
              </a:lnSpc>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AutoShape 3"/>
          <p:cNvSpPr/>
          <p:nvPr/>
        </p:nvSpPr>
        <p:spPr>
          <a:xfrm rot="21924">
            <a:off x="6377934" y="2410893"/>
            <a:ext cx="11948287" cy="0"/>
          </a:xfrm>
          <a:prstGeom prst="line">
            <a:avLst/>
          </a:prstGeom>
          <a:ln w="38100" cap="rnd">
            <a:solidFill>
              <a:srgbClr val="FFFFFF"/>
            </a:solidFill>
            <a:prstDash val="solid"/>
            <a:headEnd type="none" w="sm" len="sm"/>
            <a:tailEnd type="none" w="sm" len="sm"/>
          </a:ln>
        </p:spPr>
      </p:sp>
      <p:grpSp>
        <p:nvGrpSpPr>
          <p:cNvPr id="4" name="Group 4"/>
          <p:cNvGrpSpPr/>
          <p:nvPr/>
        </p:nvGrpSpPr>
        <p:grpSpPr>
          <a:xfrm rot="0">
            <a:off x="8240132" y="1885950"/>
            <a:ext cx="1151985" cy="1151985"/>
            <a:chOff x="0" y="0"/>
            <a:chExt cx="1535980" cy="1535980"/>
          </a:xfrm>
        </p:grpSpPr>
        <p:sp>
          <p:nvSpPr>
            <p:cNvPr id="5" name="Freeform 5"/>
            <p:cNvSpPr/>
            <p:nvPr/>
          </p:nvSpPr>
          <p:spPr>
            <a:xfrm>
              <a:off x="0" y="0"/>
              <a:ext cx="1535938" cy="1535938"/>
            </a:xfrm>
            <a:custGeom>
              <a:avLst/>
              <a:gdLst/>
              <a:ahLst/>
              <a:cxnLst/>
              <a:rect l="l" t="t" r="r" b="b"/>
              <a:pathLst>
                <a:path w="1535938" h="1535938">
                  <a:moveTo>
                    <a:pt x="0" y="0"/>
                  </a:moveTo>
                  <a:lnTo>
                    <a:pt x="1535938" y="0"/>
                  </a:lnTo>
                  <a:lnTo>
                    <a:pt x="1535938" y="1535938"/>
                  </a:lnTo>
                  <a:lnTo>
                    <a:pt x="0" y="1535938"/>
                  </a:lnTo>
                  <a:close/>
                </a:path>
              </a:pathLst>
            </a:custGeom>
            <a:solidFill>
              <a:srgbClr val="014924"/>
            </a:solidFill>
          </p:spPr>
        </p:sp>
      </p:grpSp>
      <p:sp>
        <p:nvSpPr>
          <p:cNvPr id="6" name="TextBox 6"/>
          <p:cNvSpPr txBox="1"/>
          <p:nvPr/>
        </p:nvSpPr>
        <p:spPr>
          <a:xfrm>
            <a:off x="8175279" y="2054619"/>
            <a:ext cx="1281690" cy="909897"/>
          </a:xfrm>
          <a:prstGeom prst="rect">
            <a:avLst/>
          </a:prstGeom>
        </p:spPr>
        <p:txBody>
          <a:bodyPr lIns="0" tIns="0" rIns="0" bIns="0" rtlCol="0" anchor="t">
            <a:spAutoFit/>
          </a:bodyPr>
          <a:lstStyle/>
          <a:p>
            <a:pPr algn="ctr">
              <a:lnSpc>
                <a:spcPts val="5760"/>
              </a:lnSpc>
            </a:pPr>
            <a:r>
              <a:rPr lang="en-US" sz="4800" b="1">
                <a:solidFill>
                  <a:srgbClr val="FFFFFF"/>
                </a:solidFill>
                <a:latin typeface="Arimo Bold" panose="020B0704020202020204"/>
                <a:ea typeface="Arimo Bold" panose="020B0704020202020204"/>
                <a:cs typeface="Arimo Bold" panose="020B0704020202020204"/>
                <a:sym typeface="Arimo Bold" panose="020B0704020202020204"/>
              </a:rPr>
              <a:t>1</a:t>
            </a:r>
            <a:endParaRPr lang="en-US" sz="48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7" name="Group 7"/>
          <p:cNvGrpSpPr/>
          <p:nvPr/>
        </p:nvGrpSpPr>
        <p:grpSpPr>
          <a:xfrm rot="0">
            <a:off x="11776086" y="1885950"/>
            <a:ext cx="1151985" cy="1151985"/>
            <a:chOff x="0" y="0"/>
            <a:chExt cx="1535980" cy="1535980"/>
          </a:xfrm>
        </p:grpSpPr>
        <p:sp>
          <p:nvSpPr>
            <p:cNvPr id="8" name="Freeform 8"/>
            <p:cNvSpPr/>
            <p:nvPr/>
          </p:nvSpPr>
          <p:spPr>
            <a:xfrm>
              <a:off x="0" y="0"/>
              <a:ext cx="1535938" cy="1535938"/>
            </a:xfrm>
            <a:custGeom>
              <a:avLst/>
              <a:gdLst/>
              <a:ahLst/>
              <a:cxnLst/>
              <a:rect l="l" t="t" r="r" b="b"/>
              <a:pathLst>
                <a:path w="1535938" h="1535938">
                  <a:moveTo>
                    <a:pt x="0" y="0"/>
                  </a:moveTo>
                  <a:lnTo>
                    <a:pt x="1535938" y="0"/>
                  </a:lnTo>
                  <a:lnTo>
                    <a:pt x="1535938" y="1535938"/>
                  </a:lnTo>
                  <a:lnTo>
                    <a:pt x="0" y="1535938"/>
                  </a:lnTo>
                  <a:close/>
                </a:path>
              </a:pathLst>
            </a:custGeom>
            <a:solidFill>
              <a:srgbClr val="014924"/>
            </a:solidFill>
          </p:spPr>
        </p:sp>
      </p:grpSp>
      <p:sp>
        <p:nvSpPr>
          <p:cNvPr id="9" name="TextBox 9"/>
          <p:cNvSpPr txBox="1"/>
          <p:nvPr/>
        </p:nvSpPr>
        <p:spPr>
          <a:xfrm>
            <a:off x="11743233" y="2054619"/>
            <a:ext cx="1281690" cy="909897"/>
          </a:xfrm>
          <a:prstGeom prst="rect">
            <a:avLst/>
          </a:prstGeom>
        </p:spPr>
        <p:txBody>
          <a:bodyPr lIns="0" tIns="0" rIns="0" bIns="0" rtlCol="0" anchor="t">
            <a:spAutoFit/>
          </a:bodyPr>
          <a:lstStyle/>
          <a:p>
            <a:pPr algn="ctr">
              <a:lnSpc>
                <a:spcPts val="5760"/>
              </a:lnSpc>
            </a:pPr>
            <a:r>
              <a:rPr lang="en-US" sz="4800" b="1">
                <a:solidFill>
                  <a:srgbClr val="FFFFFF"/>
                </a:solidFill>
                <a:latin typeface="Arimo Bold" panose="020B0704020202020204"/>
                <a:ea typeface="Arimo Bold" panose="020B0704020202020204"/>
                <a:cs typeface="Arimo Bold" panose="020B0704020202020204"/>
                <a:sym typeface="Arimo Bold" panose="020B0704020202020204"/>
              </a:rPr>
              <a:t>2</a:t>
            </a:r>
            <a:endParaRPr lang="en-US" sz="48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10" name="Group 10"/>
          <p:cNvGrpSpPr/>
          <p:nvPr/>
        </p:nvGrpSpPr>
        <p:grpSpPr>
          <a:xfrm rot="0">
            <a:off x="15424038" y="1885950"/>
            <a:ext cx="1151985" cy="1151985"/>
            <a:chOff x="0" y="0"/>
            <a:chExt cx="1535980" cy="1535980"/>
          </a:xfrm>
        </p:grpSpPr>
        <p:sp>
          <p:nvSpPr>
            <p:cNvPr id="11" name="Freeform 11"/>
            <p:cNvSpPr/>
            <p:nvPr/>
          </p:nvSpPr>
          <p:spPr>
            <a:xfrm>
              <a:off x="0" y="0"/>
              <a:ext cx="1535938" cy="1535938"/>
            </a:xfrm>
            <a:custGeom>
              <a:avLst/>
              <a:gdLst/>
              <a:ahLst/>
              <a:cxnLst/>
              <a:rect l="l" t="t" r="r" b="b"/>
              <a:pathLst>
                <a:path w="1535938" h="1535938">
                  <a:moveTo>
                    <a:pt x="0" y="0"/>
                  </a:moveTo>
                  <a:lnTo>
                    <a:pt x="1535938" y="0"/>
                  </a:lnTo>
                  <a:lnTo>
                    <a:pt x="1535938" y="1535938"/>
                  </a:lnTo>
                  <a:lnTo>
                    <a:pt x="0" y="1535938"/>
                  </a:lnTo>
                  <a:close/>
                </a:path>
              </a:pathLst>
            </a:custGeom>
            <a:solidFill>
              <a:srgbClr val="014924"/>
            </a:solidFill>
          </p:spPr>
        </p:sp>
      </p:grpSp>
      <p:sp>
        <p:nvSpPr>
          <p:cNvPr id="12" name="TextBox 12"/>
          <p:cNvSpPr txBox="1"/>
          <p:nvPr/>
        </p:nvSpPr>
        <p:spPr>
          <a:xfrm>
            <a:off x="15359186" y="2054619"/>
            <a:ext cx="1281690" cy="909897"/>
          </a:xfrm>
          <a:prstGeom prst="rect">
            <a:avLst/>
          </a:prstGeom>
        </p:spPr>
        <p:txBody>
          <a:bodyPr lIns="0" tIns="0" rIns="0" bIns="0" rtlCol="0" anchor="t">
            <a:spAutoFit/>
          </a:bodyPr>
          <a:lstStyle/>
          <a:p>
            <a:pPr algn="ctr">
              <a:lnSpc>
                <a:spcPts val="5760"/>
              </a:lnSpc>
            </a:pPr>
            <a:r>
              <a:rPr lang="en-US" sz="4800" b="1">
                <a:solidFill>
                  <a:srgbClr val="FFFFFF"/>
                </a:solidFill>
                <a:latin typeface="Arimo Bold" panose="020B0704020202020204"/>
                <a:ea typeface="Arimo Bold" panose="020B0704020202020204"/>
                <a:cs typeface="Arimo Bold" panose="020B0704020202020204"/>
                <a:sym typeface="Arimo Bold" panose="020B0704020202020204"/>
              </a:rPr>
              <a:t>3</a:t>
            </a:r>
            <a:endParaRPr lang="en-US" sz="48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3" name="TextBox 13"/>
          <p:cNvSpPr txBox="1"/>
          <p:nvPr/>
        </p:nvSpPr>
        <p:spPr>
          <a:xfrm>
            <a:off x="7417226" y="3320580"/>
            <a:ext cx="2787160" cy="712438"/>
          </a:xfrm>
          <a:prstGeom prst="rect">
            <a:avLst/>
          </a:prstGeom>
        </p:spPr>
        <p:txBody>
          <a:bodyPr lIns="0" tIns="0" rIns="0" bIns="0" rtlCol="0" anchor="t">
            <a:spAutoFit/>
          </a:bodyPr>
          <a:lstStyle/>
          <a:p>
            <a:pPr algn="l">
              <a:lnSpc>
                <a:spcPts val="5040"/>
              </a:lnSpc>
            </a:pPr>
            <a:r>
              <a:rPr lang="en-US" sz="4200">
                <a:solidFill>
                  <a:srgbClr val="595959"/>
                </a:solidFill>
                <a:latin typeface="Arimo" panose="020B0604020202020204"/>
                <a:ea typeface="Arimo" panose="020B0604020202020204"/>
                <a:cs typeface="Arimo" panose="020B0604020202020204"/>
                <a:sym typeface="Arimo" panose="020B0604020202020204"/>
              </a:rPr>
              <a:t>背景和动机</a:t>
            </a:r>
            <a:endParaRPr lang="en-US" sz="4200">
              <a:solidFill>
                <a:srgbClr val="595959"/>
              </a:solidFill>
              <a:latin typeface="Arimo" panose="020B0604020202020204"/>
              <a:ea typeface="Arimo" panose="020B0604020202020204"/>
              <a:cs typeface="Arimo" panose="020B0604020202020204"/>
              <a:sym typeface="Arimo" panose="020B0604020202020204"/>
            </a:endParaRPr>
          </a:p>
        </p:txBody>
      </p:sp>
      <p:sp>
        <p:nvSpPr>
          <p:cNvPr id="14" name="TextBox 14"/>
          <p:cNvSpPr txBox="1"/>
          <p:nvPr/>
        </p:nvSpPr>
        <p:spPr>
          <a:xfrm>
            <a:off x="7196015" y="4137927"/>
            <a:ext cx="3268062" cy="298957"/>
          </a:xfrm>
          <a:prstGeom prst="rect">
            <a:avLst/>
          </a:prstGeom>
        </p:spPr>
        <p:txBody>
          <a:bodyPr lIns="0" tIns="0" rIns="0" bIns="0" rtlCol="0" anchor="t">
            <a:spAutoFit/>
          </a:bodyPr>
          <a:lstStyle/>
          <a:p>
            <a:pPr algn="ctr">
              <a:lnSpc>
                <a:spcPts val="1890"/>
              </a:lnSpc>
            </a:pPr>
            <a:r>
              <a:rPr lang="en-US" sz="1575">
                <a:solidFill>
                  <a:srgbClr val="595959"/>
                </a:solidFill>
                <a:latin typeface="Arimo" panose="020B0604020202020204"/>
                <a:ea typeface="Arimo" panose="020B0604020202020204"/>
                <a:cs typeface="Arimo" panose="020B0604020202020204"/>
                <a:sym typeface="Arimo" panose="020B0604020202020204"/>
              </a:rPr>
              <a:t>BACKGROUNDS &amp; MOTIVATION</a:t>
            </a:r>
            <a:endParaRPr lang="en-US" sz="1575">
              <a:solidFill>
                <a:srgbClr val="595959"/>
              </a:solidFill>
              <a:latin typeface="Arimo" panose="020B0604020202020204"/>
              <a:ea typeface="Arimo" panose="020B0604020202020204"/>
              <a:cs typeface="Arimo" panose="020B0604020202020204"/>
              <a:sym typeface="Arimo" panose="020B0604020202020204"/>
            </a:endParaRPr>
          </a:p>
        </p:txBody>
      </p:sp>
      <p:sp>
        <p:nvSpPr>
          <p:cNvPr id="15" name="TextBox 15"/>
          <p:cNvSpPr txBox="1"/>
          <p:nvPr/>
        </p:nvSpPr>
        <p:spPr>
          <a:xfrm>
            <a:off x="11321322" y="3325993"/>
            <a:ext cx="2248550" cy="712438"/>
          </a:xfrm>
          <a:prstGeom prst="rect">
            <a:avLst/>
          </a:prstGeom>
        </p:spPr>
        <p:txBody>
          <a:bodyPr lIns="0" tIns="0" rIns="0" bIns="0" rtlCol="0" anchor="t">
            <a:spAutoFit/>
          </a:bodyPr>
          <a:lstStyle/>
          <a:p>
            <a:pPr algn="l">
              <a:lnSpc>
                <a:spcPts val="5040"/>
              </a:lnSpc>
            </a:pPr>
            <a:r>
              <a:rPr lang="en-US" sz="4200">
                <a:solidFill>
                  <a:srgbClr val="595959"/>
                </a:solidFill>
                <a:latin typeface="Arimo" panose="020B0604020202020204"/>
                <a:ea typeface="Arimo" panose="020B0604020202020204"/>
                <a:cs typeface="Arimo" panose="020B0604020202020204"/>
                <a:sym typeface="Arimo" panose="020B0604020202020204"/>
              </a:rPr>
              <a:t>项目介绍</a:t>
            </a:r>
            <a:endParaRPr lang="en-US" sz="4200">
              <a:solidFill>
                <a:srgbClr val="595959"/>
              </a:solidFill>
              <a:latin typeface="Arimo" panose="020B0604020202020204"/>
              <a:ea typeface="Arimo" panose="020B0604020202020204"/>
              <a:cs typeface="Arimo" panose="020B0604020202020204"/>
              <a:sym typeface="Arimo" panose="020B0604020202020204"/>
            </a:endParaRPr>
          </a:p>
        </p:txBody>
      </p:sp>
      <p:sp>
        <p:nvSpPr>
          <p:cNvPr id="16" name="TextBox 16"/>
          <p:cNvSpPr txBox="1"/>
          <p:nvPr/>
        </p:nvSpPr>
        <p:spPr>
          <a:xfrm>
            <a:off x="11150606" y="4141468"/>
            <a:ext cx="2589992" cy="298957"/>
          </a:xfrm>
          <a:prstGeom prst="rect">
            <a:avLst/>
          </a:prstGeom>
        </p:spPr>
        <p:txBody>
          <a:bodyPr lIns="0" tIns="0" rIns="0" bIns="0" rtlCol="0" anchor="t">
            <a:spAutoFit/>
          </a:bodyPr>
          <a:lstStyle/>
          <a:p>
            <a:pPr algn="ctr">
              <a:lnSpc>
                <a:spcPts val="1890"/>
              </a:lnSpc>
            </a:pPr>
            <a:r>
              <a:rPr lang="en-US" sz="1575">
                <a:solidFill>
                  <a:srgbClr val="595959"/>
                </a:solidFill>
                <a:latin typeface="Arimo" panose="020B0604020202020204"/>
                <a:ea typeface="Arimo" panose="020B0604020202020204"/>
                <a:cs typeface="Arimo" panose="020B0604020202020204"/>
                <a:sym typeface="Arimo" panose="020B0604020202020204"/>
              </a:rPr>
              <a:t>PROJECT INTRODUCTION</a:t>
            </a:r>
            <a:endParaRPr lang="en-US" sz="1575">
              <a:solidFill>
                <a:srgbClr val="595959"/>
              </a:solidFill>
              <a:latin typeface="Arimo" panose="020B0604020202020204"/>
              <a:ea typeface="Arimo" panose="020B0604020202020204"/>
              <a:cs typeface="Arimo" panose="020B0604020202020204"/>
              <a:sym typeface="Arimo" panose="020B0604020202020204"/>
            </a:endParaRPr>
          </a:p>
        </p:txBody>
      </p:sp>
      <p:sp>
        <p:nvSpPr>
          <p:cNvPr id="17" name="TextBox 17"/>
          <p:cNvSpPr txBox="1"/>
          <p:nvPr/>
        </p:nvSpPr>
        <p:spPr>
          <a:xfrm>
            <a:off x="14881572" y="3294535"/>
            <a:ext cx="2248550" cy="712438"/>
          </a:xfrm>
          <a:prstGeom prst="rect">
            <a:avLst/>
          </a:prstGeom>
        </p:spPr>
        <p:txBody>
          <a:bodyPr lIns="0" tIns="0" rIns="0" bIns="0" rtlCol="0" anchor="t">
            <a:spAutoFit/>
          </a:bodyPr>
          <a:lstStyle/>
          <a:p>
            <a:pPr algn="l">
              <a:lnSpc>
                <a:spcPts val="5040"/>
              </a:lnSpc>
            </a:pPr>
            <a:r>
              <a:rPr lang="en-US" sz="4200">
                <a:solidFill>
                  <a:srgbClr val="595959"/>
                </a:solidFill>
                <a:latin typeface="Arimo" panose="020B0604020202020204"/>
                <a:ea typeface="Arimo" panose="020B0604020202020204"/>
                <a:cs typeface="Arimo" panose="020B0604020202020204"/>
                <a:sym typeface="Arimo" panose="020B0604020202020204"/>
              </a:rPr>
              <a:t>总体架构</a:t>
            </a:r>
            <a:endParaRPr lang="en-US" sz="4200">
              <a:solidFill>
                <a:srgbClr val="595959"/>
              </a:solidFill>
              <a:latin typeface="Arimo" panose="020B0604020202020204"/>
              <a:ea typeface="Arimo" panose="020B0604020202020204"/>
              <a:cs typeface="Arimo" panose="020B0604020202020204"/>
              <a:sym typeface="Arimo" panose="020B0604020202020204"/>
            </a:endParaRPr>
          </a:p>
        </p:txBody>
      </p:sp>
      <p:sp>
        <p:nvSpPr>
          <p:cNvPr id="18" name="TextBox 18"/>
          <p:cNvSpPr txBox="1"/>
          <p:nvPr/>
        </p:nvSpPr>
        <p:spPr>
          <a:xfrm>
            <a:off x="14729079" y="4130452"/>
            <a:ext cx="2541901" cy="298957"/>
          </a:xfrm>
          <a:prstGeom prst="rect">
            <a:avLst/>
          </a:prstGeom>
        </p:spPr>
        <p:txBody>
          <a:bodyPr lIns="0" tIns="0" rIns="0" bIns="0" rtlCol="0" anchor="t">
            <a:spAutoFit/>
          </a:bodyPr>
          <a:lstStyle/>
          <a:p>
            <a:pPr algn="ctr">
              <a:lnSpc>
                <a:spcPts val="1890"/>
              </a:lnSpc>
            </a:pPr>
            <a:r>
              <a:rPr lang="en-US" sz="1575">
                <a:solidFill>
                  <a:srgbClr val="595959"/>
                </a:solidFill>
                <a:latin typeface="Arimo" panose="020B0604020202020204"/>
                <a:ea typeface="Arimo" panose="020B0604020202020204"/>
                <a:cs typeface="Arimo" panose="020B0604020202020204"/>
                <a:sym typeface="Arimo" panose="020B0604020202020204"/>
              </a:rPr>
              <a:t>OVERALL ARCHITECTURE</a:t>
            </a:r>
            <a:endParaRPr lang="en-US" sz="1575">
              <a:solidFill>
                <a:srgbClr val="595959"/>
              </a:solidFill>
              <a:latin typeface="Arimo" panose="020B0604020202020204"/>
              <a:ea typeface="Arimo" panose="020B0604020202020204"/>
              <a:cs typeface="Arimo" panose="020B0604020202020204"/>
              <a:sym typeface="Arimo" panose="020B0604020202020204"/>
            </a:endParaRPr>
          </a:p>
        </p:txBody>
      </p:sp>
      <p:sp>
        <p:nvSpPr>
          <p:cNvPr id="19" name="AutoShape 19"/>
          <p:cNvSpPr/>
          <p:nvPr/>
        </p:nvSpPr>
        <p:spPr>
          <a:xfrm rot="21924">
            <a:off x="2568954" y="6897168"/>
            <a:ext cx="11948287" cy="0"/>
          </a:xfrm>
          <a:prstGeom prst="line">
            <a:avLst/>
          </a:prstGeom>
          <a:ln w="38100" cap="rnd">
            <a:solidFill>
              <a:srgbClr val="FFFFFF"/>
            </a:solidFill>
            <a:prstDash val="solid"/>
            <a:headEnd type="none" w="sm" len="sm"/>
            <a:tailEnd type="none" w="sm" len="sm"/>
          </a:ln>
        </p:spPr>
      </p:sp>
      <p:grpSp>
        <p:nvGrpSpPr>
          <p:cNvPr id="20" name="Group 20"/>
          <p:cNvGrpSpPr/>
          <p:nvPr/>
        </p:nvGrpSpPr>
        <p:grpSpPr>
          <a:xfrm rot="0">
            <a:off x="4374002" y="6372225"/>
            <a:ext cx="1151985" cy="1151985"/>
            <a:chOff x="0" y="0"/>
            <a:chExt cx="1535980" cy="1535980"/>
          </a:xfrm>
        </p:grpSpPr>
        <p:sp>
          <p:nvSpPr>
            <p:cNvPr id="21" name="Freeform 21"/>
            <p:cNvSpPr/>
            <p:nvPr/>
          </p:nvSpPr>
          <p:spPr>
            <a:xfrm>
              <a:off x="0" y="0"/>
              <a:ext cx="1535938" cy="1535938"/>
            </a:xfrm>
            <a:custGeom>
              <a:avLst/>
              <a:gdLst/>
              <a:ahLst/>
              <a:cxnLst/>
              <a:rect l="l" t="t" r="r" b="b"/>
              <a:pathLst>
                <a:path w="1535938" h="1535938">
                  <a:moveTo>
                    <a:pt x="0" y="0"/>
                  </a:moveTo>
                  <a:lnTo>
                    <a:pt x="1535938" y="0"/>
                  </a:lnTo>
                  <a:lnTo>
                    <a:pt x="1535938" y="1535938"/>
                  </a:lnTo>
                  <a:lnTo>
                    <a:pt x="0" y="1535938"/>
                  </a:lnTo>
                  <a:close/>
                </a:path>
              </a:pathLst>
            </a:custGeom>
            <a:solidFill>
              <a:srgbClr val="014924"/>
            </a:solidFill>
          </p:spPr>
        </p:sp>
      </p:grpSp>
      <p:sp>
        <p:nvSpPr>
          <p:cNvPr id="22" name="TextBox 22"/>
          <p:cNvSpPr txBox="1"/>
          <p:nvPr/>
        </p:nvSpPr>
        <p:spPr>
          <a:xfrm>
            <a:off x="4309149" y="6540894"/>
            <a:ext cx="1281690" cy="804772"/>
          </a:xfrm>
          <a:prstGeom prst="rect">
            <a:avLst/>
          </a:prstGeom>
        </p:spPr>
        <p:txBody>
          <a:bodyPr lIns="0" tIns="0" rIns="0" bIns="0" rtlCol="0" anchor="t">
            <a:spAutoFit/>
          </a:bodyPr>
          <a:lstStyle/>
          <a:p>
            <a:pPr algn="ctr">
              <a:lnSpc>
                <a:spcPts val="5760"/>
              </a:lnSpc>
            </a:pPr>
            <a:r>
              <a:rPr lang="en-US" sz="4800" b="1">
                <a:solidFill>
                  <a:srgbClr val="FFFFFF"/>
                </a:solidFill>
                <a:latin typeface="Arimo Bold" panose="020B0704020202020204"/>
                <a:ea typeface="Arimo Bold" panose="020B0704020202020204"/>
                <a:cs typeface="Arimo Bold" panose="020B0704020202020204"/>
                <a:sym typeface="Arimo Bold" panose="020B0704020202020204"/>
              </a:rPr>
              <a:t>4</a:t>
            </a:r>
            <a:endParaRPr lang="en-US" sz="48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23" name="Group 23"/>
          <p:cNvGrpSpPr/>
          <p:nvPr/>
        </p:nvGrpSpPr>
        <p:grpSpPr>
          <a:xfrm rot="0">
            <a:off x="7909956" y="6372225"/>
            <a:ext cx="1151985" cy="1151985"/>
            <a:chOff x="0" y="0"/>
            <a:chExt cx="1535980" cy="1535980"/>
          </a:xfrm>
        </p:grpSpPr>
        <p:sp>
          <p:nvSpPr>
            <p:cNvPr id="24" name="Freeform 24"/>
            <p:cNvSpPr/>
            <p:nvPr/>
          </p:nvSpPr>
          <p:spPr>
            <a:xfrm>
              <a:off x="0" y="0"/>
              <a:ext cx="1535938" cy="1535938"/>
            </a:xfrm>
            <a:custGeom>
              <a:avLst/>
              <a:gdLst/>
              <a:ahLst/>
              <a:cxnLst/>
              <a:rect l="l" t="t" r="r" b="b"/>
              <a:pathLst>
                <a:path w="1535938" h="1535938">
                  <a:moveTo>
                    <a:pt x="0" y="0"/>
                  </a:moveTo>
                  <a:lnTo>
                    <a:pt x="1535938" y="0"/>
                  </a:lnTo>
                  <a:lnTo>
                    <a:pt x="1535938" y="1535938"/>
                  </a:lnTo>
                  <a:lnTo>
                    <a:pt x="0" y="1535938"/>
                  </a:lnTo>
                  <a:close/>
                </a:path>
              </a:pathLst>
            </a:custGeom>
            <a:solidFill>
              <a:srgbClr val="014924"/>
            </a:solidFill>
          </p:spPr>
        </p:sp>
      </p:grpSp>
      <p:sp>
        <p:nvSpPr>
          <p:cNvPr id="25" name="TextBox 25"/>
          <p:cNvSpPr txBox="1"/>
          <p:nvPr/>
        </p:nvSpPr>
        <p:spPr>
          <a:xfrm>
            <a:off x="7877103" y="6540894"/>
            <a:ext cx="1281690" cy="804772"/>
          </a:xfrm>
          <a:prstGeom prst="rect">
            <a:avLst/>
          </a:prstGeom>
        </p:spPr>
        <p:txBody>
          <a:bodyPr lIns="0" tIns="0" rIns="0" bIns="0" rtlCol="0" anchor="t">
            <a:spAutoFit/>
          </a:bodyPr>
          <a:lstStyle/>
          <a:p>
            <a:pPr algn="ctr">
              <a:lnSpc>
                <a:spcPts val="5760"/>
              </a:lnSpc>
            </a:pPr>
            <a:r>
              <a:rPr lang="en-US" sz="4800" b="1">
                <a:solidFill>
                  <a:srgbClr val="FFFFFF"/>
                </a:solidFill>
                <a:latin typeface="Arimo Bold" panose="020B0704020202020204"/>
                <a:ea typeface="Arimo Bold" panose="020B0704020202020204"/>
                <a:cs typeface="Arimo Bold" panose="020B0704020202020204"/>
                <a:sym typeface="Arimo Bold" panose="020B0704020202020204"/>
              </a:rPr>
              <a:t>5</a:t>
            </a:r>
            <a:endParaRPr lang="en-US" sz="48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26" name="Group 26"/>
          <p:cNvGrpSpPr/>
          <p:nvPr/>
        </p:nvGrpSpPr>
        <p:grpSpPr>
          <a:xfrm rot="0">
            <a:off x="11557908" y="6372225"/>
            <a:ext cx="1151985" cy="1151985"/>
            <a:chOff x="0" y="0"/>
            <a:chExt cx="1535980" cy="1535980"/>
          </a:xfrm>
        </p:grpSpPr>
        <p:sp>
          <p:nvSpPr>
            <p:cNvPr id="27" name="Freeform 27"/>
            <p:cNvSpPr/>
            <p:nvPr/>
          </p:nvSpPr>
          <p:spPr>
            <a:xfrm>
              <a:off x="0" y="0"/>
              <a:ext cx="1535938" cy="1535938"/>
            </a:xfrm>
            <a:custGeom>
              <a:avLst/>
              <a:gdLst/>
              <a:ahLst/>
              <a:cxnLst/>
              <a:rect l="l" t="t" r="r" b="b"/>
              <a:pathLst>
                <a:path w="1535938" h="1535938">
                  <a:moveTo>
                    <a:pt x="0" y="0"/>
                  </a:moveTo>
                  <a:lnTo>
                    <a:pt x="1535938" y="0"/>
                  </a:lnTo>
                  <a:lnTo>
                    <a:pt x="1535938" y="1535938"/>
                  </a:lnTo>
                  <a:lnTo>
                    <a:pt x="0" y="1535938"/>
                  </a:lnTo>
                  <a:close/>
                </a:path>
              </a:pathLst>
            </a:custGeom>
            <a:solidFill>
              <a:srgbClr val="014924"/>
            </a:solidFill>
          </p:spPr>
        </p:sp>
      </p:grpSp>
      <p:sp>
        <p:nvSpPr>
          <p:cNvPr id="28" name="TextBox 28"/>
          <p:cNvSpPr txBox="1"/>
          <p:nvPr/>
        </p:nvSpPr>
        <p:spPr>
          <a:xfrm>
            <a:off x="11493055" y="6540894"/>
            <a:ext cx="1281690" cy="804772"/>
          </a:xfrm>
          <a:prstGeom prst="rect">
            <a:avLst/>
          </a:prstGeom>
        </p:spPr>
        <p:txBody>
          <a:bodyPr lIns="0" tIns="0" rIns="0" bIns="0" rtlCol="0" anchor="t">
            <a:spAutoFit/>
          </a:bodyPr>
          <a:lstStyle/>
          <a:p>
            <a:pPr algn="ctr">
              <a:lnSpc>
                <a:spcPts val="5760"/>
              </a:lnSpc>
            </a:pPr>
            <a:r>
              <a:rPr lang="en-US" sz="4800" b="1">
                <a:solidFill>
                  <a:srgbClr val="FFFFFF"/>
                </a:solidFill>
                <a:latin typeface="Arimo Bold" panose="020B0704020202020204"/>
                <a:ea typeface="Arimo Bold" panose="020B0704020202020204"/>
                <a:cs typeface="Arimo Bold" panose="020B0704020202020204"/>
                <a:sym typeface="Arimo Bold" panose="020B0704020202020204"/>
              </a:rPr>
              <a:t>6</a:t>
            </a:r>
            <a:endParaRPr lang="en-US" sz="48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29" name="Group 29"/>
          <p:cNvGrpSpPr/>
          <p:nvPr/>
        </p:nvGrpSpPr>
        <p:grpSpPr>
          <a:xfrm rot="5400000">
            <a:off x="-3917487" y="3917486"/>
            <a:ext cx="10287002" cy="2452033"/>
            <a:chOff x="0" y="0"/>
            <a:chExt cx="13716002" cy="3269378"/>
          </a:xfrm>
        </p:grpSpPr>
        <p:sp>
          <p:nvSpPr>
            <p:cNvPr id="30" name="Freeform 30"/>
            <p:cNvSpPr/>
            <p:nvPr/>
          </p:nvSpPr>
          <p:spPr>
            <a:xfrm>
              <a:off x="0" y="0"/>
              <a:ext cx="13716000" cy="3269361"/>
            </a:xfrm>
            <a:custGeom>
              <a:avLst/>
              <a:gdLst/>
              <a:ahLst/>
              <a:cxnLst/>
              <a:rect l="l" t="t" r="r" b="b"/>
              <a:pathLst>
                <a:path w="13716000" h="3269361">
                  <a:moveTo>
                    <a:pt x="0" y="0"/>
                  </a:moveTo>
                  <a:lnTo>
                    <a:pt x="13716000" y="0"/>
                  </a:lnTo>
                  <a:lnTo>
                    <a:pt x="13716000" y="3269361"/>
                  </a:lnTo>
                  <a:lnTo>
                    <a:pt x="0" y="3269361"/>
                  </a:lnTo>
                  <a:close/>
                </a:path>
              </a:pathLst>
            </a:custGeom>
            <a:solidFill>
              <a:srgbClr val="014924"/>
            </a:solidFill>
          </p:spPr>
        </p:sp>
      </p:grpSp>
      <p:grpSp>
        <p:nvGrpSpPr>
          <p:cNvPr id="31" name="Group 31"/>
          <p:cNvGrpSpPr/>
          <p:nvPr/>
        </p:nvGrpSpPr>
        <p:grpSpPr>
          <a:xfrm rot="5400000">
            <a:off x="-2494844" y="5085672"/>
            <a:ext cx="10287002" cy="115662"/>
            <a:chOff x="0" y="0"/>
            <a:chExt cx="13716002" cy="154216"/>
          </a:xfrm>
        </p:grpSpPr>
        <p:sp>
          <p:nvSpPr>
            <p:cNvPr id="32" name="Freeform 32"/>
            <p:cNvSpPr/>
            <p:nvPr/>
          </p:nvSpPr>
          <p:spPr>
            <a:xfrm>
              <a:off x="0" y="0"/>
              <a:ext cx="13716000" cy="154178"/>
            </a:xfrm>
            <a:custGeom>
              <a:avLst/>
              <a:gdLst/>
              <a:ahLst/>
              <a:cxnLst/>
              <a:rect l="l" t="t" r="r" b="b"/>
              <a:pathLst>
                <a:path w="13716000" h="154178">
                  <a:moveTo>
                    <a:pt x="0" y="0"/>
                  </a:moveTo>
                  <a:lnTo>
                    <a:pt x="13716000" y="0"/>
                  </a:lnTo>
                  <a:lnTo>
                    <a:pt x="13716000" y="154178"/>
                  </a:lnTo>
                  <a:lnTo>
                    <a:pt x="0" y="154178"/>
                  </a:lnTo>
                  <a:close/>
                </a:path>
              </a:pathLst>
            </a:custGeom>
            <a:solidFill>
              <a:srgbClr val="014924"/>
            </a:solidFill>
          </p:spPr>
        </p:sp>
      </p:grpSp>
      <p:sp>
        <p:nvSpPr>
          <p:cNvPr id="33" name="TextBox 33"/>
          <p:cNvSpPr txBox="1"/>
          <p:nvPr/>
        </p:nvSpPr>
        <p:spPr>
          <a:xfrm>
            <a:off x="11057088" y="7826792"/>
            <a:ext cx="2248550" cy="712438"/>
          </a:xfrm>
          <a:prstGeom prst="rect">
            <a:avLst/>
          </a:prstGeom>
        </p:spPr>
        <p:txBody>
          <a:bodyPr lIns="0" tIns="0" rIns="0" bIns="0" rtlCol="0" anchor="t">
            <a:spAutoFit/>
          </a:bodyPr>
          <a:lstStyle/>
          <a:p>
            <a:pPr algn="l">
              <a:lnSpc>
                <a:spcPts val="5040"/>
              </a:lnSpc>
            </a:pPr>
            <a:r>
              <a:rPr lang="en-US" sz="4200">
                <a:solidFill>
                  <a:srgbClr val="595959"/>
                </a:solidFill>
                <a:latin typeface="Arimo" panose="020B0604020202020204"/>
                <a:ea typeface="Arimo" panose="020B0604020202020204"/>
                <a:cs typeface="Arimo" panose="020B0604020202020204"/>
                <a:sym typeface="Arimo" panose="020B0604020202020204"/>
              </a:rPr>
              <a:t>总结展望</a:t>
            </a:r>
            <a:endParaRPr lang="en-US" sz="4200">
              <a:solidFill>
                <a:srgbClr val="595959"/>
              </a:solidFill>
              <a:latin typeface="Arimo" panose="020B0604020202020204"/>
              <a:ea typeface="Arimo" panose="020B0604020202020204"/>
              <a:cs typeface="Arimo" panose="020B0604020202020204"/>
              <a:sym typeface="Arimo" panose="020B0604020202020204"/>
            </a:endParaRPr>
          </a:p>
        </p:txBody>
      </p:sp>
      <p:sp>
        <p:nvSpPr>
          <p:cNvPr id="34" name="TextBox 34"/>
          <p:cNvSpPr txBox="1"/>
          <p:nvPr/>
        </p:nvSpPr>
        <p:spPr>
          <a:xfrm>
            <a:off x="10838015" y="8632727"/>
            <a:ext cx="2731857" cy="298957"/>
          </a:xfrm>
          <a:prstGeom prst="rect">
            <a:avLst/>
          </a:prstGeom>
        </p:spPr>
        <p:txBody>
          <a:bodyPr lIns="0" tIns="0" rIns="0" bIns="0" rtlCol="0" anchor="t">
            <a:spAutoFit/>
          </a:bodyPr>
          <a:lstStyle/>
          <a:p>
            <a:pPr algn="ctr">
              <a:lnSpc>
                <a:spcPts val="1890"/>
              </a:lnSpc>
            </a:pPr>
            <a:r>
              <a:rPr lang="en-US" sz="1575">
                <a:solidFill>
                  <a:srgbClr val="595959"/>
                </a:solidFill>
                <a:latin typeface="Arimo" panose="020B0604020202020204"/>
                <a:ea typeface="Arimo" panose="020B0604020202020204"/>
                <a:cs typeface="Arimo" panose="020B0604020202020204"/>
                <a:sym typeface="Arimo" panose="020B0604020202020204"/>
              </a:rPr>
              <a:t>CONCLUSION &amp; OUTLOOK</a:t>
            </a:r>
            <a:endParaRPr lang="en-US" sz="1575">
              <a:solidFill>
                <a:srgbClr val="595959"/>
              </a:solidFill>
              <a:latin typeface="Arimo" panose="020B0604020202020204"/>
              <a:ea typeface="Arimo" panose="020B0604020202020204"/>
              <a:cs typeface="Arimo" panose="020B0604020202020204"/>
              <a:sym typeface="Arimo" panose="020B0604020202020204"/>
            </a:endParaRPr>
          </a:p>
        </p:txBody>
      </p:sp>
      <p:sp>
        <p:nvSpPr>
          <p:cNvPr id="35" name="TextBox 35"/>
          <p:cNvSpPr txBox="1"/>
          <p:nvPr/>
        </p:nvSpPr>
        <p:spPr>
          <a:xfrm>
            <a:off x="3537560" y="7867076"/>
            <a:ext cx="2866510" cy="712438"/>
          </a:xfrm>
          <a:prstGeom prst="rect">
            <a:avLst/>
          </a:prstGeom>
        </p:spPr>
        <p:txBody>
          <a:bodyPr lIns="0" tIns="0" rIns="0" bIns="0" rtlCol="0" anchor="t">
            <a:spAutoFit/>
          </a:bodyPr>
          <a:lstStyle/>
          <a:p>
            <a:pPr algn="l">
              <a:lnSpc>
                <a:spcPts val="5040"/>
              </a:lnSpc>
            </a:pPr>
            <a:r>
              <a:rPr lang="en-US" sz="4200">
                <a:solidFill>
                  <a:srgbClr val="595959"/>
                </a:solidFill>
                <a:latin typeface="Arimo" panose="020B0604020202020204"/>
                <a:ea typeface="Arimo" panose="020B0604020202020204"/>
                <a:cs typeface="Arimo" panose="020B0604020202020204"/>
                <a:sym typeface="Arimo" panose="020B0604020202020204"/>
              </a:rPr>
              <a:t>设计与实现</a:t>
            </a:r>
            <a:endParaRPr lang="en-US" sz="4200">
              <a:solidFill>
                <a:srgbClr val="595959"/>
              </a:solidFill>
              <a:latin typeface="Arimo" panose="020B0604020202020204"/>
              <a:ea typeface="Arimo" panose="020B0604020202020204"/>
              <a:cs typeface="Arimo" panose="020B0604020202020204"/>
              <a:sym typeface="Arimo" panose="020B0604020202020204"/>
            </a:endParaRPr>
          </a:p>
        </p:txBody>
      </p:sp>
      <p:sp>
        <p:nvSpPr>
          <p:cNvPr id="36" name="TextBox 36"/>
          <p:cNvSpPr txBox="1"/>
          <p:nvPr/>
        </p:nvSpPr>
        <p:spPr>
          <a:xfrm>
            <a:off x="3558912" y="8626409"/>
            <a:ext cx="2967498" cy="298957"/>
          </a:xfrm>
          <a:prstGeom prst="rect">
            <a:avLst/>
          </a:prstGeom>
        </p:spPr>
        <p:txBody>
          <a:bodyPr lIns="0" tIns="0" rIns="0" bIns="0" rtlCol="0" anchor="t">
            <a:spAutoFit/>
          </a:bodyPr>
          <a:lstStyle/>
          <a:p>
            <a:pPr algn="ctr">
              <a:lnSpc>
                <a:spcPts val="1890"/>
              </a:lnSpc>
            </a:pPr>
            <a:r>
              <a:rPr lang="en-US" sz="1575">
                <a:solidFill>
                  <a:srgbClr val="595959"/>
                </a:solidFill>
                <a:latin typeface="Arimo" panose="020B0604020202020204"/>
                <a:ea typeface="Arimo" panose="020B0604020202020204"/>
                <a:cs typeface="Arimo" panose="020B0604020202020204"/>
                <a:sym typeface="Arimo" panose="020B0604020202020204"/>
              </a:rPr>
              <a:t>DESIGN &amp; IMPLEMENTATION</a:t>
            </a:r>
            <a:endParaRPr lang="en-US" sz="1575">
              <a:solidFill>
                <a:srgbClr val="595959"/>
              </a:solidFill>
              <a:latin typeface="Arimo" panose="020B0604020202020204"/>
              <a:ea typeface="Arimo" panose="020B0604020202020204"/>
              <a:cs typeface="Arimo" panose="020B0604020202020204"/>
              <a:sym typeface="Arimo" panose="020B0604020202020204"/>
            </a:endParaRPr>
          </a:p>
        </p:txBody>
      </p:sp>
      <p:sp>
        <p:nvSpPr>
          <p:cNvPr id="37" name="TextBox 37"/>
          <p:cNvSpPr txBox="1"/>
          <p:nvPr/>
        </p:nvSpPr>
        <p:spPr>
          <a:xfrm>
            <a:off x="7393673" y="7826792"/>
            <a:ext cx="2248550" cy="712438"/>
          </a:xfrm>
          <a:prstGeom prst="rect">
            <a:avLst/>
          </a:prstGeom>
        </p:spPr>
        <p:txBody>
          <a:bodyPr lIns="0" tIns="0" rIns="0" bIns="0" rtlCol="0" anchor="t">
            <a:spAutoFit/>
          </a:bodyPr>
          <a:lstStyle/>
          <a:p>
            <a:pPr algn="l">
              <a:lnSpc>
                <a:spcPts val="5040"/>
              </a:lnSpc>
            </a:pPr>
            <a:r>
              <a:rPr lang="en-US" sz="4200">
                <a:solidFill>
                  <a:srgbClr val="595959"/>
                </a:solidFill>
                <a:latin typeface="Arimo" panose="020B0604020202020204"/>
                <a:ea typeface="Arimo" panose="020B0604020202020204"/>
                <a:cs typeface="Arimo" panose="020B0604020202020204"/>
                <a:sym typeface="Arimo" panose="020B0604020202020204"/>
              </a:rPr>
              <a:t>项目测试</a:t>
            </a:r>
            <a:endParaRPr lang="en-US" sz="4200">
              <a:solidFill>
                <a:srgbClr val="595959"/>
              </a:solidFill>
              <a:latin typeface="Arimo" panose="020B0604020202020204"/>
              <a:ea typeface="Arimo" panose="020B0604020202020204"/>
              <a:cs typeface="Arimo" panose="020B0604020202020204"/>
              <a:sym typeface="Arimo" panose="020B0604020202020204"/>
            </a:endParaRPr>
          </a:p>
        </p:txBody>
      </p:sp>
      <p:sp>
        <p:nvSpPr>
          <p:cNvPr id="38" name="TextBox 38"/>
          <p:cNvSpPr txBox="1"/>
          <p:nvPr/>
        </p:nvSpPr>
        <p:spPr>
          <a:xfrm>
            <a:off x="7583292" y="8603815"/>
            <a:ext cx="1842190" cy="298957"/>
          </a:xfrm>
          <a:prstGeom prst="rect">
            <a:avLst/>
          </a:prstGeom>
        </p:spPr>
        <p:txBody>
          <a:bodyPr lIns="0" tIns="0" rIns="0" bIns="0" rtlCol="0" anchor="t">
            <a:spAutoFit/>
          </a:bodyPr>
          <a:lstStyle/>
          <a:p>
            <a:pPr algn="ctr">
              <a:lnSpc>
                <a:spcPts val="1890"/>
              </a:lnSpc>
            </a:pPr>
            <a:r>
              <a:rPr lang="en-US" sz="1575">
                <a:solidFill>
                  <a:srgbClr val="595959"/>
                </a:solidFill>
                <a:latin typeface="Arimo" panose="020B0604020202020204"/>
                <a:ea typeface="Arimo" panose="020B0604020202020204"/>
                <a:cs typeface="Arimo" panose="020B0604020202020204"/>
                <a:sym typeface="Arimo" panose="020B0604020202020204"/>
              </a:rPr>
              <a:t>PROJECT TESTING</a:t>
            </a:r>
            <a:endParaRPr lang="en-US" sz="1575">
              <a:solidFill>
                <a:srgbClr val="595959"/>
              </a:solidFill>
              <a:latin typeface="Arimo" panose="020B0604020202020204"/>
              <a:ea typeface="Arimo" panose="020B0604020202020204"/>
              <a:cs typeface="Arimo" panose="020B0604020202020204"/>
              <a:sym typeface="Arimo" panose="020B0604020202020204"/>
            </a:endParaRPr>
          </a:p>
        </p:txBody>
      </p:sp>
      <p:sp>
        <p:nvSpPr>
          <p:cNvPr id="39" name="TextBox 39"/>
          <p:cNvSpPr txBox="1"/>
          <p:nvPr/>
        </p:nvSpPr>
        <p:spPr>
          <a:xfrm rot="5400000">
            <a:off x="339350" y="960732"/>
            <a:ext cx="2546940" cy="1369189"/>
          </a:xfrm>
          <a:prstGeom prst="rect">
            <a:avLst/>
          </a:prstGeom>
        </p:spPr>
        <p:txBody>
          <a:bodyPr lIns="0" tIns="0" rIns="0" bIns="0" rtlCol="0" anchor="t">
            <a:spAutoFit/>
          </a:bodyPr>
          <a:lstStyle/>
          <a:p>
            <a:pPr algn="just">
              <a:lnSpc>
                <a:spcPts val="9720"/>
              </a:lnSpc>
            </a:pPr>
            <a:r>
              <a:rPr lang="en-US" sz="8100" b="1">
                <a:solidFill>
                  <a:srgbClr val="FFFFFF"/>
                </a:solidFill>
                <a:latin typeface="Arimo Bold" panose="020B0704020202020204"/>
                <a:ea typeface="Arimo Bold" panose="020B0704020202020204"/>
                <a:cs typeface="Arimo Bold" panose="020B0704020202020204"/>
                <a:sym typeface="Arimo Bold" panose="020B0704020202020204"/>
              </a:rPr>
              <a:t>目录</a:t>
            </a:r>
            <a:endParaRPr lang="en-US" sz="81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40" name="Group 40"/>
          <p:cNvGrpSpPr>
            <a:grpSpLocks noChangeAspect="1"/>
          </p:cNvGrpSpPr>
          <p:nvPr/>
        </p:nvGrpSpPr>
        <p:grpSpPr>
          <a:xfrm rot="0">
            <a:off x="14723000" y="203883"/>
            <a:ext cx="3565001" cy="1101770"/>
            <a:chOff x="0" y="0"/>
            <a:chExt cx="4753334" cy="1469026"/>
          </a:xfrm>
        </p:grpSpPr>
        <p:sp>
          <p:nvSpPr>
            <p:cNvPr id="41" name="Freeform 41"/>
            <p:cNvSpPr/>
            <p:nvPr/>
          </p:nvSpPr>
          <p:spPr>
            <a:xfrm>
              <a:off x="0" y="0"/>
              <a:ext cx="4753356" cy="1469009"/>
            </a:xfrm>
            <a:custGeom>
              <a:avLst/>
              <a:gdLst/>
              <a:ahLst/>
              <a:cxnLst/>
              <a:rect l="l" t="t" r="r" b="b"/>
              <a:pathLst>
                <a:path w="4753356" h="1469009">
                  <a:moveTo>
                    <a:pt x="0" y="0"/>
                  </a:moveTo>
                  <a:lnTo>
                    <a:pt x="4753356" y="0"/>
                  </a:lnTo>
                  <a:lnTo>
                    <a:pt x="4753356" y="1469009"/>
                  </a:lnTo>
                  <a:lnTo>
                    <a:pt x="0" y="1469009"/>
                  </a:lnTo>
                  <a:lnTo>
                    <a:pt x="0" y="0"/>
                  </a:lnTo>
                  <a:close/>
                </a:path>
              </a:pathLst>
            </a:custGeom>
            <a:blipFill>
              <a:blip r:embed="rId2"/>
              <a:stretch>
                <a:fillRect t="-34825" b="-13078"/>
              </a:stretch>
            </a:blipFill>
          </p:spPr>
        </p:sp>
      </p:grpSp>
      <p:grpSp>
        <p:nvGrpSpPr>
          <p:cNvPr id="42" name="Group 42"/>
          <p:cNvGrpSpPr>
            <a:grpSpLocks noChangeAspect="1"/>
          </p:cNvGrpSpPr>
          <p:nvPr/>
        </p:nvGrpSpPr>
        <p:grpSpPr>
          <a:xfrm rot="0">
            <a:off x="11132865" y="317882"/>
            <a:ext cx="3466641" cy="765282"/>
            <a:chOff x="0" y="0"/>
            <a:chExt cx="4622188" cy="1020376"/>
          </a:xfrm>
        </p:grpSpPr>
        <p:sp>
          <p:nvSpPr>
            <p:cNvPr id="43" name="Freeform 43"/>
            <p:cNvSpPr/>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3"/>
              <a:stretch>
                <a:fillRect b="-5"/>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9481764" y="4029974"/>
            <a:ext cx="8806236" cy="2313674"/>
            <a:chOff x="0" y="0"/>
            <a:chExt cx="11741648" cy="3084898"/>
          </a:xfrm>
        </p:grpSpPr>
        <p:sp>
          <p:nvSpPr>
            <p:cNvPr id="4" name="Freeform 4"/>
            <p:cNvSpPr/>
            <p:nvPr/>
          </p:nvSpPr>
          <p:spPr>
            <a:xfrm>
              <a:off x="0" y="0"/>
              <a:ext cx="11741658" cy="3084957"/>
            </a:xfrm>
            <a:custGeom>
              <a:avLst/>
              <a:gdLst/>
              <a:ahLst/>
              <a:cxnLst/>
              <a:rect l="l" t="t" r="r" b="b"/>
              <a:pathLst>
                <a:path w="11741658" h="3084957">
                  <a:moveTo>
                    <a:pt x="0" y="0"/>
                  </a:moveTo>
                  <a:lnTo>
                    <a:pt x="11741658" y="0"/>
                  </a:lnTo>
                  <a:lnTo>
                    <a:pt x="11741658" y="3084957"/>
                  </a:lnTo>
                  <a:lnTo>
                    <a:pt x="0" y="3084957"/>
                  </a:lnTo>
                  <a:lnTo>
                    <a:pt x="0" y="0"/>
                  </a:lnTo>
                  <a:close/>
                </a:path>
              </a:pathLst>
            </a:custGeom>
            <a:blipFill>
              <a:blip r:embed="rId2"/>
              <a:stretch>
                <a:fillRect t="-74003" r="-17268" b="-160884"/>
              </a:stretch>
            </a:blipFill>
          </p:spPr>
        </p:sp>
      </p:grpSp>
      <p:grpSp>
        <p:nvGrpSpPr>
          <p:cNvPr id="5" name="Group 5"/>
          <p:cNvGrpSpPr/>
          <p:nvPr/>
        </p:nvGrpSpPr>
        <p:grpSpPr>
          <a:xfrm rot="0">
            <a:off x="4286250" y="4029075"/>
            <a:ext cx="14001750" cy="2314573"/>
            <a:chOff x="0" y="0"/>
            <a:chExt cx="18669000" cy="3086098"/>
          </a:xfrm>
        </p:grpSpPr>
        <p:sp>
          <p:nvSpPr>
            <p:cNvPr id="6" name="Freeform 6"/>
            <p:cNvSpPr/>
            <p:nvPr/>
          </p:nvSpPr>
          <p:spPr>
            <a:xfrm>
              <a:off x="0" y="0"/>
              <a:ext cx="18669000" cy="3086100"/>
            </a:xfrm>
            <a:custGeom>
              <a:avLst/>
              <a:gdLst/>
              <a:ahLst/>
              <a:cxnLst/>
              <a:rect l="l" t="t" r="r" b="b"/>
              <a:pathLst>
                <a:path w="18669000" h="3086100">
                  <a:moveTo>
                    <a:pt x="0" y="0"/>
                  </a:moveTo>
                  <a:lnTo>
                    <a:pt x="18669000" y="0"/>
                  </a:lnTo>
                  <a:lnTo>
                    <a:pt x="18669000" y="3086100"/>
                  </a:lnTo>
                  <a:lnTo>
                    <a:pt x="0" y="3086100"/>
                  </a:lnTo>
                  <a:close/>
                </a:path>
              </a:pathLst>
            </a:custGeom>
            <a:gradFill rotWithShape="1">
              <a:gsLst>
                <a:gs pos="0">
                  <a:srgbClr val="014924">
                    <a:alpha val="100000"/>
                  </a:srgbClr>
                </a:gs>
                <a:gs pos="35000">
                  <a:srgbClr val="014924">
                    <a:alpha val="100000"/>
                  </a:srgbClr>
                </a:gs>
                <a:gs pos="59000">
                  <a:srgbClr val="014924">
                    <a:alpha val="95000"/>
                  </a:srgbClr>
                </a:gs>
                <a:gs pos="77000">
                  <a:srgbClr val="014924">
                    <a:alpha val="70000"/>
                  </a:srgbClr>
                </a:gs>
                <a:gs pos="100000">
                  <a:srgbClr val="014924">
                    <a:alpha val="60000"/>
                  </a:srgbClr>
                </a:gs>
              </a:gsLst>
              <a:lin ang="0"/>
            </a:gradFill>
          </p:spPr>
        </p:sp>
      </p:grpSp>
      <p:grpSp>
        <p:nvGrpSpPr>
          <p:cNvPr id="7" name="Group 7"/>
          <p:cNvGrpSpPr/>
          <p:nvPr/>
        </p:nvGrpSpPr>
        <p:grpSpPr>
          <a:xfrm rot="0">
            <a:off x="1685925" y="4029075"/>
            <a:ext cx="2314575" cy="2314575"/>
            <a:chOff x="0" y="0"/>
            <a:chExt cx="3086100" cy="3086100"/>
          </a:xfrm>
        </p:grpSpPr>
        <p:sp>
          <p:nvSpPr>
            <p:cNvPr id="8" name="Freeform 8"/>
            <p:cNvSpPr/>
            <p:nvPr/>
          </p:nvSpPr>
          <p:spPr>
            <a:xfrm>
              <a:off x="0" y="0"/>
              <a:ext cx="3086100" cy="3086100"/>
            </a:xfrm>
            <a:custGeom>
              <a:avLst/>
              <a:gdLst/>
              <a:ahLst/>
              <a:cxnLst/>
              <a:rect l="l" t="t" r="r" b="b"/>
              <a:pathLst>
                <a:path w="3086100" h="3086100">
                  <a:moveTo>
                    <a:pt x="0" y="0"/>
                  </a:moveTo>
                  <a:lnTo>
                    <a:pt x="3086100" y="0"/>
                  </a:lnTo>
                  <a:lnTo>
                    <a:pt x="3086100" y="3086100"/>
                  </a:lnTo>
                  <a:lnTo>
                    <a:pt x="0" y="3086100"/>
                  </a:lnTo>
                  <a:close/>
                </a:path>
              </a:pathLst>
            </a:custGeom>
            <a:solidFill>
              <a:srgbClr val="549E39"/>
            </a:solidFill>
          </p:spPr>
        </p:sp>
      </p:grpSp>
      <p:sp>
        <p:nvSpPr>
          <p:cNvPr id="9" name="TextBox 9"/>
          <p:cNvSpPr txBox="1"/>
          <p:nvPr/>
        </p:nvSpPr>
        <p:spPr>
          <a:xfrm>
            <a:off x="2202368" y="4353461"/>
            <a:ext cx="1281690" cy="1616393"/>
          </a:xfrm>
          <a:prstGeom prst="rect">
            <a:avLst/>
          </a:prstGeom>
        </p:spPr>
        <p:txBody>
          <a:bodyPr lIns="0" tIns="0" rIns="0" bIns="0" rtlCol="0" anchor="t">
            <a:spAutoFit/>
          </a:bodyPr>
          <a:lstStyle/>
          <a:p>
            <a:pPr algn="ctr">
              <a:lnSpc>
                <a:spcPts val="11880"/>
              </a:lnSpc>
            </a:pPr>
            <a:r>
              <a:rPr lang="en-US" sz="9900" b="1">
                <a:solidFill>
                  <a:srgbClr val="FFFFFF"/>
                </a:solidFill>
                <a:latin typeface="Arimo Bold" panose="020B0704020202020204"/>
                <a:ea typeface="Arimo Bold" panose="020B0704020202020204"/>
                <a:cs typeface="Arimo Bold" panose="020B0704020202020204"/>
                <a:sym typeface="Arimo Bold" panose="020B0704020202020204"/>
              </a:rPr>
              <a:t>1</a:t>
            </a:r>
            <a:endParaRPr lang="en-US" sz="99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0" name="TextBox 10"/>
          <p:cNvSpPr txBox="1"/>
          <p:nvPr/>
        </p:nvSpPr>
        <p:spPr>
          <a:xfrm>
            <a:off x="4516938" y="4491057"/>
            <a:ext cx="4710762" cy="1183628"/>
          </a:xfrm>
          <a:prstGeom prst="rect">
            <a:avLst/>
          </a:prstGeom>
        </p:spPr>
        <p:txBody>
          <a:bodyPr lIns="0" tIns="0" rIns="0" bIns="0" rtlCol="0" anchor="t">
            <a:spAutoFit/>
          </a:bodyPr>
          <a:lstStyle/>
          <a:p>
            <a:pPr algn="l">
              <a:lnSpc>
                <a:spcPts val="8640"/>
              </a:lnSpc>
            </a:pPr>
            <a:r>
              <a:rPr lang="en-US" sz="7200">
                <a:solidFill>
                  <a:srgbClr val="FFFFFF"/>
                </a:solidFill>
                <a:latin typeface="Arimo" panose="020B0604020202020204"/>
                <a:ea typeface="Arimo" panose="020B0604020202020204"/>
                <a:cs typeface="Arimo" panose="020B0604020202020204"/>
                <a:sym typeface="Arimo" panose="020B0604020202020204"/>
              </a:rPr>
              <a:t>背景和动机</a:t>
            </a:r>
            <a:endParaRPr lang="en-US" sz="72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1" name="Group 11"/>
          <p:cNvGrpSpPr>
            <a:grpSpLocks noChangeAspect="1"/>
          </p:cNvGrpSpPr>
          <p:nvPr/>
        </p:nvGrpSpPr>
        <p:grpSpPr>
          <a:xfrm rot="0">
            <a:off x="14723000" y="203883"/>
            <a:ext cx="3565001" cy="1101770"/>
            <a:chOff x="0" y="0"/>
            <a:chExt cx="4753334" cy="1469026"/>
          </a:xfrm>
        </p:grpSpPr>
        <p:sp>
          <p:nvSpPr>
            <p:cNvPr id="12" name="Freeform 12"/>
            <p:cNvSpPr/>
            <p:nvPr/>
          </p:nvSpPr>
          <p:spPr>
            <a:xfrm>
              <a:off x="0" y="0"/>
              <a:ext cx="4753356" cy="1469009"/>
            </a:xfrm>
            <a:custGeom>
              <a:avLst/>
              <a:gdLst/>
              <a:ahLst/>
              <a:cxnLst/>
              <a:rect l="l" t="t" r="r" b="b"/>
              <a:pathLst>
                <a:path w="4753356" h="1469009">
                  <a:moveTo>
                    <a:pt x="0" y="0"/>
                  </a:moveTo>
                  <a:lnTo>
                    <a:pt x="4753356" y="0"/>
                  </a:lnTo>
                  <a:lnTo>
                    <a:pt x="4753356" y="1469009"/>
                  </a:lnTo>
                  <a:lnTo>
                    <a:pt x="0" y="1469009"/>
                  </a:lnTo>
                  <a:lnTo>
                    <a:pt x="0" y="0"/>
                  </a:lnTo>
                  <a:close/>
                </a:path>
              </a:pathLst>
            </a:custGeom>
            <a:blipFill>
              <a:blip r:embed="rId3"/>
              <a:stretch>
                <a:fillRect t="-34825" b="-13078"/>
              </a:stretch>
            </a:blipFill>
          </p:spPr>
        </p:sp>
      </p:grpSp>
      <p:sp>
        <p:nvSpPr>
          <p:cNvPr id="13" name="TextBox 13"/>
          <p:cNvSpPr txBox="1"/>
          <p:nvPr/>
        </p:nvSpPr>
        <p:spPr>
          <a:xfrm>
            <a:off x="4254567" y="5671185"/>
            <a:ext cx="6089464" cy="479107"/>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BACKGROUNDS &amp; MOTIVATION</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4" name="Group 14"/>
          <p:cNvGrpSpPr>
            <a:grpSpLocks noChangeAspect="1"/>
          </p:cNvGrpSpPr>
          <p:nvPr/>
        </p:nvGrpSpPr>
        <p:grpSpPr>
          <a:xfrm rot="0">
            <a:off x="11023616" y="372126"/>
            <a:ext cx="3466641" cy="765282"/>
            <a:chOff x="0" y="0"/>
            <a:chExt cx="4622188" cy="1020376"/>
          </a:xfrm>
        </p:grpSpPr>
        <p:sp>
          <p:nvSpPr>
            <p:cNvPr id="15" name="Freeform 15"/>
            <p:cNvSpPr/>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
              <a:stretch>
                <a:fillRect b="-5"/>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TextBox 5"/>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1</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6" name="TextBox 6"/>
          <p:cNvSpPr txBox="1"/>
          <p:nvPr/>
        </p:nvSpPr>
        <p:spPr>
          <a:xfrm>
            <a:off x="1143186" y="244078"/>
            <a:ext cx="3171881"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背景和动机</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grpSp>
        <p:nvGrpSpPr>
          <p:cNvPr id="7" name="Group 7"/>
          <p:cNvGrpSpPr/>
          <p:nvPr/>
        </p:nvGrpSpPr>
        <p:grpSpPr>
          <a:xfrm rot="0">
            <a:off x="4406504" y="326236"/>
            <a:ext cx="14596457" cy="492914"/>
            <a:chOff x="0" y="0"/>
            <a:chExt cx="19461943" cy="657218"/>
          </a:xfrm>
        </p:grpSpPr>
        <p:sp>
          <p:nvSpPr>
            <p:cNvPr id="8" name="Freeform 8"/>
            <p:cNvSpPr/>
            <p:nvPr/>
          </p:nvSpPr>
          <p:spPr>
            <a:xfrm>
              <a:off x="0" y="0"/>
              <a:ext cx="19461862" cy="657225"/>
            </a:xfrm>
            <a:custGeom>
              <a:avLst/>
              <a:gdLst/>
              <a:ahLst/>
              <a:cxnLst/>
              <a:rect l="l" t="t" r="r" b="b"/>
              <a:pathLst>
                <a:path w="19461862" h="657225">
                  <a:moveTo>
                    <a:pt x="0" y="328549"/>
                  </a:moveTo>
                  <a:cubicBezTo>
                    <a:pt x="0" y="147066"/>
                    <a:pt x="147066" y="0"/>
                    <a:pt x="328549" y="0"/>
                  </a:cubicBezTo>
                  <a:lnTo>
                    <a:pt x="19133313" y="0"/>
                  </a:lnTo>
                  <a:cubicBezTo>
                    <a:pt x="19314796" y="0"/>
                    <a:pt x="19461862" y="147066"/>
                    <a:pt x="19461862" y="328549"/>
                  </a:cubicBezTo>
                  <a:cubicBezTo>
                    <a:pt x="19461862" y="510032"/>
                    <a:pt x="19314796" y="657098"/>
                    <a:pt x="19133313" y="657098"/>
                  </a:cubicBezTo>
                  <a:lnTo>
                    <a:pt x="328549" y="657098"/>
                  </a:lnTo>
                  <a:cubicBezTo>
                    <a:pt x="147066" y="657225"/>
                    <a:pt x="0" y="510032"/>
                    <a:pt x="0" y="328549"/>
                  </a:cubicBezTo>
                  <a:close/>
                </a:path>
              </a:pathLst>
            </a:custGeom>
            <a:solidFill>
              <a:srgbClr val="014924"/>
            </a:solidFill>
          </p:spPr>
        </p:sp>
      </p:grpSp>
      <p:grpSp>
        <p:nvGrpSpPr>
          <p:cNvPr id="9" name="Group 9"/>
          <p:cNvGrpSpPr/>
          <p:nvPr/>
        </p:nvGrpSpPr>
        <p:grpSpPr>
          <a:xfrm rot="0">
            <a:off x="4424887" y="931548"/>
            <a:ext cx="14596459" cy="54000"/>
            <a:chOff x="0" y="0"/>
            <a:chExt cx="19461945" cy="72000"/>
          </a:xfrm>
        </p:grpSpPr>
        <p:sp>
          <p:nvSpPr>
            <p:cNvPr id="10" name="Freeform 10"/>
            <p:cNvSpPr/>
            <p:nvPr/>
          </p:nvSpPr>
          <p:spPr>
            <a:xfrm>
              <a:off x="0" y="0"/>
              <a:ext cx="19461860" cy="72009"/>
            </a:xfrm>
            <a:custGeom>
              <a:avLst/>
              <a:gdLst/>
              <a:ahLst/>
              <a:cxnLst/>
              <a:rect l="l" t="t" r="r" b="b"/>
              <a:pathLst>
                <a:path w="19461860" h="72009">
                  <a:moveTo>
                    <a:pt x="0" y="35941"/>
                  </a:moveTo>
                  <a:cubicBezTo>
                    <a:pt x="0" y="55880"/>
                    <a:pt x="16129" y="72009"/>
                    <a:pt x="35941" y="72009"/>
                  </a:cubicBezTo>
                  <a:lnTo>
                    <a:pt x="19425920" y="72009"/>
                  </a:lnTo>
                  <a:cubicBezTo>
                    <a:pt x="19445858" y="72009"/>
                    <a:pt x="19461860" y="55880"/>
                    <a:pt x="19461860" y="36068"/>
                  </a:cubicBezTo>
                  <a:cubicBezTo>
                    <a:pt x="19461860" y="16256"/>
                    <a:pt x="19445860" y="0"/>
                    <a:pt x="19425920" y="0"/>
                  </a:cubicBezTo>
                  <a:lnTo>
                    <a:pt x="35941" y="0"/>
                  </a:lnTo>
                  <a:cubicBezTo>
                    <a:pt x="16129" y="0"/>
                    <a:pt x="0" y="16129"/>
                    <a:pt x="0" y="35941"/>
                  </a:cubicBezTo>
                  <a:close/>
                </a:path>
              </a:pathLst>
            </a:custGeom>
            <a:solidFill>
              <a:srgbClr val="014924"/>
            </a:solidFill>
          </p:spPr>
        </p:sp>
      </p:grpSp>
      <p:sp>
        <p:nvSpPr>
          <p:cNvPr id="11" name="TextBox 11"/>
          <p:cNvSpPr txBox="1"/>
          <p:nvPr/>
        </p:nvSpPr>
        <p:spPr>
          <a:xfrm>
            <a:off x="4497940" y="386342"/>
            <a:ext cx="3664900" cy="343107"/>
          </a:xfrm>
          <a:prstGeom prst="rect">
            <a:avLst/>
          </a:prstGeom>
        </p:spPr>
        <p:txBody>
          <a:bodyPr lIns="0" tIns="0" rIns="0" bIns="0" rtlCol="0" anchor="t">
            <a:spAutoFit/>
          </a:bodyPr>
          <a:lstStyle/>
          <a:p>
            <a:pPr algn="ctr">
              <a:lnSpc>
                <a:spcPts val="2160"/>
              </a:lnSpc>
            </a:pPr>
            <a:r>
              <a:rPr lang="en-US" sz="1800">
                <a:solidFill>
                  <a:srgbClr val="FFFFFF"/>
                </a:solidFill>
                <a:latin typeface="Arimo" panose="020B0604020202020204"/>
                <a:ea typeface="Arimo" panose="020B0604020202020204"/>
                <a:cs typeface="Arimo" panose="020B0604020202020204"/>
                <a:sym typeface="Arimo" panose="020B0604020202020204"/>
              </a:rPr>
              <a:t>BACKGROUNDS &amp; MOTIVATION</a:t>
            </a:r>
            <a:endParaRPr lang="en-US" sz="18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2" name="Group 12"/>
          <p:cNvGrpSpPr>
            <a:grpSpLocks noChangeAspect="1"/>
          </p:cNvGrpSpPr>
          <p:nvPr/>
        </p:nvGrpSpPr>
        <p:grpSpPr>
          <a:xfrm rot="0">
            <a:off x="16100484" y="264381"/>
            <a:ext cx="1896959" cy="667167"/>
            <a:chOff x="0" y="0"/>
            <a:chExt cx="2529278" cy="889556"/>
          </a:xfrm>
        </p:grpSpPr>
        <p:sp>
          <p:nvSpPr>
            <p:cNvPr id="13" name="Freeform 13"/>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14" name="Group 14"/>
          <p:cNvGrpSpPr>
            <a:grpSpLocks noChangeAspect="1"/>
          </p:cNvGrpSpPr>
          <p:nvPr/>
        </p:nvGrpSpPr>
        <p:grpSpPr>
          <a:xfrm rot="0">
            <a:off x="11277559" y="6515241"/>
            <a:ext cx="6516944" cy="3496393"/>
            <a:chOff x="0" y="0"/>
            <a:chExt cx="8736186" cy="4687034"/>
          </a:xfrm>
        </p:grpSpPr>
        <p:sp>
          <p:nvSpPr>
            <p:cNvPr id="15" name="Freeform 15"/>
            <p:cNvSpPr/>
            <p:nvPr/>
          </p:nvSpPr>
          <p:spPr>
            <a:xfrm>
              <a:off x="0" y="0"/>
              <a:ext cx="8736203" cy="4687062"/>
            </a:xfrm>
            <a:custGeom>
              <a:avLst/>
              <a:gdLst/>
              <a:ahLst/>
              <a:cxnLst/>
              <a:rect l="l" t="t" r="r" b="b"/>
              <a:pathLst>
                <a:path w="8736203" h="4687062">
                  <a:moveTo>
                    <a:pt x="0" y="0"/>
                  </a:moveTo>
                  <a:lnTo>
                    <a:pt x="8736203" y="0"/>
                  </a:lnTo>
                  <a:lnTo>
                    <a:pt x="8736203" y="4687062"/>
                  </a:lnTo>
                  <a:lnTo>
                    <a:pt x="0" y="4687062"/>
                  </a:lnTo>
                  <a:lnTo>
                    <a:pt x="0" y="0"/>
                  </a:lnTo>
                  <a:close/>
                </a:path>
              </a:pathLst>
            </a:custGeom>
            <a:blipFill>
              <a:blip r:embed="rId3"/>
              <a:stretch>
                <a:fillRect/>
              </a:stretch>
            </a:blipFill>
          </p:spPr>
        </p:sp>
      </p:grpSp>
      <p:sp>
        <p:nvSpPr>
          <p:cNvPr id="16" name="TextBox 16"/>
          <p:cNvSpPr txBox="1"/>
          <p:nvPr/>
        </p:nvSpPr>
        <p:spPr>
          <a:xfrm>
            <a:off x="642908" y="2123236"/>
            <a:ext cx="16616392" cy="5615612"/>
          </a:xfrm>
          <a:prstGeom prst="rect">
            <a:avLst/>
          </a:prstGeom>
        </p:spPr>
        <p:txBody>
          <a:bodyPr lIns="0" tIns="0" rIns="0" bIns="0" rtlCol="0" anchor="t">
            <a:spAutoFit/>
          </a:bodyPr>
          <a:lstStyle/>
          <a:p>
            <a:pPr algn="l">
              <a:lnSpc>
                <a:spcPts val="5480"/>
              </a:lnSpc>
            </a:pPr>
            <a:r>
              <a:rPr lang="en-US" sz="3910">
                <a:solidFill>
                  <a:srgbClr val="000000"/>
                </a:solidFill>
                <a:latin typeface="Calibri (MS)" panose="020F0502020204030204"/>
                <a:ea typeface="Calibri (MS)" panose="020F0502020204030204"/>
                <a:cs typeface="Calibri (MS)" panose="020F0502020204030204"/>
                <a:sym typeface="Calibri (MS)" panose="020F0502020204030204"/>
              </a:rPr>
              <a:t>随着多核处理器技术的发展，现有 Linux 调度器在特定场景下的局限性日益凸显。当前 Linux 内核中的完全公平调度器 (CFS) 主要关注任务公平性和负载均衡，但在设计时并未充分考虑现代 多核处理器的缓存层次结构特征。 现有调度器存在三个核心问题：调度器结构日益臃肿，代码复杂度持续上升，调度开销增加； 缺乏对关键线程的优先调度支持，无法有效识别和处理重要任务；时延不可控，在高并发场景下任 务调度延迟难以预测，严重影响系统响应性能。</a:t>
            </a:r>
            <a:endParaRPr lang="en-US" sz="391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5480"/>
              </a:lnSpc>
            </a:pPr>
          </a:p>
        </p:txBody>
      </p:sp>
      <p:sp>
        <p:nvSpPr>
          <p:cNvPr id="17" name="TextBox 17"/>
          <p:cNvSpPr txBox="1"/>
          <p:nvPr/>
        </p:nvSpPr>
        <p:spPr>
          <a:xfrm>
            <a:off x="708660" y="1281242"/>
            <a:ext cx="1219200" cy="742950"/>
          </a:xfrm>
          <a:prstGeom prst="rect">
            <a:avLst/>
          </a:prstGeom>
        </p:spPr>
        <p:txBody>
          <a:bodyPr lIns="0" tIns="0" rIns="0" bIns="0" rtlCol="0" anchor="t">
            <a:spAutoFit/>
          </a:bodyPr>
          <a:lstStyle/>
          <a:p>
            <a:pPr algn="ctr">
              <a:lnSpc>
                <a:spcPts val="5760"/>
              </a:lnSpc>
              <a:spcBef>
                <a:spcPct val="0"/>
              </a:spcBef>
            </a:pPr>
            <a:r>
              <a:rPr lang="en-US" sz="4800">
                <a:solidFill>
                  <a:srgbClr val="000000"/>
                </a:solidFill>
                <a:latin typeface="Arimo" panose="020B0604020202020204"/>
                <a:ea typeface="Arimo" panose="020B0604020202020204"/>
                <a:cs typeface="Arimo" panose="020B0604020202020204"/>
                <a:sym typeface="Arimo" panose="020B0604020202020204"/>
              </a:rPr>
              <a:t>背景</a:t>
            </a:r>
            <a:endParaRPr lang="en-US" sz="4800">
              <a:solidFill>
                <a:srgbClr val="000000"/>
              </a:solidFill>
              <a:latin typeface="Arimo" panose="020B0604020202020204"/>
              <a:ea typeface="Arimo" panose="020B0604020202020204"/>
              <a:cs typeface="Arimo" panose="020B0604020202020204"/>
              <a:sym typeface="Arimo"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TextBox 5"/>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1</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6" name="TextBox 6"/>
          <p:cNvSpPr txBox="1"/>
          <p:nvPr/>
        </p:nvSpPr>
        <p:spPr>
          <a:xfrm>
            <a:off x="1143186" y="244078"/>
            <a:ext cx="3171881"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背景和动机</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grpSp>
        <p:nvGrpSpPr>
          <p:cNvPr id="7" name="Group 7"/>
          <p:cNvGrpSpPr/>
          <p:nvPr/>
        </p:nvGrpSpPr>
        <p:grpSpPr>
          <a:xfrm rot="0">
            <a:off x="4406504" y="326236"/>
            <a:ext cx="14596457" cy="492914"/>
            <a:chOff x="0" y="0"/>
            <a:chExt cx="19461943" cy="657218"/>
          </a:xfrm>
        </p:grpSpPr>
        <p:sp>
          <p:nvSpPr>
            <p:cNvPr id="8" name="Freeform 8"/>
            <p:cNvSpPr/>
            <p:nvPr/>
          </p:nvSpPr>
          <p:spPr>
            <a:xfrm>
              <a:off x="0" y="0"/>
              <a:ext cx="19461862" cy="657225"/>
            </a:xfrm>
            <a:custGeom>
              <a:avLst/>
              <a:gdLst/>
              <a:ahLst/>
              <a:cxnLst/>
              <a:rect l="l" t="t" r="r" b="b"/>
              <a:pathLst>
                <a:path w="19461862" h="657225">
                  <a:moveTo>
                    <a:pt x="0" y="328549"/>
                  </a:moveTo>
                  <a:cubicBezTo>
                    <a:pt x="0" y="147066"/>
                    <a:pt x="147066" y="0"/>
                    <a:pt x="328549" y="0"/>
                  </a:cubicBezTo>
                  <a:lnTo>
                    <a:pt x="19133313" y="0"/>
                  </a:lnTo>
                  <a:cubicBezTo>
                    <a:pt x="19314796" y="0"/>
                    <a:pt x="19461862" y="147066"/>
                    <a:pt x="19461862" y="328549"/>
                  </a:cubicBezTo>
                  <a:cubicBezTo>
                    <a:pt x="19461862" y="510032"/>
                    <a:pt x="19314796" y="657098"/>
                    <a:pt x="19133313" y="657098"/>
                  </a:cubicBezTo>
                  <a:lnTo>
                    <a:pt x="328549" y="657098"/>
                  </a:lnTo>
                  <a:cubicBezTo>
                    <a:pt x="147066" y="657225"/>
                    <a:pt x="0" y="510032"/>
                    <a:pt x="0" y="328549"/>
                  </a:cubicBezTo>
                  <a:close/>
                </a:path>
              </a:pathLst>
            </a:custGeom>
            <a:solidFill>
              <a:srgbClr val="014924"/>
            </a:solidFill>
          </p:spPr>
        </p:sp>
      </p:grpSp>
      <p:grpSp>
        <p:nvGrpSpPr>
          <p:cNvPr id="9" name="Group 9"/>
          <p:cNvGrpSpPr/>
          <p:nvPr/>
        </p:nvGrpSpPr>
        <p:grpSpPr>
          <a:xfrm rot="0">
            <a:off x="4424887" y="931548"/>
            <a:ext cx="14596459" cy="54000"/>
            <a:chOff x="0" y="0"/>
            <a:chExt cx="19461945" cy="72000"/>
          </a:xfrm>
        </p:grpSpPr>
        <p:sp>
          <p:nvSpPr>
            <p:cNvPr id="10" name="Freeform 10"/>
            <p:cNvSpPr/>
            <p:nvPr/>
          </p:nvSpPr>
          <p:spPr>
            <a:xfrm>
              <a:off x="0" y="0"/>
              <a:ext cx="19461860" cy="72009"/>
            </a:xfrm>
            <a:custGeom>
              <a:avLst/>
              <a:gdLst/>
              <a:ahLst/>
              <a:cxnLst/>
              <a:rect l="l" t="t" r="r" b="b"/>
              <a:pathLst>
                <a:path w="19461860" h="72009">
                  <a:moveTo>
                    <a:pt x="0" y="35941"/>
                  </a:moveTo>
                  <a:cubicBezTo>
                    <a:pt x="0" y="55880"/>
                    <a:pt x="16129" y="72009"/>
                    <a:pt x="35941" y="72009"/>
                  </a:cubicBezTo>
                  <a:lnTo>
                    <a:pt x="19425920" y="72009"/>
                  </a:lnTo>
                  <a:cubicBezTo>
                    <a:pt x="19445858" y="72009"/>
                    <a:pt x="19461860" y="55880"/>
                    <a:pt x="19461860" y="36068"/>
                  </a:cubicBezTo>
                  <a:cubicBezTo>
                    <a:pt x="19461860" y="16256"/>
                    <a:pt x="19445860" y="0"/>
                    <a:pt x="19425920" y="0"/>
                  </a:cubicBezTo>
                  <a:lnTo>
                    <a:pt x="35941" y="0"/>
                  </a:lnTo>
                  <a:cubicBezTo>
                    <a:pt x="16129" y="0"/>
                    <a:pt x="0" y="16129"/>
                    <a:pt x="0" y="35941"/>
                  </a:cubicBezTo>
                  <a:close/>
                </a:path>
              </a:pathLst>
            </a:custGeom>
            <a:solidFill>
              <a:srgbClr val="014924"/>
            </a:solidFill>
          </p:spPr>
        </p:sp>
      </p:grpSp>
      <p:sp>
        <p:nvSpPr>
          <p:cNvPr id="11" name="TextBox 11"/>
          <p:cNvSpPr txBox="1"/>
          <p:nvPr/>
        </p:nvSpPr>
        <p:spPr>
          <a:xfrm>
            <a:off x="4497940" y="386342"/>
            <a:ext cx="3664900" cy="343107"/>
          </a:xfrm>
          <a:prstGeom prst="rect">
            <a:avLst/>
          </a:prstGeom>
        </p:spPr>
        <p:txBody>
          <a:bodyPr lIns="0" tIns="0" rIns="0" bIns="0" rtlCol="0" anchor="t">
            <a:spAutoFit/>
          </a:bodyPr>
          <a:lstStyle/>
          <a:p>
            <a:pPr algn="ctr">
              <a:lnSpc>
                <a:spcPts val="2160"/>
              </a:lnSpc>
            </a:pPr>
            <a:r>
              <a:rPr lang="en-US" sz="1800">
                <a:solidFill>
                  <a:srgbClr val="FFFFFF"/>
                </a:solidFill>
                <a:latin typeface="Arimo" panose="020B0604020202020204"/>
                <a:ea typeface="Arimo" panose="020B0604020202020204"/>
                <a:cs typeface="Arimo" panose="020B0604020202020204"/>
                <a:sym typeface="Arimo" panose="020B0604020202020204"/>
              </a:rPr>
              <a:t>BACKGROUNDS &amp; MOTIVATION</a:t>
            </a:r>
            <a:endParaRPr lang="en-US" sz="18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2" name="Group 12"/>
          <p:cNvGrpSpPr>
            <a:grpSpLocks noChangeAspect="1"/>
          </p:cNvGrpSpPr>
          <p:nvPr/>
        </p:nvGrpSpPr>
        <p:grpSpPr>
          <a:xfrm rot="0">
            <a:off x="16100484" y="264381"/>
            <a:ext cx="1896959" cy="667167"/>
            <a:chOff x="0" y="0"/>
            <a:chExt cx="2529278" cy="889556"/>
          </a:xfrm>
        </p:grpSpPr>
        <p:sp>
          <p:nvSpPr>
            <p:cNvPr id="13" name="Freeform 13"/>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4" name="Freeform 14"/>
          <p:cNvSpPr/>
          <p:nvPr/>
        </p:nvSpPr>
        <p:spPr>
          <a:xfrm>
            <a:off x="13543749" y="931548"/>
            <a:ext cx="5113470" cy="3536783"/>
          </a:xfrm>
          <a:custGeom>
            <a:avLst/>
            <a:gdLst/>
            <a:ahLst/>
            <a:cxnLst/>
            <a:rect l="l" t="t" r="r" b="b"/>
            <a:pathLst>
              <a:path w="5113470" h="3536783">
                <a:moveTo>
                  <a:pt x="0" y="0"/>
                </a:moveTo>
                <a:lnTo>
                  <a:pt x="5113470" y="0"/>
                </a:lnTo>
                <a:lnTo>
                  <a:pt x="5113470" y="3536783"/>
                </a:lnTo>
                <a:lnTo>
                  <a:pt x="0" y="3536783"/>
                </a:lnTo>
                <a:lnTo>
                  <a:pt x="0" y="0"/>
                </a:lnTo>
                <a:close/>
              </a:path>
            </a:pathLst>
          </a:custGeom>
          <a:blipFill>
            <a:blip r:embed="rId3"/>
            <a:stretch>
              <a:fillRect l="-55456" t="-121681" r="-46343" b="-190702"/>
            </a:stretch>
          </a:blipFill>
        </p:spPr>
      </p:sp>
      <p:sp>
        <p:nvSpPr>
          <p:cNvPr id="15" name="TextBox 15"/>
          <p:cNvSpPr txBox="1"/>
          <p:nvPr/>
        </p:nvSpPr>
        <p:spPr>
          <a:xfrm>
            <a:off x="449330" y="2048974"/>
            <a:ext cx="17838670" cy="7283627"/>
          </a:xfrm>
          <a:prstGeom prst="rect">
            <a:avLst/>
          </a:prstGeom>
        </p:spPr>
        <p:txBody>
          <a:bodyPr lIns="0" tIns="0" rIns="0" bIns="0" rtlCol="0" anchor="t">
            <a:spAutoFit/>
          </a:bodyPr>
          <a:lstStyle/>
          <a:p>
            <a:pPr algn="l">
              <a:lnSpc>
                <a:spcPts val="5815"/>
              </a:lnSpc>
            </a:pPr>
            <a:r>
              <a:rPr lang="en-US" sz="2950">
                <a:solidFill>
                  <a:srgbClr val="000000"/>
                </a:solidFill>
                <a:latin typeface="Arimo" panose="020B0604020202020204"/>
                <a:ea typeface="Arimo" panose="020B0604020202020204"/>
                <a:cs typeface="Arimo" panose="020B0604020202020204"/>
                <a:sym typeface="Arimo" panose="020B0604020202020204"/>
              </a:rPr>
              <a:t>设计和实现缓存感知调度器对我们团队具有重要的学习价值和实践意义。从学习角度来看，这 项工作让我们深入理解了 Cache Recency Proffle 等缓存感知调度理论，通过实际的仿真验证和内 核实现，加深了对操作系统调度机制和现代处理器架构的理解。 从工程实践的角度来看，缓存感知调度器能够在特定应用场景下提供一定的性能提升。在高性 能计算、数据库系统等缓存敏感的应用中，合理的缓存感知调度能够减少任务迁移带来</a:t>
            </a:r>
            <a:r>
              <a:rPr lang="en-US" sz="2950">
                <a:solidFill>
                  <a:srgbClr val="000000"/>
                </a:solidFill>
                <a:latin typeface="Arimo" panose="020B0604020202020204"/>
                <a:ea typeface="Arimo" panose="020B0604020202020204"/>
                <a:cs typeface="Arimo" panose="020B0604020202020204"/>
                <a:sym typeface="Arimo" panose="020B0604020202020204"/>
              </a:rPr>
              <a:t>的性能损失。 虽然我们的实现相对简单，但大规模仿真验证显示了缓存感知调度的潜在价值。 特别值得关注的是，本项目采用的轻量化设计理念体现了工程实现中的实用性考虑。通过 10ms 热度窗口的简化策略，我们在保证基本缓存感知效果的同时，避免了过度复杂的实现，使得该调度 器能够在保证稳定性的前提下获得一定的性能改进。 此外，完整的设计和实现过程也为我们提供了宝贵的系统级开发经验。从理论学习到仿真验证， 再到内核实现，这个完整的技术路线让我们对操作系统内核开发有了更深入的认识和实践体验。</a:t>
            </a:r>
            <a:endParaRPr lang="en-US" sz="2950">
              <a:solidFill>
                <a:srgbClr val="000000"/>
              </a:solidFill>
              <a:latin typeface="Arimo" panose="020B0604020202020204"/>
              <a:ea typeface="Arimo" panose="020B0604020202020204"/>
              <a:cs typeface="Arimo" panose="020B0604020202020204"/>
              <a:sym typeface="Arimo" panose="020B0604020202020204"/>
            </a:endParaRPr>
          </a:p>
        </p:txBody>
      </p:sp>
      <p:sp>
        <p:nvSpPr>
          <p:cNvPr id="16" name="TextBox 16"/>
          <p:cNvSpPr txBox="1"/>
          <p:nvPr/>
        </p:nvSpPr>
        <p:spPr>
          <a:xfrm>
            <a:off x="-6128736" y="1229824"/>
            <a:ext cx="14543845" cy="742950"/>
          </a:xfrm>
          <a:prstGeom prst="rect">
            <a:avLst/>
          </a:prstGeom>
        </p:spPr>
        <p:txBody>
          <a:bodyPr lIns="0" tIns="0" rIns="0" bIns="0" rtlCol="0" anchor="t">
            <a:spAutoFit/>
          </a:bodyPr>
          <a:lstStyle/>
          <a:p>
            <a:pPr algn="ctr">
              <a:lnSpc>
                <a:spcPts val="5760"/>
              </a:lnSpc>
              <a:spcBef>
                <a:spcPct val="0"/>
              </a:spcBef>
            </a:pPr>
            <a:r>
              <a:rPr lang="en-US" sz="4800">
                <a:solidFill>
                  <a:srgbClr val="000000"/>
                </a:solidFill>
                <a:latin typeface="Arimo" panose="020B0604020202020204"/>
                <a:ea typeface="Arimo" panose="020B0604020202020204"/>
                <a:cs typeface="Arimo" panose="020B0604020202020204"/>
                <a:sym typeface="Arimo" panose="020B0604020202020204"/>
              </a:rPr>
              <a:t>动机</a:t>
            </a:r>
            <a:endParaRPr lang="en-US" sz="4800">
              <a:solidFill>
                <a:srgbClr val="000000"/>
              </a:solidFill>
              <a:latin typeface="Arimo" panose="020B0604020202020204"/>
              <a:ea typeface="Arimo" panose="020B0604020202020204"/>
              <a:cs typeface="Arimo" panose="020B0604020202020204"/>
              <a:sym typeface="Arimo"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9481764" y="4029974"/>
            <a:ext cx="8806236" cy="2313674"/>
            <a:chOff x="0" y="0"/>
            <a:chExt cx="11741648" cy="3084898"/>
          </a:xfrm>
        </p:grpSpPr>
        <p:sp>
          <p:nvSpPr>
            <p:cNvPr id="4" name="Freeform 4"/>
            <p:cNvSpPr/>
            <p:nvPr/>
          </p:nvSpPr>
          <p:spPr>
            <a:xfrm>
              <a:off x="0" y="0"/>
              <a:ext cx="11741658" cy="3084957"/>
            </a:xfrm>
            <a:custGeom>
              <a:avLst/>
              <a:gdLst/>
              <a:ahLst/>
              <a:cxnLst/>
              <a:rect l="l" t="t" r="r" b="b"/>
              <a:pathLst>
                <a:path w="11741658" h="3084957">
                  <a:moveTo>
                    <a:pt x="0" y="0"/>
                  </a:moveTo>
                  <a:lnTo>
                    <a:pt x="11741658" y="0"/>
                  </a:lnTo>
                  <a:lnTo>
                    <a:pt x="11741658" y="3084957"/>
                  </a:lnTo>
                  <a:lnTo>
                    <a:pt x="0" y="3084957"/>
                  </a:lnTo>
                  <a:lnTo>
                    <a:pt x="0" y="0"/>
                  </a:lnTo>
                  <a:close/>
                </a:path>
              </a:pathLst>
            </a:custGeom>
            <a:blipFill>
              <a:blip r:embed="rId2"/>
              <a:stretch>
                <a:fillRect t="-74003" r="-17268" b="-160884"/>
              </a:stretch>
            </a:blipFill>
          </p:spPr>
        </p:sp>
      </p:grpSp>
      <p:grpSp>
        <p:nvGrpSpPr>
          <p:cNvPr id="5" name="Group 5"/>
          <p:cNvGrpSpPr/>
          <p:nvPr/>
        </p:nvGrpSpPr>
        <p:grpSpPr>
          <a:xfrm rot="0">
            <a:off x="4286250" y="4029075"/>
            <a:ext cx="14001750" cy="2314573"/>
            <a:chOff x="0" y="0"/>
            <a:chExt cx="18669000" cy="3086098"/>
          </a:xfrm>
        </p:grpSpPr>
        <p:sp>
          <p:nvSpPr>
            <p:cNvPr id="6" name="Freeform 6"/>
            <p:cNvSpPr/>
            <p:nvPr/>
          </p:nvSpPr>
          <p:spPr>
            <a:xfrm>
              <a:off x="0" y="0"/>
              <a:ext cx="18669000" cy="3086100"/>
            </a:xfrm>
            <a:custGeom>
              <a:avLst/>
              <a:gdLst/>
              <a:ahLst/>
              <a:cxnLst/>
              <a:rect l="l" t="t" r="r" b="b"/>
              <a:pathLst>
                <a:path w="18669000" h="3086100">
                  <a:moveTo>
                    <a:pt x="0" y="0"/>
                  </a:moveTo>
                  <a:lnTo>
                    <a:pt x="18669000" y="0"/>
                  </a:lnTo>
                  <a:lnTo>
                    <a:pt x="18669000" y="3086100"/>
                  </a:lnTo>
                  <a:lnTo>
                    <a:pt x="0" y="3086100"/>
                  </a:lnTo>
                  <a:close/>
                </a:path>
              </a:pathLst>
            </a:custGeom>
            <a:gradFill rotWithShape="1">
              <a:gsLst>
                <a:gs pos="0">
                  <a:srgbClr val="014924">
                    <a:alpha val="100000"/>
                  </a:srgbClr>
                </a:gs>
                <a:gs pos="35000">
                  <a:srgbClr val="014924">
                    <a:alpha val="100000"/>
                  </a:srgbClr>
                </a:gs>
                <a:gs pos="59000">
                  <a:srgbClr val="014924">
                    <a:alpha val="95000"/>
                  </a:srgbClr>
                </a:gs>
                <a:gs pos="77000">
                  <a:srgbClr val="014924">
                    <a:alpha val="70000"/>
                  </a:srgbClr>
                </a:gs>
                <a:gs pos="100000">
                  <a:srgbClr val="014924">
                    <a:alpha val="60000"/>
                  </a:srgbClr>
                </a:gs>
              </a:gsLst>
              <a:lin ang="0"/>
            </a:gradFill>
          </p:spPr>
        </p:sp>
      </p:grpSp>
      <p:grpSp>
        <p:nvGrpSpPr>
          <p:cNvPr id="7" name="Group 7"/>
          <p:cNvGrpSpPr/>
          <p:nvPr/>
        </p:nvGrpSpPr>
        <p:grpSpPr>
          <a:xfrm rot="0">
            <a:off x="1685925" y="4029075"/>
            <a:ext cx="2314575" cy="2314575"/>
            <a:chOff x="0" y="0"/>
            <a:chExt cx="3086100" cy="3086100"/>
          </a:xfrm>
        </p:grpSpPr>
        <p:sp>
          <p:nvSpPr>
            <p:cNvPr id="8" name="Freeform 8"/>
            <p:cNvSpPr/>
            <p:nvPr/>
          </p:nvSpPr>
          <p:spPr>
            <a:xfrm>
              <a:off x="0" y="0"/>
              <a:ext cx="3086100" cy="3086100"/>
            </a:xfrm>
            <a:custGeom>
              <a:avLst/>
              <a:gdLst/>
              <a:ahLst/>
              <a:cxnLst/>
              <a:rect l="l" t="t" r="r" b="b"/>
              <a:pathLst>
                <a:path w="3086100" h="3086100">
                  <a:moveTo>
                    <a:pt x="0" y="0"/>
                  </a:moveTo>
                  <a:lnTo>
                    <a:pt x="3086100" y="0"/>
                  </a:lnTo>
                  <a:lnTo>
                    <a:pt x="3086100" y="3086100"/>
                  </a:lnTo>
                  <a:lnTo>
                    <a:pt x="0" y="3086100"/>
                  </a:lnTo>
                  <a:close/>
                </a:path>
              </a:pathLst>
            </a:custGeom>
            <a:solidFill>
              <a:srgbClr val="549E39"/>
            </a:solidFill>
          </p:spPr>
        </p:sp>
      </p:grpSp>
      <p:sp>
        <p:nvSpPr>
          <p:cNvPr id="9" name="TextBox 9"/>
          <p:cNvSpPr txBox="1"/>
          <p:nvPr/>
        </p:nvSpPr>
        <p:spPr>
          <a:xfrm>
            <a:off x="2202368" y="4353461"/>
            <a:ext cx="1281690" cy="1616393"/>
          </a:xfrm>
          <a:prstGeom prst="rect">
            <a:avLst/>
          </a:prstGeom>
        </p:spPr>
        <p:txBody>
          <a:bodyPr lIns="0" tIns="0" rIns="0" bIns="0" rtlCol="0" anchor="t">
            <a:spAutoFit/>
          </a:bodyPr>
          <a:lstStyle/>
          <a:p>
            <a:pPr algn="ctr">
              <a:lnSpc>
                <a:spcPts val="11880"/>
              </a:lnSpc>
            </a:pPr>
            <a:r>
              <a:rPr lang="en-US" sz="9900" b="1">
                <a:solidFill>
                  <a:srgbClr val="FFFFFF"/>
                </a:solidFill>
                <a:latin typeface="Arimo Bold" panose="020B0704020202020204"/>
                <a:ea typeface="Arimo Bold" panose="020B0704020202020204"/>
                <a:cs typeface="Arimo Bold" panose="020B0704020202020204"/>
                <a:sym typeface="Arimo Bold" panose="020B0704020202020204"/>
              </a:rPr>
              <a:t>2</a:t>
            </a:r>
            <a:endParaRPr lang="en-US" sz="99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0" name="TextBox 10"/>
          <p:cNvSpPr txBox="1"/>
          <p:nvPr/>
        </p:nvSpPr>
        <p:spPr>
          <a:xfrm>
            <a:off x="4713472" y="4414451"/>
            <a:ext cx="3787433" cy="1183629"/>
          </a:xfrm>
          <a:prstGeom prst="rect">
            <a:avLst/>
          </a:prstGeom>
        </p:spPr>
        <p:txBody>
          <a:bodyPr lIns="0" tIns="0" rIns="0" bIns="0" rtlCol="0" anchor="t">
            <a:spAutoFit/>
          </a:bodyPr>
          <a:lstStyle/>
          <a:p>
            <a:pPr algn="l">
              <a:lnSpc>
                <a:spcPts val="8640"/>
              </a:lnSpc>
            </a:pPr>
            <a:r>
              <a:rPr lang="en-US" sz="7200">
                <a:solidFill>
                  <a:srgbClr val="FFFFFF"/>
                </a:solidFill>
                <a:latin typeface="Arimo" panose="020B0604020202020204"/>
                <a:ea typeface="Arimo" panose="020B0604020202020204"/>
                <a:cs typeface="Arimo" panose="020B0604020202020204"/>
                <a:sym typeface="Arimo" panose="020B0604020202020204"/>
              </a:rPr>
              <a:t>项目介绍</a:t>
            </a:r>
            <a:endParaRPr lang="en-US" sz="72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1" name="Group 11"/>
          <p:cNvGrpSpPr>
            <a:grpSpLocks noChangeAspect="1"/>
          </p:cNvGrpSpPr>
          <p:nvPr/>
        </p:nvGrpSpPr>
        <p:grpSpPr>
          <a:xfrm rot="0">
            <a:off x="14723000" y="203883"/>
            <a:ext cx="3565001" cy="1101770"/>
            <a:chOff x="0" y="0"/>
            <a:chExt cx="4753334" cy="1469026"/>
          </a:xfrm>
        </p:grpSpPr>
        <p:sp>
          <p:nvSpPr>
            <p:cNvPr id="12" name="Freeform 12"/>
            <p:cNvSpPr/>
            <p:nvPr/>
          </p:nvSpPr>
          <p:spPr>
            <a:xfrm>
              <a:off x="0" y="0"/>
              <a:ext cx="4753356" cy="1469009"/>
            </a:xfrm>
            <a:custGeom>
              <a:avLst/>
              <a:gdLst/>
              <a:ahLst/>
              <a:cxnLst/>
              <a:rect l="l" t="t" r="r" b="b"/>
              <a:pathLst>
                <a:path w="4753356" h="1469009">
                  <a:moveTo>
                    <a:pt x="0" y="0"/>
                  </a:moveTo>
                  <a:lnTo>
                    <a:pt x="4753356" y="0"/>
                  </a:lnTo>
                  <a:lnTo>
                    <a:pt x="4753356" y="1469009"/>
                  </a:lnTo>
                  <a:lnTo>
                    <a:pt x="0" y="1469009"/>
                  </a:lnTo>
                  <a:lnTo>
                    <a:pt x="0" y="0"/>
                  </a:lnTo>
                  <a:close/>
                </a:path>
              </a:pathLst>
            </a:custGeom>
            <a:blipFill>
              <a:blip r:embed="rId3"/>
              <a:stretch>
                <a:fillRect t="-34825" b="-13078"/>
              </a:stretch>
            </a:blipFill>
          </p:spPr>
        </p:sp>
      </p:grpSp>
      <p:sp>
        <p:nvSpPr>
          <p:cNvPr id="13" name="TextBox 13"/>
          <p:cNvSpPr txBox="1"/>
          <p:nvPr/>
        </p:nvSpPr>
        <p:spPr>
          <a:xfrm>
            <a:off x="2402664" y="5653832"/>
            <a:ext cx="8962686" cy="480060"/>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PROJECT INTRODUCTION</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4" name="Group 14"/>
          <p:cNvGrpSpPr>
            <a:grpSpLocks noChangeAspect="1"/>
          </p:cNvGrpSpPr>
          <p:nvPr/>
        </p:nvGrpSpPr>
        <p:grpSpPr>
          <a:xfrm rot="0">
            <a:off x="11051896" y="372126"/>
            <a:ext cx="3466641" cy="765282"/>
            <a:chOff x="0" y="0"/>
            <a:chExt cx="4622188" cy="1020376"/>
          </a:xfrm>
        </p:grpSpPr>
        <p:sp>
          <p:nvSpPr>
            <p:cNvPr id="15" name="Freeform 15"/>
            <p:cNvSpPr/>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
              <a:stretch>
                <a:fillRect b="-5"/>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TextBox 5"/>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2</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6" name="TextBox 6"/>
          <p:cNvSpPr txBox="1"/>
          <p:nvPr/>
        </p:nvSpPr>
        <p:spPr>
          <a:xfrm>
            <a:off x="1143186" y="244078"/>
            <a:ext cx="2556328"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项目介绍</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grpSp>
        <p:nvGrpSpPr>
          <p:cNvPr id="7" name="Group 7"/>
          <p:cNvGrpSpPr/>
          <p:nvPr/>
        </p:nvGrpSpPr>
        <p:grpSpPr>
          <a:xfrm rot="0">
            <a:off x="3876596" y="326236"/>
            <a:ext cx="15125700" cy="492914"/>
            <a:chOff x="0" y="0"/>
            <a:chExt cx="20167600" cy="657218"/>
          </a:xfrm>
        </p:grpSpPr>
        <p:sp>
          <p:nvSpPr>
            <p:cNvPr id="8" name="Freeform 8"/>
            <p:cNvSpPr/>
            <p:nvPr/>
          </p:nvSpPr>
          <p:spPr>
            <a:xfrm>
              <a:off x="0" y="0"/>
              <a:ext cx="20167600" cy="657225"/>
            </a:xfrm>
            <a:custGeom>
              <a:avLst/>
              <a:gdLst/>
              <a:ahLst/>
              <a:cxnLst/>
              <a:rect l="l" t="t" r="r" b="b"/>
              <a:pathLst>
                <a:path w="20167600" h="657225">
                  <a:moveTo>
                    <a:pt x="0" y="328549"/>
                  </a:moveTo>
                  <a:cubicBezTo>
                    <a:pt x="0" y="147066"/>
                    <a:pt x="147066" y="0"/>
                    <a:pt x="328549" y="0"/>
                  </a:cubicBezTo>
                  <a:lnTo>
                    <a:pt x="19839051" y="0"/>
                  </a:lnTo>
                  <a:cubicBezTo>
                    <a:pt x="20020535" y="0"/>
                    <a:pt x="20167600" y="147066"/>
                    <a:pt x="20167600" y="328549"/>
                  </a:cubicBezTo>
                  <a:cubicBezTo>
                    <a:pt x="20167600" y="510032"/>
                    <a:pt x="20020535" y="657098"/>
                    <a:pt x="19839051" y="657098"/>
                  </a:cubicBezTo>
                  <a:lnTo>
                    <a:pt x="328549" y="657098"/>
                  </a:lnTo>
                  <a:cubicBezTo>
                    <a:pt x="147066" y="657225"/>
                    <a:pt x="0" y="510032"/>
                    <a:pt x="0" y="328549"/>
                  </a:cubicBezTo>
                  <a:close/>
                </a:path>
              </a:pathLst>
            </a:custGeom>
            <a:solidFill>
              <a:srgbClr val="014924"/>
            </a:solidFill>
          </p:spPr>
        </p:sp>
      </p:grpSp>
      <p:grpSp>
        <p:nvGrpSpPr>
          <p:cNvPr id="9" name="Group 9"/>
          <p:cNvGrpSpPr/>
          <p:nvPr/>
        </p:nvGrpSpPr>
        <p:grpSpPr>
          <a:xfrm rot="0">
            <a:off x="3895646" y="931548"/>
            <a:ext cx="15125700" cy="54000"/>
            <a:chOff x="0" y="0"/>
            <a:chExt cx="20167600" cy="72000"/>
          </a:xfrm>
        </p:grpSpPr>
        <p:sp>
          <p:nvSpPr>
            <p:cNvPr id="10" name="Freeform 10"/>
            <p:cNvSpPr/>
            <p:nvPr/>
          </p:nvSpPr>
          <p:spPr>
            <a:xfrm>
              <a:off x="0" y="0"/>
              <a:ext cx="20167600" cy="72009"/>
            </a:xfrm>
            <a:custGeom>
              <a:avLst/>
              <a:gdLst/>
              <a:ahLst/>
              <a:cxnLst/>
              <a:rect l="l" t="t" r="r" b="b"/>
              <a:pathLst>
                <a:path w="20167600" h="72009">
                  <a:moveTo>
                    <a:pt x="0" y="35941"/>
                  </a:moveTo>
                  <a:cubicBezTo>
                    <a:pt x="0" y="55880"/>
                    <a:pt x="16129" y="72009"/>
                    <a:pt x="35941" y="72009"/>
                  </a:cubicBezTo>
                  <a:lnTo>
                    <a:pt x="20131660" y="72009"/>
                  </a:lnTo>
                  <a:cubicBezTo>
                    <a:pt x="20151598" y="72009"/>
                    <a:pt x="20167600" y="55880"/>
                    <a:pt x="20167600" y="36068"/>
                  </a:cubicBezTo>
                  <a:cubicBezTo>
                    <a:pt x="20167600" y="16256"/>
                    <a:pt x="20151471" y="0"/>
                    <a:pt x="20131660" y="0"/>
                  </a:cubicBezTo>
                  <a:lnTo>
                    <a:pt x="35941" y="0"/>
                  </a:lnTo>
                  <a:cubicBezTo>
                    <a:pt x="16129" y="0"/>
                    <a:pt x="0" y="16129"/>
                    <a:pt x="0" y="35941"/>
                  </a:cubicBezTo>
                  <a:close/>
                </a:path>
              </a:pathLst>
            </a:custGeom>
            <a:solidFill>
              <a:srgbClr val="014924"/>
            </a:solidFill>
          </p:spPr>
        </p:sp>
      </p:grpSp>
      <p:sp>
        <p:nvSpPr>
          <p:cNvPr id="11" name="TextBox 11"/>
          <p:cNvSpPr txBox="1"/>
          <p:nvPr/>
        </p:nvSpPr>
        <p:spPr>
          <a:xfrm>
            <a:off x="3968032" y="367292"/>
            <a:ext cx="2944415" cy="343107"/>
          </a:xfrm>
          <a:prstGeom prst="rect">
            <a:avLst/>
          </a:prstGeom>
        </p:spPr>
        <p:txBody>
          <a:bodyPr lIns="0" tIns="0" rIns="0" bIns="0" rtlCol="0" anchor="t">
            <a:spAutoFit/>
          </a:bodyPr>
          <a:lstStyle/>
          <a:p>
            <a:pPr algn="ctr">
              <a:lnSpc>
                <a:spcPts val="2160"/>
              </a:lnSpc>
            </a:pPr>
            <a:r>
              <a:rPr lang="en-US" sz="1800">
                <a:solidFill>
                  <a:srgbClr val="FFFFFF"/>
                </a:solidFill>
                <a:latin typeface="Arimo" panose="020B0604020202020204"/>
                <a:ea typeface="Arimo" panose="020B0604020202020204"/>
                <a:cs typeface="Arimo" panose="020B0604020202020204"/>
                <a:sym typeface="Arimo" panose="020B0604020202020204"/>
              </a:rPr>
              <a:t>PROJECT INTRODUCTION</a:t>
            </a:r>
            <a:endParaRPr lang="en-US" sz="18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2" name="Group 12"/>
          <p:cNvGrpSpPr>
            <a:grpSpLocks noChangeAspect="1"/>
          </p:cNvGrpSpPr>
          <p:nvPr/>
        </p:nvGrpSpPr>
        <p:grpSpPr>
          <a:xfrm rot="0">
            <a:off x="16100484" y="264381"/>
            <a:ext cx="1896959" cy="667167"/>
            <a:chOff x="0" y="0"/>
            <a:chExt cx="2529278" cy="889556"/>
          </a:xfrm>
        </p:grpSpPr>
        <p:sp>
          <p:nvSpPr>
            <p:cNvPr id="13" name="Freeform 13"/>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4" name="TextBox 14"/>
          <p:cNvSpPr txBox="1"/>
          <p:nvPr/>
        </p:nvSpPr>
        <p:spPr>
          <a:xfrm>
            <a:off x="496389" y="1320278"/>
            <a:ext cx="17295221" cy="3014980"/>
          </a:xfrm>
          <a:prstGeom prst="rect">
            <a:avLst/>
          </a:prstGeom>
        </p:spPr>
        <p:txBody>
          <a:bodyPr lIns="0" tIns="0" rIns="0" bIns="0" rtlCol="0" anchor="t">
            <a:spAutoFit/>
          </a:bodyPr>
          <a:lstStyle/>
          <a:p>
            <a:pPr algn="l">
              <a:lnSpc>
                <a:spcPct val="100000"/>
              </a:lnSpc>
            </a:pPr>
            <a:r>
              <a:rPr lang="en-US" sz="3265">
                <a:solidFill>
                  <a:srgbClr val="000000"/>
                </a:solidFill>
                <a:latin typeface="Calibri (MS)" panose="020F0502020204030204"/>
                <a:ea typeface="Calibri (MS)" panose="020F0502020204030204"/>
                <a:cs typeface="Calibri (MS)" panose="020F0502020204030204"/>
                <a:sym typeface="Calibri (MS)" panose="020F0502020204030204"/>
              </a:rPr>
              <a:t>本项 目基于缓存感知调度理论，设计 </a:t>
            </a:r>
            <a:r>
              <a:rPr lang="en-US" sz="3265">
                <a:solidFill>
                  <a:srgbClr val="000000"/>
                </a:solidFill>
                <a:latin typeface="Calibri (MS)" panose="020F0502020204030204"/>
                <a:ea typeface="Calibri (MS)" panose="020F0502020204030204"/>
                <a:cs typeface="Calibri (MS)" panose="020F0502020204030204"/>
                <a:sym typeface="Calibri (MS)" panose="020F0502020204030204"/>
              </a:rPr>
              <a:t>Yat-CASched 调度器。首先开发基于 Java 的仿真平台验证 Cache Recency Proffle (CRP) 理论的有效性。考虑初赛时间限制，内核实现采用简化策略：基于 10ms 热 度窗口，优先将任务分配给其上次运行的 CPU 核心，减少跨核迁移；超时后允许负载均衡。</a:t>
            </a:r>
            <a:endParaRPr lang="en-US" sz="3265">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3915"/>
              </a:lnSpc>
            </a:pPr>
          </a:p>
          <a:p>
            <a:pPr algn="l">
              <a:lnSpc>
                <a:spcPts val="3915"/>
              </a:lnSpc>
            </a:pPr>
          </a:p>
        </p:txBody>
      </p:sp>
      <p:sp>
        <p:nvSpPr>
          <p:cNvPr id="17" name="文本框 16"/>
          <p:cNvSpPr txBox="1"/>
          <p:nvPr/>
        </p:nvSpPr>
        <p:spPr>
          <a:xfrm>
            <a:off x="609600" y="3619500"/>
            <a:ext cx="7397115" cy="6626225"/>
          </a:xfrm>
          <a:prstGeom prst="rect">
            <a:avLst/>
          </a:prstGeom>
          <a:noFill/>
        </p:spPr>
        <p:txBody>
          <a:bodyPr wrap="square" rtlCol="0">
            <a:spAutoFit/>
          </a:bodyPr>
          <a:p>
            <a:r>
              <a:rPr lang="en-US" sz="3265">
                <a:solidFill>
                  <a:srgbClr val="000000"/>
                </a:solidFill>
                <a:latin typeface="Calibri (MS)" panose="020F0502020204030204"/>
                <a:ea typeface="Calibri (MS)" panose="020F0502020204030204"/>
                <a:cs typeface="Calibri (MS)" panose="020F0502020204030204"/>
                <a:sym typeface="Calibri (MS)" panose="020F0502020204030204"/>
              </a:rPr>
              <a:t>该方 案优势：</a:t>
            </a:r>
            <a:endParaRPr lang="en-US" sz="3265">
              <a:solidFill>
                <a:srgbClr val="000000"/>
              </a:solidFill>
              <a:latin typeface="Calibri (MS)" panose="020F0502020204030204"/>
              <a:ea typeface="Calibri (MS)" panose="020F0502020204030204"/>
              <a:cs typeface="Calibri (MS)" panose="020F0502020204030204"/>
              <a:sym typeface="Calibri (MS)" panose="020F0502020204030204"/>
            </a:endParaRPr>
          </a:p>
          <a:p>
            <a:r>
              <a:rPr lang="en-US" sz="3265">
                <a:solidFill>
                  <a:srgbClr val="000000"/>
                </a:solidFill>
                <a:latin typeface="Calibri (MS)" panose="020F0502020204030204"/>
                <a:ea typeface="Calibri (MS)" panose="020F0502020204030204"/>
                <a:cs typeface="Calibri (MS)" panose="020F0502020204030204"/>
                <a:sym typeface="Calibri (MS)" panose="020F0502020204030204"/>
              </a:rPr>
              <a:t>(1) 轻量化设计，降低调度开销；</a:t>
            </a:r>
            <a:endParaRPr lang="en-US" sz="3265">
              <a:solidFill>
                <a:srgbClr val="000000"/>
              </a:solidFill>
              <a:latin typeface="Calibri (MS)" panose="020F0502020204030204"/>
              <a:ea typeface="Calibri (MS)" panose="020F0502020204030204"/>
              <a:cs typeface="Calibri (MS)" panose="020F0502020204030204"/>
              <a:sym typeface="Calibri (MS)" panose="020F0502020204030204"/>
            </a:endParaRPr>
          </a:p>
          <a:p>
            <a:r>
              <a:rPr lang="en-US" sz="3265">
                <a:solidFill>
                  <a:srgbClr val="000000"/>
                </a:solidFill>
                <a:latin typeface="Calibri (MS)" panose="020F0502020204030204"/>
                <a:ea typeface="Calibri (MS)" panose="020F0502020204030204"/>
                <a:cs typeface="Calibri (MS)" panose="020F0502020204030204"/>
                <a:sym typeface="Calibri (MS)" panose="020F0502020204030204"/>
              </a:rPr>
              <a:t>(2) 减少任务迁移，降低调度延迟；</a:t>
            </a:r>
            <a:endParaRPr lang="en-US" sz="3265">
              <a:solidFill>
                <a:srgbClr val="000000"/>
              </a:solidFill>
              <a:latin typeface="Calibri (MS)" panose="020F0502020204030204"/>
              <a:ea typeface="Calibri (MS)" panose="020F0502020204030204"/>
              <a:cs typeface="Calibri (MS)" panose="020F0502020204030204"/>
              <a:sym typeface="Calibri (MS)" panose="020F0502020204030204"/>
            </a:endParaRPr>
          </a:p>
          <a:p>
            <a:r>
              <a:rPr lang="en-US" sz="3265">
                <a:solidFill>
                  <a:srgbClr val="000000"/>
                </a:solidFill>
                <a:latin typeface="Calibri (MS)" panose="020F0502020204030204"/>
                <a:ea typeface="Calibri (MS)" panose="020F0502020204030204"/>
                <a:cs typeface="Calibri (MS)" panose="020F0502020204030204"/>
                <a:sym typeface="Calibri (MS)" panose="020F0502020204030204"/>
              </a:rPr>
              <a:t>(3) 改善缓存利用率， 提升执行效率。项目采用” 理论学习 →Java 仿真验证 → 简化算法设计 → 内核实现” 技术路线，成 功将 SCHED_YAT_CASCHED 策略集成到 Linux 6.8 内核。测试表明，相比 CFS 能有效减少跨 核迁移，提升缓存利用率，符合赛题” 轻量化” 和” 低延迟” 要求。本项目验证了通过缓存优化解决 调度器臃肿问题的可行性，为后续关键进程调度优化奠定基础。</a:t>
            </a:r>
            <a:endParaRPr lang="en-US" sz="3265">
              <a:solidFill>
                <a:srgbClr val="000000"/>
              </a:solidFill>
              <a:latin typeface="Calibri (MS)" panose="020F0502020204030204"/>
              <a:ea typeface="Calibri (MS)" panose="020F0502020204030204"/>
              <a:cs typeface="Calibri (MS)" panose="020F0502020204030204"/>
            </a:endParaRPr>
          </a:p>
        </p:txBody>
      </p:sp>
      <p:sp>
        <p:nvSpPr>
          <p:cNvPr id="18" name="Freeform 9"/>
          <p:cNvSpPr/>
          <p:nvPr/>
        </p:nvSpPr>
        <p:spPr>
          <a:xfrm>
            <a:off x="8838902" y="3848100"/>
            <a:ext cx="7941284" cy="5689339"/>
          </a:xfrm>
          <a:custGeom>
            <a:avLst/>
            <a:gdLst/>
            <a:ahLst/>
            <a:cxnLst/>
            <a:rect l="l" t="t" r="r" b="b"/>
            <a:pathLst>
              <a:path w="7941284" h="5689339">
                <a:moveTo>
                  <a:pt x="0" y="0"/>
                </a:moveTo>
                <a:lnTo>
                  <a:pt x="7941284" y="0"/>
                </a:lnTo>
                <a:lnTo>
                  <a:pt x="7941284" y="5689339"/>
                </a:lnTo>
                <a:lnTo>
                  <a:pt x="0" y="5689339"/>
                </a:lnTo>
                <a:lnTo>
                  <a:pt x="0" y="0"/>
                </a:lnTo>
                <a:close/>
              </a:path>
            </a:pathLst>
          </a:custGeom>
          <a:blipFill>
            <a:blip r:embed="rId3"/>
            <a:stretch>
              <a:fillRect b="-1196"/>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TextBox 5"/>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2</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6" name="TextBox 6"/>
          <p:cNvSpPr txBox="1"/>
          <p:nvPr/>
        </p:nvSpPr>
        <p:spPr>
          <a:xfrm>
            <a:off x="1143186" y="244078"/>
            <a:ext cx="2556328"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项目介绍</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grpSp>
        <p:nvGrpSpPr>
          <p:cNvPr id="7" name="Group 7"/>
          <p:cNvGrpSpPr/>
          <p:nvPr/>
        </p:nvGrpSpPr>
        <p:grpSpPr>
          <a:xfrm rot="0">
            <a:off x="3876596" y="326236"/>
            <a:ext cx="15125700" cy="492914"/>
            <a:chOff x="0" y="0"/>
            <a:chExt cx="20167600" cy="657218"/>
          </a:xfrm>
        </p:grpSpPr>
        <p:sp>
          <p:nvSpPr>
            <p:cNvPr id="8" name="Freeform 8"/>
            <p:cNvSpPr/>
            <p:nvPr/>
          </p:nvSpPr>
          <p:spPr>
            <a:xfrm>
              <a:off x="0" y="0"/>
              <a:ext cx="20167600" cy="657225"/>
            </a:xfrm>
            <a:custGeom>
              <a:avLst/>
              <a:gdLst/>
              <a:ahLst/>
              <a:cxnLst/>
              <a:rect l="l" t="t" r="r" b="b"/>
              <a:pathLst>
                <a:path w="20167600" h="657225">
                  <a:moveTo>
                    <a:pt x="0" y="328549"/>
                  </a:moveTo>
                  <a:cubicBezTo>
                    <a:pt x="0" y="147066"/>
                    <a:pt x="147066" y="0"/>
                    <a:pt x="328549" y="0"/>
                  </a:cubicBezTo>
                  <a:lnTo>
                    <a:pt x="19839051" y="0"/>
                  </a:lnTo>
                  <a:cubicBezTo>
                    <a:pt x="20020535" y="0"/>
                    <a:pt x="20167600" y="147066"/>
                    <a:pt x="20167600" y="328549"/>
                  </a:cubicBezTo>
                  <a:cubicBezTo>
                    <a:pt x="20167600" y="510032"/>
                    <a:pt x="20020535" y="657098"/>
                    <a:pt x="19839051" y="657098"/>
                  </a:cubicBezTo>
                  <a:lnTo>
                    <a:pt x="328549" y="657098"/>
                  </a:lnTo>
                  <a:cubicBezTo>
                    <a:pt x="147066" y="657225"/>
                    <a:pt x="0" y="510032"/>
                    <a:pt x="0" y="328549"/>
                  </a:cubicBezTo>
                  <a:close/>
                </a:path>
              </a:pathLst>
            </a:custGeom>
            <a:solidFill>
              <a:srgbClr val="014924"/>
            </a:solidFill>
          </p:spPr>
        </p:sp>
      </p:grpSp>
      <p:grpSp>
        <p:nvGrpSpPr>
          <p:cNvPr id="9" name="Group 9"/>
          <p:cNvGrpSpPr/>
          <p:nvPr/>
        </p:nvGrpSpPr>
        <p:grpSpPr>
          <a:xfrm rot="0">
            <a:off x="3895646" y="931548"/>
            <a:ext cx="15125700" cy="54000"/>
            <a:chOff x="0" y="0"/>
            <a:chExt cx="20167600" cy="72000"/>
          </a:xfrm>
        </p:grpSpPr>
        <p:sp>
          <p:nvSpPr>
            <p:cNvPr id="10" name="Freeform 10"/>
            <p:cNvSpPr/>
            <p:nvPr/>
          </p:nvSpPr>
          <p:spPr>
            <a:xfrm>
              <a:off x="0" y="0"/>
              <a:ext cx="20167600" cy="72009"/>
            </a:xfrm>
            <a:custGeom>
              <a:avLst/>
              <a:gdLst/>
              <a:ahLst/>
              <a:cxnLst/>
              <a:rect l="l" t="t" r="r" b="b"/>
              <a:pathLst>
                <a:path w="20167600" h="72009">
                  <a:moveTo>
                    <a:pt x="0" y="35941"/>
                  </a:moveTo>
                  <a:cubicBezTo>
                    <a:pt x="0" y="55880"/>
                    <a:pt x="16129" y="72009"/>
                    <a:pt x="35941" y="72009"/>
                  </a:cubicBezTo>
                  <a:lnTo>
                    <a:pt x="20131660" y="72009"/>
                  </a:lnTo>
                  <a:cubicBezTo>
                    <a:pt x="20151598" y="72009"/>
                    <a:pt x="20167600" y="55880"/>
                    <a:pt x="20167600" y="36068"/>
                  </a:cubicBezTo>
                  <a:cubicBezTo>
                    <a:pt x="20167600" y="16256"/>
                    <a:pt x="20151471" y="0"/>
                    <a:pt x="20131660" y="0"/>
                  </a:cubicBezTo>
                  <a:lnTo>
                    <a:pt x="35941" y="0"/>
                  </a:lnTo>
                  <a:cubicBezTo>
                    <a:pt x="16129" y="0"/>
                    <a:pt x="0" y="16129"/>
                    <a:pt x="0" y="35941"/>
                  </a:cubicBezTo>
                  <a:close/>
                </a:path>
              </a:pathLst>
            </a:custGeom>
            <a:solidFill>
              <a:srgbClr val="014924"/>
            </a:solidFill>
          </p:spPr>
        </p:sp>
      </p:grpSp>
      <p:sp>
        <p:nvSpPr>
          <p:cNvPr id="11" name="TextBox 11"/>
          <p:cNvSpPr txBox="1"/>
          <p:nvPr/>
        </p:nvSpPr>
        <p:spPr>
          <a:xfrm>
            <a:off x="3968032" y="367292"/>
            <a:ext cx="2944415" cy="343107"/>
          </a:xfrm>
          <a:prstGeom prst="rect">
            <a:avLst/>
          </a:prstGeom>
        </p:spPr>
        <p:txBody>
          <a:bodyPr lIns="0" tIns="0" rIns="0" bIns="0" rtlCol="0" anchor="t">
            <a:spAutoFit/>
          </a:bodyPr>
          <a:lstStyle/>
          <a:p>
            <a:pPr algn="ctr">
              <a:lnSpc>
                <a:spcPts val="2160"/>
              </a:lnSpc>
            </a:pPr>
            <a:r>
              <a:rPr lang="en-US" sz="1800">
                <a:solidFill>
                  <a:srgbClr val="FFFFFF"/>
                </a:solidFill>
                <a:latin typeface="Arimo" panose="020B0604020202020204"/>
                <a:ea typeface="Arimo" panose="020B0604020202020204"/>
                <a:cs typeface="Arimo" panose="020B0604020202020204"/>
                <a:sym typeface="Arimo" panose="020B0604020202020204"/>
              </a:rPr>
              <a:t>PROJECT INTRODUCTION</a:t>
            </a:r>
            <a:endParaRPr lang="en-US" sz="18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2" name="Group 12"/>
          <p:cNvGrpSpPr>
            <a:grpSpLocks noChangeAspect="1"/>
          </p:cNvGrpSpPr>
          <p:nvPr/>
        </p:nvGrpSpPr>
        <p:grpSpPr>
          <a:xfrm rot="0">
            <a:off x="16100484" y="264381"/>
            <a:ext cx="1896959" cy="667167"/>
            <a:chOff x="0" y="0"/>
            <a:chExt cx="2529278" cy="889556"/>
          </a:xfrm>
        </p:grpSpPr>
        <p:sp>
          <p:nvSpPr>
            <p:cNvPr id="13" name="Freeform 13"/>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aphicFrame>
        <p:nvGraphicFramePr>
          <p:cNvPr id="14" name="Table 14"/>
          <p:cNvGraphicFramePr>
            <a:graphicFrameLocks noGrp="1"/>
          </p:cNvGraphicFramePr>
          <p:nvPr>
            <p:custDataLst>
              <p:tags r:id="rId3"/>
            </p:custDataLst>
          </p:nvPr>
        </p:nvGraphicFramePr>
        <p:xfrm>
          <a:off x="676275" y="2687587"/>
          <a:ext cx="16935450" cy="6840428"/>
        </p:xfrm>
        <a:graphic>
          <a:graphicData uri="http://schemas.openxmlformats.org/drawingml/2006/table">
            <a:tbl>
              <a:tblPr/>
              <a:tblGrid>
                <a:gridCol w="9405806"/>
                <a:gridCol w="7529644"/>
              </a:tblGrid>
              <a:tr h="1434014">
                <a:tc>
                  <a:txBody>
                    <a:bodyPr rtlCol="0"/>
                    <a:lstStyle/>
                    <a:p>
                      <a:pPr algn="ctr">
                        <a:lnSpc>
                          <a:spcPts val="2880"/>
                        </a:lnSpc>
                        <a:defRPr/>
                      </a:pPr>
                      <a:r>
                        <a:rPr lang="en-US" sz="2400" b="1">
                          <a:solidFill>
                            <a:srgbClr val="FFFFFF"/>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预期目标</a:t>
                      </a:r>
                      <a:endParaRPr lang="en-US" sz="11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49E39"/>
                    </a:solidFill>
                  </a:tcPr>
                </a:tc>
                <a:tc>
                  <a:txBody>
                    <a:bodyPr rtlCol="0"/>
                    <a:lstStyle/>
                    <a:p>
                      <a:pPr algn="ctr">
                        <a:lnSpc>
                          <a:spcPts val="2880"/>
                        </a:lnSpc>
                        <a:defRPr/>
                      </a:pPr>
                      <a:r>
                        <a:rPr lang="en-US" sz="24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完成情况</a:t>
                      </a:r>
                      <a:endParaRPr lang="en-US" sz="11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49E39"/>
                    </a:solidFill>
                  </a:tcPr>
                </a:tc>
              </a:tr>
              <a:tr h="1780568">
                <a:tc>
                  <a:txBody>
                    <a:bodyPr rtlCol="0"/>
                    <a:lstStyle/>
                    <a:p>
                      <a:pPr algn="l">
                        <a:lnSpc>
                          <a:spcPts val="3360"/>
                        </a:lnSpc>
                        <a:defRPr/>
                      </a:pPr>
                      <a:r>
                        <a:rPr lang="en-US" sz="2800">
                          <a:solidFill>
                            <a:srgbClr val="000000"/>
                          </a:solidFill>
                          <a:latin typeface="Calibri (MS)" panose="020F0502020204030204"/>
                          <a:ea typeface="Calibri (MS)" panose="020F0502020204030204"/>
                          <a:cs typeface="Calibri (MS)" panose="020F0502020204030204"/>
                          <a:sym typeface="Calibri (MS)" panose="020F0502020204030204"/>
                        </a:rPr>
                        <a:t>目标 1：设计并实现轻量化的缓存感知调度器</a:t>
                      </a:r>
                      <a:endParaRPr lang="en-US" sz="2800">
                        <a:solidFill>
                          <a:srgbClr val="000000"/>
                        </a:solidFill>
                        <a:latin typeface="Calibri (MS)" panose="020F0502020204030204"/>
                        <a:ea typeface="Calibri (MS)" panose="020F0502020204030204"/>
                        <a:cs typeface="Calibri (MS)" panose="020F0502020204030204"/>
                        <a:sym typeface="Calibri (MS)" panose="020F0502020204030204"/>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c>
                  <a:txBody>
                    <a:bodyPr rtlCol="0"/>
                    <a:lstStyle/>
                    <a:p>
                      <a:pPr algn="l">
                        <a:lnSpc>
                          <a:spcPts val="3360"/>
                        </a:lnSpc>
                        <a:defRPr/>
                      </a:pPr>
                      <a:r>
                        <a:rPr lang="en-US" sz="2800" b="1">
                          <a:solidFill>
                            <a:srgbClr val="000000"/>
                          </a:solidFill>
                          <a:latin typeface="Calibri (MS) Bold" panose="020F0702030404030204"/>
                          <a:ea typeface="Calibri (MS) Bold" panose="020F0702030404030204"/>
                          <a:cs typeface="Calibri (MS) Bold" panose="020F0702030404030204"/>
                          <a:sym typeface="Calibri (MS) Bold" panose="020F0702030404030204"/>
                        </a:rPr>
                        <a:t>已完成。</a:t>
                      </a:r>
                      <a:r>
                        <a:rPr lang="en-US" sz="2800">
                          <a:solidFill>
                            <a:srgbClr val="000000"/>
                          </a:solidFill>
                          <a:latin typeface="Calibri (MS)" panose="020F0502020204030204"/>
                          <a:ea typeface="Calibri (MS)" panose="020F0502020204030204"/>
                          <a:cs typeface="Calibri (MS)" panose="020F0502020204030204"/>
                          <a:sym typeface="Calibri (MS)" panose="020F0502020204030204"/>
                        </a:rPr>
                        <a:t>我们设计并实现了一个</a:t>
                      </a:r>
                      <a:r>
                        <a:rPr lang="en-US" sz="2800" b="1">
                          <a:solidFill>
                            <a:srgbClr val="000000"/>
                          </a:solidFill>
                          <a:latin typeface="Calibri (MS) Bold" panose="020F0702030404030204"/>
                          <a:ea typeface="Calibri (MS) Bold" panose="020F0702030404030204"/>
                          <a:cs typeface="Calibri (MS) Bold" panose="020F0702030404030204"/>
                          <a:sym typeface="Calibri (MS) Bold" panose="020F0702030404030204"/>
                        </a:rPr>
                        <a:t>针对实时系统</a:t>
                      </a:r>
                      <a:r>
                        <a:rPr lang="zh-CN" altLang="en-US" sz="2800" b="1">
                          <a:solidFill>
                            <a:srgbClr val="000000"/>
                          </a:solidFill>
                          <a:latin typeface="Calibri (MS) Bold" panose="020F0702030404030204"/>
                          <a:ea typeface="Calibri (MS) Bold" panose="020F0702030404030204"/>
                          <a:cs typeface="Calibri (MS) Bold" panose="020F0702030404030204"/>
                          <a:sym typeface="Calibri (MS) Bold" panose="020F0702030404030204"/>
                        </a:rPr>
                        <a:t>基于缓存感知策略</a:t>
                      </a:r>
                      <a:r>
                        <a:rPr lang="en-US" sz="2800">
                          <a:solidFill>
                            <a:srgbClr val="000000"/>
                          </a:solidFill>
                          <a:latin typeface="Calibri (MS)" panose="020F0502020204030204"/>
                          <a:ea typeface="Calibri (MS)" panose="020F0502020204030204"/>
                          <a:cs typeface="Calibri (MS)" panose="020F0502020204030204"/>
                          <a:sym typeface="Calibri (MS)" panose="020F0502020204030204"/>
                        </a:rPr>
                        <a:t>的调度器，</a:t>
                      </a:r>
                      <a:r>
                        <a:rPr lang="zh-CN" altLang="en-US" sz="2800">
                          <a:solidFill>
                            <a:srgbClr val="000000"/>
                          </a:solidFill>
                          <a:latin typeface="Calibri (MS)" panose="020F0502020204030204"/>
                          <a:ea typeface="Calibri (MS)" panose="020F0502020204030204"/>
                          <a:cs typeface="Calibri (MS)" panose="020F0502020204030204"/>
                          <a:sym typeface="Calibri (MS)" panose="020F0502020204030204"/>
                        </a:rPr>
                        <a:t>将其写入</a:t>
                      </a:r>
                      <a:r>
                        <a:rPr lang="en-US" altLang="zh-CN" sz="2800">
                          <a:solidFill>
                            <a:srgbClr val="000000"/>
                          </a:solidFill>
                          <a:latin typeface="Calibri (MS)" panose="020F0502020204030204"/>
                          <a:ea typeface="Calibri (MS)" panose="020F0502020204030204"/>
                          <a:cs typeface="Calibri (MS)" panose="020F0502020204030204"/>
                          <a:sym typeface="Calibri (MS)" panose="020F0502020204030204"/>
                        </a:rPr>
                        <a:t>Linux5.8</a:t>
                      </a:r>
                      <a:r>
                        <a:rPr lang="zh-CN" altLang="en-US" sz="2800">
                          <a:solidFill>
                            <a:srgbClr val="000000"/>
                          </a:solidFill>
                          <a:latin typeface="Calibri (MS)" panose="020F0502020204030204"/>
                          <a:ea typeface="Calibri (MS)" panose="020F0502020204030204"/>
                          <a:cs typeface="Calibri (MS)" panose="020F0502020204030204"/>
                          <a:sym typeface="Calibri (MS)" panose="020F0502020204030204"/>
                        </a:rPr>
                        <a:t>内核中</a:t>
                      </a:r>
                      <a:r>
                        <a:rPr lang="en-US" sz="2800">
                          <a:solidFill>
                            <a:srgbClr val="000000"/>
                          </a:solidFill>
                          <a:latin typeface="Calibri (MS)" panose="020F0502020204030204"/>
                          <a:ea typeface="Calibri (MS)" panose="020F0502020204030204"/>
                          <a:cs typeface="Calibri (MS)" panose="020F0502020204030204"/>
                          <a:sym typeface="Calibri (MS)" panose="020F0502020204030204"/>
                        </a:rPr>
                        <a:t>。</a:t>
                      </a:r>
                      <a:endParaRPr lang="en-US" sz="11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r>
              <a:tr h="1756668">
                <a:tc>
                  <a:txBody>
                    <a:bodyPr rtlCol="0"/>
                    <a:lstStyle/>
                    <a:p>
                      <a:pPr algn="l">
                        <a:lnSpc>
                          <a:spcPts val="3360"/>
                        </a:lnSpc>
                        <a:defRPr/>
                      </a:pPr>
                      <a:r>
                        <a:rPr lang="en-US" sz="2800">
                          <a:solidFill>
                            <a:srgbClr val="000000"/>
                          </a:solidFill>
                          <a:latin typeface="Calibri (MS)" panose="020F0502020204030204"/>
                          <a:ea typeface="Calibri (MS)" panose="020F0502020204030204"/>
                          <a:cs typeface="Calibri (MS)" panose="020F0502020204030204"/>
                          <a:sym typeface="Calibri (MS)" panose="020F0502020204030204"/>
                        </a:rPr>
                        <a:t>目标 2：验证调度器在多种场景下的性能优势</a:t>
                      </a:r>
                      <a:endParaRPr lang="en-US" sz="2800">
                        <a:solidFill>
                          <a:srgbClr val="000000"/>
                        </a:solidFill>
                        <a:latin typeface="Calibri (MS)" panose="020F0502020204030204"/>
                        <a:ea typeface="Calibri (MS)" panose="020F0502020204030204"/>
                        <a:cs typeface="Calibri (MS)" panose="020F0502020204030204"/>
                        <a:sym typeface="Calibri (MS)" panose="020F0502020204030204"/>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8"/>
                    </a:solidFill>
                  </a:tcPr>
                </a:tc>
                <a:tc>
                  <a:txBody>
                    <a:bodyPr rtlCol="0"/>
                    <a:lstStyle/>
                    <a:p>
                      <a:pPr algn="l">
                        <a:lnSpc>
                          <a:spcPts val="3360"/>
                        </a:lnSpc>
                        <a:defRPr/>
                      </a:pPr>
                      <a:r>
                        <a:rPr lang="en-US" sz="2800" b="1">
                          <a:solidFill>
                            <a:srgbClr val="000000"/>
                          </a:solidFill>
                          <a:latin typeface="Calibri (MS) Bold" panose="020F0702030404030204"/>
                          <a:ea typeface="Calibri (MS) Bold" panose="020F0702030404030204"/>
                          <a:cs typeface="Calibri (MS) Bold" panose="020F0702030404030204"/>
                          <a:sym typeface="Calibri (MS) Bold" panose="020F0702030404030204"/>
                        </a:rPr>
                        <a:t>已完成。</a:t>
                      </a:r>
                      <a:r>
                        <a:rPr lang="en-US" sz="2800">
                          <a:solidFill>
                            <a:srgbClr val="000000"/>
                          </a:solidFill>
                          <a:latin typeface="Calibri (MS)" panose="020F0502020204030204"/>
                          <a:ea typeface="Calibri (MS)" panose="020F0502020204030204"/>
                          <a:cs typeface="Calibri (MS)" panose="020F0502020204030204"/>
                          <a:sym typeface="Calibri (MS)" panose="020F0502020204030204"/>
                        </a:rPr>
                        <a:t>通过大规模仿真验证，我们已经获得了令人鼓舞的性能改进数据。</a:t>
                      </a:r>
                      <a:endParaRPr lang="en-US" sz="2800">
                        <a:solidFill>
                          <a:srgbClr val="000000"/>
                        </a:solidFill>
                        <a:latin typeface="Calibri (MS)" panose="020F0502020204030204"/>
                        <a:ea typeface="Calibri (MS)" panose="020F0502020204030204"/>
                        <a:cs typeface="Calibri (MS)" panose="020F0502020204030204"/>
                        <a:sym typeface="Calibri (MS)" panose="020F0502020204030204"/>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8"/>
                    </a:solidFill>
                  </a:tcPr>
                </a:tc>
              </a:tr>
              <a:tr h="1869178">
                <a:tc>
                  <a:txBody>
                    <a:bodyPr rtlCol="0"/>
                    <a:lstStyle/>
                    <a:p>
                      <a:pPr algn="l">
                        <a:lnSpc>
                          <a:spcPts val="3360"/>
                        </a:lnSpc>
                        <a:defRPr/>
                      </a:pPr>
                      <a:r>
                        <a:rPr lang="en-US" sz="2800">
                          <a:solidFill>
                            <a:srgbClr val="000000"/>
                          </a:solidFill>
                          <a:latin typeface="Calibri (MS)" panose="020F0502020204030204"/>
                          <a:ea typeface="Calibri (MS)" panose="020F0502020204030204"/>
                          <a:cs typeface="Calibri (MS)" panose="020F0502020204030204"/>
                          <a:sym typeface="Calibri (MS)" panose="020F0502020204030204"/>
                        </a:rPr>
                        <a:t>目标 3：提供完整的技术方案和实现指南</a:t>
                      </a:r>
                      <a:endParaRPr lang="en-US" sz="2800">
                        <a:solidFill>
                          <a:srgbClr val="000000"/>
                        </a:solidFill>
                        <a:latin typeface="Calibri (MS)" panose="020F0502020204030204"/>
                        <a:ea typeface="Calibri (MS)" panose="020F0502020204030204"/>
                        <a:cs typeface="Calibri (MS)" panose="020F0502020204030204"/>
                        <a:sym typeface="Calibri (MS)" panose="020F0502020204030204"/>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c>
                  <a:txBody>
                    <a:bodyPr rtlCol="0"/>
                    <a:lstStyle/>
                    <a:p>
                      <a:pPr algn="l">
                        <a:lnSpc>
                          <a:spcPts val="3360"/>
                        </a:lnSpc>
                        <a:defRPr/>
                      </a:pPr>
                      <a:r>
                        <a:rPr lang="en-US" sz="2800" b="1">
                          <a:solidFill>
                            <a:srgbClr val="000000"/>
                          </a:solidFill>
                          <a:latin typeface="Calibri (MS) Bold" panose="020F0702030404030204"/>
                          <a:ea typeface="Calibri (MS) Bold" panose="020F0702030404030204"/>
                          <a:cs typeface="Calibri (MS) Bold" panose="020F0702030404030204"/>
                          <a:sym typeface="思源宋体 Bold" panose="02020700000000000000" charset="-122"/>
                        </a:rPr>
                        <a:t>已完成</a:t>
                      </a:r>
                      <a:r>
                        <a:rPr lang="en-US" sz="2800"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a:t>
                      </a:r>
                      <a:r>
                        <a:rPr lang="en-US" sz="28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详见我们项目的最终报告。</a:t>
                      </a:r>
                      <a:endParaRPr lang="en-US" sz="11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r>
            </a:tbl>
          </a:graphicData>
        </a:graphic>
      </p:graphicFrame>
      <p:sp>
        <p:nvSpPr>
          <p:cNvPr id="15" name="TextBox 15"/>
          <p:cNvSpPr txBox="1"/>
          <p:nvPr/>
        </p:nvSpPr>
        <p:spPr>
          <a:xfrm>
            <a:off x="1143000" y="1805305"/>
            <a:ext cx="4145915" cy="662305"/>
          </a:xfrm>
          <a:prstGeom prst="rect">
            <a:avLst/>
          </a:prstGeom>
        </p:spPr>
        <p:txBody>
          <a:bodyPr wrap="square" lIns="0" tIns="0" rIns="0" bIns="0" rtlCol="0" anchor="t">
            <a:spAutoFit/>
          </a:bodyPr>
          <a:lstStyle/>
          <a:p>
            <a:pPr algn="ctr">
              <a:lnSpc>
                <a:spcPts val="5165"/>
              </a:lnSpc>
              <a:spcBef>
                <a:spcPct val="0"/>
              </a:spcBef>
            </a:pPr>
            <a:r>
              <a:rPr lang="en-US" sz="4305">
                <a:solidFill>
                  <a:srgbClr val="000000"/>
                </a:solidFill>
                <a:latin typeface="Arimo" panose="020B0604020202020204"/>
                <a:ea typeface="Arimo" panose="020B0604020202020204"/>
                <a:cs typeface="Arimo" panose="020B0604020202020204"/>
                <a:sym typeface="Arimo" panose="020B0604020202020204"/>
              </a:rPr>
              <a:t>三个赛题</a:t>
            </a:r>
            <a:r>
              <a:rPr lang="zh-CN" altLang="en-US" sz="4305">
                <a:solidFill>
                  <a:srgbClr val="000000"/>
                </a:solidFill>
                <a:latin typeface="Arimo" panose="020B0604020202020204"/>
                <a:ea typeface="Arimo" panose="020B0604020202020204"/>
                <a:cs typeface="Arimo" panose="020B0604020202020204"/>
                <a:sym typeface="Arimo" panose="020B0604020202020204"/>
              </a:rPr>
              <a:t>目</a:t>
            </a:r>
            <a:r>
              <a:rPr lang="en-US" sz="4305">
                <a:solidFill>
                  <a:srgbClr val="000000"/>
                </a:solidFill>
                <a:latin typeface="Arimo" panose="020B0604020202020204"/>
                <a:ea typeface="Arimo" panose="020B0604020202020204"/>
                <a:cs typeface="Arimo" panose="020B0604020202020204"/>
                <a:sym typeface="Arimo" panose="020B0604020202020204"/>
              </a:rPr>
              <a:t>标</a:t>
            </a:r>
            <a:endParaRPr lang="en-US" sz="4305">
              <a:solidFill>
                <a:srgbClr val="000000"/>
              </a:solidFill>
              <a:latin typeface="Arimo" panose="020B0604020202020204"/>
              <a:ea typeface="Arimo" panose="020B0604020202020204"/>
              <a:cs typeface="Arimo" panose="020B0604020202020204"/>
              <a:sym typeface="Arimo"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TextBox 5"/>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2</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6" name="TextBox 6"/>
          <p:cNvSpPr txBox="1"/>
          <p:nvPr/>
        </p:nvSpPr>
        <p:spPr>
          <a:xfrm>
            <a:off x="1143186" y="244078"/>
            <a:ext cx="2556328"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项目介绍</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grpSp>
        <p:nvGrpSpPr>
          <p:cNvPr id="7" name="Group 7"/>
          <p:cNvGrpSpPr/>
          <p:nvPr/>
        </p:nvGrpSpPr>
        <p:grpSpPr>
          <a:xfrm rot="0">
            <a:off x="3876596" y="326236"/>
            <a:ext cx="15125700" cy="492914"/>
            <a:chOff x="0" y="0"/>
            <a:chExt cx="20167600" cy="657218"/>
          </a:xfrm>
        </p:grpSpPr>
        <p:sp>
          <p:nvSpPr>
            <p:cNvPr id="8" name="Freeform 8"/>
            <p:cNvSpPr/>
            <p:nvPr/>
          </p:nvSpPr>
          <p:spPr>
            <a:xfrm>
              <a:off x="0" y="0"/>
              <a:ext cx="20167600" cy="657225"/>
            </a:xfrm>
            <a:custGeom>
              <a:avLst/>
              <a:gdLst/>
              <a:ahLst/>
              <a:cxnLst/>
              <a:rect l="l" t="t" r="r" b="b"/>
              <a:pathLst>
                <a:path w="20167600" h="657225">
                  <a:moveTo>
                    <a:pt x="0" y="328549"/>
                  </a:moveTo>
                  <a:cubicBezTo>
                    <a:pt x="0" y="147066"/>
                    <a:pt x="147066" y="0"/>
                    <a:pt x="328549" y="0"/>
                  </a:cubicBezTo>
                  <a:lnTo>
                    <a:pt x="19839051" y="0"/>
                  </a:lnTo>
                  <a:cubicBezTo>
                    <a:pt x="20020535" y="0"/>
                    <a:pt x="20167600" y="147066"/>
                    <a:pt x="20167600" y="328549"/>
                  </a:cubicBezTo>
                  <a:cubicBezTo>
                    <a:pt x="20167600" y="510032"/>
                    <a:pt x="20020535" y="657098"/>
                    <a:pt x="19839051" y="657098"/>
                  </a:cubicBezTo>
                  <a:lnTo>
                    <a:pt x="328549" y="657098"/>
                  </a:lnTo>
                  <a:cubicBezTo>
                    <a:pt x="147066" y="657225"/>
                    <a:pt x="0" y="510032"/>
                    <a:pt x="0" y="328549"/>
                  </a:cubicBezTo>
                  <a:close/>
                </a:path>
              </a:pathLst>
            </a:custGeom>
            <a:solidFill>
              <a:srgbClr val="014924"/>
            </a:solidFill>
          </p:spPr>
        </p:sp>
      </p:grpSp>
      <p:grpSp>
        <p:nvGrpSpPr>
          <p:cNvPr id="9" name="Group 9"/>
          <p:cNvGrpSpPr/>
          <p:nvPr/>
        </p:nvGrpSpPr>
        <p:grpSpPr>
          <a:xfrm rot="0">
            <a:off x="3895646" y="931548"/>
            <a:ext cx="15125700" cy="54000"/>
            <a:chOff x="0" y="0"/>
            <a:chExt cx="20167600" cy="72000"/>
          </a:xfrm>
        </p:grpSpPr>
        <p:sp>
          <p:nvSpPr>
            <p:cNvPr id="10" name="Freeform 10"/>
            <p:cNvSpPr/>
            <p:nvPr/>
          </p:nvSpPr>
          <p:spPr>
            <a:xfrm>
              <a:off x="0" y="0"/>
              <a:ext cx="20167600" cy="72009"/>
            </a:xfrm>
            <a:custGeom>
              <a:avLst/>
              <a:gdLst/>
              <a:ahLst/>
              <a:cxnLst/>
              <a:rect l="l" t="t" r="r" b="b"/>
              <a:pathLst>
                <a:path w="20167600" h="72009">
                  <a:moveTo>
                    <a:pt x="0" y="35941"/>
                  </a:moveTo>
                  <a:cubicBezTo>
                    <a:pt x="0" y="55880"/>
                    <a:pt x="16129" y="72009"/>
                    <a:pt x="35941" y="72009"/>
                  </a:cubicBezTo>
                  <a:lnTo>
                    <a:pt x="20131660" y="72009"/>
                  </a:lnTo>
                  <a:cubicBezTo>
                    <a:pt x="20151598" y="72009"/>
                    <a:pt x="20167600" y="55880"/>
                    <a:pt x="20167600" y="36068"/>
                  </a:cubicBezTo>
                  <a:cubicBezTo>
                    <a:pt x="20167600" y="16256"/>
                    <a:pt x="20151471" y="0"/>
                    <a:pt x="20131660" y="0"/>
                  </a:cubicBezTo>
                  <a:lnTo>
                    <a:pt x="35941" y="0"/>
                  </a:lnTo>
                  <a:cubicBezTo>
                    <a:pt x="16129" y="0"/>
                    <a:pt x="0" y="16129"/>
                    <a:pt x="0" y="35941"/>
                  </a:cubicBezTo>
                  <a:close/>
                </a:path>
              </a:pathLst>
            </a:custGeom>
            <a:solidFill>
              <a:srgbClr val="014924"/>
            </a:solidFill>
          </p:spPr>
        </p:sp>
      </p:grpSp>
      <p:sp>
        <p:nvSpPr>
          <p:cNvPr id="11" name="TextBox 11"/>
          <p:cNvSpPr txBox="1"/>
          <p:nvPr/>
        </p:nvSpPr>
        <p:spPr>
          <a:xfrm>
            <a:off x="3968032" y="367292"/>
            <a:ext cx="2944415" cy="343107"/>
          </a:xfrm>
          <a:prstGeom prst="rect">
            <a:avLst/>
          </a:prstGeom>
        </p:spPr>
        <p:txBody>
          <a:bodyPr lIns="0" tIns="0" rIns="0" bIns="0" rtlCol="0" anchor="t">
            <a:spAutoFit/>
          </a:bodyPr>
          <a:lstStyle/>
          <a:p>
            <a:pPr algn="ctr">
              <a:lnSpc>
                <a:spcPts val="2160"/>
              </a:lnSpc>
            </a:pPr>
            <a:r>
              <a:rPr lang="en-US" sz="1800">
                <a:solidFill>
                  <a:srgbClr val="FFFFFF"/>
                </a:solidFill>
                <a:latin typeface="Arimo" panose="020B0604020202020204"/>
                <a:ea typeface="Arimo" panose="020B0604020202020204"/>
                <a:cs typeface="Arimo" panose="020B0604020202020204"/>
                <a:sym typeface="Arimo" panose="020B0604020202020204"/>
              </a:rPr>
              <a:t>PROJECT INTRODUCTION</a:t>
            </a:r>
            <a:endParaRPr lang="en-US" sz="18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2" name="Group 12"/>
          <p:cNvGrpSpPr>
            <a:grpSpLocks noChangeAspect="1"/>
          </p:cNvGrpSpPr>
          <p:nvPr/>
        </p:nvGrpSpPr>
        <p:grpSpPr>
          <a:xfrm rot="0">
            <a:off x="16100484" y="264381"/>
            <a:ext cx="1896959" cy="667167"/>
            <a:chOff x="0" y="0"/>
            <a:chExt cx="2529278" cy="889556"/>
          </a:xfrm>
        </p:grpSpPr>
        <p:sp>
          <p:nvSpPr>
            <p:cNvPr id="13" name="Freeform 13"/>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4" name="TextBox 14"/>
          <p:cNvSpPr txBox="1"/>
          <p:nvPr/>
        </p:nvSpPr>
        <p:spPr>
          <a:xfrm>
            <a:off x="966105" y="1463478"/>
            <a:ext cx="12498977" cy="415290"/>
          </a:xfrm>
          <a:prstGeom prst="rect">
            <a:avLst/>
          </a:prstGeom>
        </p:spPr>
        <p:txBody>
          <a:bodyPr lIns="0" tIns="0" rIns="0" bIns="0" rtlCol="0" anchor="t">
            <a:spAutoFit/>
          </a:bodyPr>
          <a:lstStyle/>
          <a:p>
            <a:pPr marL="542925" lvl="1" indent="-271145" algn="l">
              <a:lnSpc>
                <a:spcPts val="3240"/>
              </a:lnSpc>
              <a:buFont typeface="Arial" panose="020B0604020202020204"/>
              <a:buChar char="•"/>
            </a:pPr>
            <a:r>
              <a:rPr lang="zh-CN" altLang="en-US" sz="30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当前工作</a:t>
            </a:r>
            <a:r>
              <a:rPr lang="zh-CN" altLang="en-US" sz="30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状态</a:t>
            </a:r>
            <a:endParaRPr lang="zh-CN" altLang="en-US" sz="30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p:txBody>
      </p:sp>
      <p:graphicFrame>
        <p:nvGraphicFramePr>
          <p:cNvPr id="15" name="Table 15"/>
          <p:cNvGraphicFramePr>
            <a:graphicFrameLocks noGrp="1"/>
          </p:cNvGraphicFramePr>
          <p:nvPr>
            <p:custDataLst>
              <p:tags r:id="rId3"/>
            </p:custDataLst>
          </p:nvPr>
        </p:nvGraphicFramePr>
        <p:xfrm>
          <a:off x="189999" y="2395023"/>
          <a:ext cx="18015005" cy="6432551"/>
        </p:xfrm>
        <a:graphic>
          <a:graphicData uri="http://schemas.openxmlformats.org/drawingml/2006/table">
            <a:tbl>
              <a:tblPr/>
              <a:tblGrid>
                <a:gridCol w="9515264"/>
                <a:gridCol w="8499741"/>
              </a:tblGrid>
              <a:tr h="1297963">
                <a:tc>
                  <a:txBody>
                    <a:bodyPr rtlCol="0"/>
                    <a:lstStyle/>
                    <a:p>
                      <a:pPr algn="ctr">
                        <a:lnSpc>
                          <a:spcPts val="3360"/>
                        </a:lnSpc>
                        <a:defRPr/>
                      </a:pPr>
                      <a:r>
                        <a:rPr lang="en-US" sz="2800">
                          <a:solidFill>
                            <a:srgbClr val="FFFFFF"/>
                          </a:solidFill>
                          <a:latin typeface="思源宋体" panose="02020400000000000000" charset="-122"/>
                          <a:ea typeface="思源宋体" panose="02020400000000000000" charset="-122"/>
                          <a:cs typeface="思源宋体" panose="02020400000000000000" charset="-122"/>
                          <a:sym typeface="思源宋体" panose="02020400000000000000" charset="-122"/>
                        </a:rPr>
                        <a:t>行动项</a:t>
                      </a:r>
                      <a:endParaRPr lang="en-US" sz="11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49E39"/>
                    </a:solidFill>
                  </a:tcPr>
                </a:tc>
                <a:tc>
                  <a:txBody>
                    <a:bodyPr rtlCol="0"/>
                    <a:lstStyle/>
                    <a:p>
                      <a:pPr algn="ctr">
                        <a:lnSpc>
                          <a:spcPts val="3360"/>
                        </a:lnSpc>
                        <a:defRPr/>
                      </a:pPr>
                      <a:r>
                        <a:rPr lang="en-US" sz="28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完成情况</a:t>
                      </a:r>
                      <a:endParaRPr lang="en-US" sz="11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49E39"/>
                    </a:solidFill>
                  </a:tcPr>
                </a:tc>
              </a:tr>
              <a:tr h="1297963">
                <a:tc>
                  <a:txBody>
                    <a:bodyPr rtlCol="0"/>
                    <a:lstStyle/>
                    <a:p>
                      <a:pPr algn="l">
                        <a:lnSpc>
                          <a:spcPts val="3360"/>
                        </a:lnSpc>
                        <a:defRPr/>
                      </a:pPr>
                      <a:r>
                        <a:rPr lang="en-US" sz="2800">
                          <a:solidFill>
                            <a:srgbClr val="000000"/>
                          </a:solidFill>
                          <a:latin typeface="Calibri (MS)" panose="020F0502020204030204"/>
                          <a:ea typeface="Calibri (MS)" panose="020F0502020204030204"/>
                          <a:cs typeface="Calibri (MS)" panose="020F0502020204030204"/>
                          <a:sym typeface="Calibri (MS)" panose="020F0502020204030204"/>
                        </a:rPr>
                        <a:t>【</a:t>
                      </a:r>
                      <a:r>
                        <a:rPr lang="en-US" sz="28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核心功能</a:t>
                      </a:r>
                      <a:r>
                        <a:rPr lang="en-US" sz="2800">
                          <a:solidFill>
                            <a:srgbClr val="000000"/>
                          </a:solidFill>
                          <a:latin typeface="Calibri (MS)" panose="020F0502020204030204"/>
                          <a:ea typeface="Calibri (MS)" panose="020F0502020204030204"/>
                          <a:cs typeface="Calibri (MS)" panose="020F0502020204030204"/>
                          <a:sym typeface="Calibri (MS)" panose="020F0502020204030204"/>
                        </a:rPr>
                        <a:t>】</a:t>
                      </a:r>
                      <a:endParaRPr lang="en-US" sz="11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c>
                  <a:txBody>
                    <a:bodyPr rtlCol="0"/>
                    <a:lstStyle/>
                    <a:p>
                      <a:pPr algn="l">
                        <a:lnSpc>
                          <a:spcPts val="3360"/>
                        </a:lnSpc>
                        <a:defRPr/>
                      </a:pPr>
                      <a:r>
                        <a:rPr lang="en-US" sz="28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已完成 - 调度器核心功能已实现并验证</a:t>
                      </a:r>
                      <a:endParaRPr lang="en-US" sz="28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r>
              <a:tr h="1278875">
                <a:tc>
                  <a:txBody>
                    <a:bodyPr rtlCol="0"/>
                    <a:lstStyle/>
                    <a:p>
                      <a:pPr algn="l">
                        <a:lnSpc>
                          <a:spcPts val="3360"/>
                        </a:lnSpc>
                        <a:defRPr/>
                      </a:pPr>
                      <a:r>
                        <a:rPr lang="en-US" sz="2800">
                          <a:solidFill>
                            <a:srgbClr val="000000"/>
                          </a:solidFill>
                          <a:latin typeface="Calibri (MS)" panose="020F0502020204030204"/>
                          <a:ea typeface="Calibri (MS)" panose="020F0502020204030204"/>
                          <a:cs typeface="Calibri (MS)" panose="020F0502020204030204"/>
                          <a:sym typeface="Calibri (MS)" panose="020F0502020204030204"/>
                        </a:rPr>
                        <a:t>【性能测试】</a:t>
                      </a:r>
                      <a:endParaRPr lang="en-US" sz="11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8"/>
                    </a:solidFill>
                  </a:tcPr>
                </a:tc>
                <a:tc>
                  <a:txBody>
                    <a:bodyPr rtlCol="0"/>
                    <a:lstStyle/>
                    <a:p>
                      <a:pPr algn="l">
                        <a:lnSpc>
                          <a:spcPts val="3360"/>
                        </a:lnSpc>
                        <a:defRPr/>
                      </a:pPr>
                      <a:r>
                        <a:rPr lang="en-US" sz="28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已完成 - 大规模仿真已验证算法有效性</a:t>
                      </a:r>
                      <a:endParaRPr lang="en-US" sz="28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8"/>
                    </a:solidFill>
                  </a:tcPr>
                </a:tc>
              </a:tr>
              <a:tr h="1278875">
                <a:tc>
                  <a:txBody>
                    <a:bodyPr rtlCol="0"/>
                    <a:lstStyle/>
                    <a:p>
                      <a:pPr algn="l">
                        <a:lnSpc>
                          <a:spcPts val="3360"/>
                        </a:lnSpc>
                        <a:defRPr/>
                      </a:pPr>
                      <a:r>
                        <a:rPr lang="en-US" sz="2800">
                          <a:solidFill>
                            <a:srgbClr val="000000"/>
                          </a:solidFill>
                          <a:latin typeface="Calibri (MS)" panose="020F0502020204030204"/>
                          <a:ea typeface="Calibri (MS)" panose="020F0502020204030204"/>
                          <a:cs typeface="Calibri (MS)" panose="020F0502020204030204"/>
                          <a:sym typeface="Calibri (MS)" panose="020F0502020204030204"/>
                        </a:rPr>
                        <a:t>【文档整理】</a:t>
                      </a:r>
                      <a:endParaRPr lang="en-US" sz="11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c>
                  <a:txBody>
                    <a:bodyPr rtlCol="0"/>
                    <a:lstStyle/>
                    <a:p>
                      <a:pPr algn="l">
                        <a:lnSpc>
                          <a:spcPts val="3360"/>
                        </a:lnSpc>
                        <a:defRPr/>
                      </a:pPr>
                      <a:r>
                        <a:rPr lang="en-US" sz="2800"/>
                        <a:t>进行中 - 正在完善技术报告和用户文档</a:t>
                      </a:r>
                      <a:endParaRPr lang="en-US" sz="28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r>
              <a:tr h="1278875">
                <a:tc>
                  <a:txBody>
                    <a:bodyPr rtlCol="0"/>
                    <a:lstStyle/>
                    <a:p>
                      <a:pPr algn="l">
                        <a:lnSpc>
                          <a:spcPts val="3360"/>
                        </a:lnSpc>
                        <a:defRPr/>
                      </a:pPr>
                      <a:r>
                        <a:rPr lang="en-US" sz="28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【代码优化】</a:t>
                      </a:r>
                      <a:endParaRPr lang="en-US" sz="11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8"/>
                    </a:solidFill>
                  </a:tcPr>
                </a:tc>
                <a:tc>
                  <a:txBody>
                    <a:bodyPr rtlCol="0"/>
                    <a:lstStyle/>
                    <a:p>
                      <a:pPr algn="l">
                        <a:lnSpc>
                          <a:spcPts val="3360"/>
                        </a:lnSpc>
                        <a:defRPr/>
                      </a:pPr>
                      <a:r>
                        <a:rPr lang="en-US" sz="28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进行中 - 持续优化代码质量和注释</a:t>
                      </a:r>
                      <a:endParaRPr lang="en-US" sz="28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8"/>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TextBox 5"/>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2</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6" name="TextBox 6"/>
          <p:cNvSpPr txBox="1"/>
          <p:nvPr/>
        </p:nvSpPr>
        <p:spPr>
          <a:xfrm>
            <a:off x="1143186" y="244078"/>
            <a:ext cx="2556328"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项目介绍</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grpSp>
        <p:nvGrpSpPr>
          <p:cNvPr id="7" name="Group 7"/>
          <p:cNvGrpSpPr/>
          <p:nvPr/>
        </p:nvGrpSpPr>
        <p:grpSpPr>
          <a:xfrm rot="0">
            <a:off x="3876596" y="326236"/>
            <a:ext cx="15125700" cy="492914"/>
            <a:chOff x="0" y="0"/>
            <a:chExt cx="20167600" cy="657218"/>
          </a:xfrm>
        </p:grpSpPr>
        <p:sp>
          <p:nvSpPr>
            <p:cNvPr id="8" name="Freeform 8"/>
            <p:cNvSpPr/>
            <p:nvPr/>
          </p:nvSpPr>
          <p:spPr>
            <a:xfrm>
              <a:off x="0" y="0"/>
              <a:ext cx="20167600" cy="657225"/>
            </a:xfrm>
            <a:custGeom>
              <a:avLst/>
              <a:gdLst/>
              <a:ahLst/>
              <a:cxnLst/>
              <a:rect l="l" t="t" r="r" b="b"/>
              <a:pathLst>
                <a:path w="20167600" h="657225">
                  <a:moveTo>
                    <a:pt x="0" y="328549"/>
                  </a:moveTo>
                  <a:cubicBezTo>
                    <a:pt x="0" y="147066"/>
                    <a:pt x="147066" y="0"/>
                    <a:pt x="328549" y="0"/>
                  </a:cubicBezTo>
                  <a:lnTo>
                    <a:pt x="19839051" y="0"/>
                  </a:lnTo>
                  <a:cubicBezTo>
                    <a:pt x="20020535" y="0"/>
                    <a:pt x="20167600" y="147066"/>
                    <a:pt x="20167600" y="328549"/>
                  </a:cubicBezTo>
                  <a:cubicBezTo>
                    <a:pt x="20167600" y="510032"/>
                    <a:pt x="20020535" y="657098"/>
                    <a:pt x="19839051" y="657098"/>
                  </a:cubicBezTo>
                  <a:lnTo>
                    <a:pt x="328549" y="657098"/>
                  </a:lnTo>
                  <a:cubicBezTo>
                    <a:pt x="147066" y="657225"/>
                    <a:pt x="0" y="510032"/>
                    <a:pt x="0" y="328549"/>
                  </a:cubicBezTo>
                  <a:close/>
                </a:path>
              </a:pathLst>
            </a:custGeom>
            <a:solidFill>
              <a:srgbClr val="014924"/>
            </a:solidFill>
          </p:spPr>
        </p:sp>
      </p:grpSp>
      <p:grpSp>
        <p:nvGrpSpPr>
          <p:cNvPr id="9" name="Group 9"/>
          <p:cNvGrpSpPr/>
          <p:nvPr/>
        </p:nvGrpSpPr>
        <p:grpSpPr>
          <a:xfrm rot="0">
            <a:off x="3895646" y="931548"/>
            <a:ext cx="15125700" cy="54000"/>
            <a:chOff x="0" y="0"/>
            <a:chExt cx="20167600" cy="72000"/>
          </a:xfrm>
        </p:grpSpPr>
        <p:sp>
          <p:nvSpPr>
            <p:cNvPr id="10" name="Freeform 10"/>
            <p:cNvSpPr/>
            <p:nvPr/>
          </p:nvSpPr>
          <p:spPr>
            <a:xfrm>
              <a:off x="0" y="0"/>
              <a:ext cx="20167600" cy="72009"/>
            </a:xfrm>
            <a:custGeom>
              <a:avLst/>
              <a:gdLst/>
              <a:ahLst/>
              <a:cxnLst/>
              <a:rect l="l" t="t" r="r" b="b"/>
              <a:pathLst>
                <a:path w="20167600" h="72009">
                  <a:moveTo>
                    <a:pt x="0" y="35941"/>
                  </a:moveTo>
                  <a:cubicBezTo>
                    <a:pt x="0" y="55880"/>
                    <a:pt x="16129" y="72009"/>
                    <a:pt x="35941" y="72009"/>
                  </a:cubicBezTo>
                  <a:lnTo>
                    <a:pt x="20131660" y="72009"/>
                  </a:lnTo>
                  <a:cubicBezTo>
                    <a:pt x="20151598" y="72009"/>
                    <a:pt x="20167600" y="55880"/>
                    <a:pt x="20167600" y="36068"/>
                  </a:cubicBezTo>
                  <a:cubicBezTo>
                    <a:pt x="20167600" y="16256"/>
                    <a:pt x="20151471" y="0"/>
                    <a:pt x="20131660" y="0"/>
                  </a:cubicBezTo>
                  <a:lnTo>
                    <a:pt x="35941" y="0"/>
                  </a:lnTo>
                  <a:cubicBezTo>
                    <a:pt x="16129" y="0"/>
                    <a:pt x="0" y="16129"/>
                    <a:pt x="0" y="35941"/>
                  </a:cubicBezTo>
                  <a:close/>
                </a:path>
              </a:pathLst>
            </a:custGeom>
            <a:solidFill>
              <a:srgbClr val="014924"/>
            </a:solidFill>
          </p:spPr>
        </p:sp>
      </p:grpSp>
      <p:sp>
        <p:nvSpPr>
          <p:cNvPr id="11" name="TextBox 11"/>
          <p:cNvSpPr txBox="1"/>
          <p:nvPr/>
        </p:nvSpPr>
        <p:spPr>
          <a:xfrm>
            <a:off x="3968032" y="367292"/>
            <a:ext cx="2944415" cy="343107"/>
          </a:xfrm>
          <a:prstGeom prst="rect">
            <a:avLst/>
          </a:prstGeom>
        </p:spPr>
        <p:txBody>
          <a:bodyPr lIns="0" tIns="0" rIns="0" bIns="0" rtlCol="0" anchor="t">
            <a:spAutoFit/>
          </a:bodyPr>
          <a:lstStyle/>
          <a:p>
            <a:pPr algn="ctr">
              <a:lnSpc>
                <a:spcPts val="2160"/>
              </a:lnSpc>
            </a:pPr>
            <a:r>
              <a:rPr lang="en-US" sz="1800">
                <a:solidFill>
                  <a:srgbClr val="FFFFFF"/>
                </a:solidFill>
                <a:latin typeface="Arimo" panose="020B0604020202020204"/>
                <a:ea typeface="Arimo" panose="020B0604020202020204"/>
                <a:cs typeface="Arimo" panose="020B0604020202020204"/>
                <a:sym typeface="Arimo" panose="020B0604020202020204"/>
              </a:rPr>
              <a:t>PROJECT INTRODUCTION</a:t>
            </a:r>
            <a:endParaRPr lang="en-US" sz="18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2" name="Group 12"/>
          <p:cNvGrpSpPr>
            <a:grpSpLocks noChangeAspect="1"/>
          </p:cNvGrpSpPr>
          <p:nvPr/>
        </p:nvGrpSpPr>
        <p:grpSpPr>
          <a:xfrm rot="0">
            <a:off x="16100484" y="264381"/>
            <a:ext cx="1896959" cy="667167"/>
            <a:chOff x="0" y="0"/>
            <a:chExt cx="2529278" cy="889556"/>
          </a:xfrm>
        </p:grpSpPr>
        <p:sp>
          <p:nvSpPr>
            <p:cNvPr id="13" name="Freeform 13"/>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4" name="TextBox 14"/>
          <p:cNvSpPr txBox="1"/>
          <p:nvPr/>
        </p:nvSpPr>
        <p:spPr>
          <a:xfrm>
            <a:off x="966105" y="1473003"/>
            <a:ext cx="12498977" cy="442595"/>
          </a:xfrm>
          <a:prstGeom prst="rect">
            <a:avLst/>
          </a:prstGeom>
        </p:spPr>
        <p:txBody>
          <a:bodyPr lIns="0" tIns="0" rIns="0" bIns="0" rtlCol="0" anchor="t">
            <a:spAutoFit/>
          </a:bodyPr>
          <a:lstStyle/>
          <a:p>
            <a:pPr marL="579120" lvl="1" indent="-289560" algn="l">
              <a:lnSpc>
                <a:spcPts val="3455"/>
              </a:lnSpc>
              <a:buFont typeface="Arial" panose="020B0604020202020204"/>
              <a:buChar char="•"/>
            </a:pPr>
            <a:r>
              <a:rPr lang="en-US" sz="3200">
                <a:solidFill>
                  <a:srgbClr val="000000"/>
                </a:solidFill>
              </a:rPr>
              <a:t>初赛项目开发历程</a:t>
            </a:r>
            <a:r>
              <a:rPr lang="en-US" sz="32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a:t>
            </a:r>
            <a:endParaRPr lang="en-US" sz="32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p:txBody>
      </p:sp>
      <p:graphicFrame>
        <p:nvGraphicFramePr>
          <p:cNvPr id="15" name="Table 15"/>
          <p:cNvGraphicFramePr>
            <a:graphicFrameLocks noGrp="1"/>
          </p:cNvGraphicFramePr>
          <p:nvPr>
            <p:custDataLst>
              <p:tags r:id="rId3"/>
            </p:custDataLst>
          </p:nvPr>
        </p:nvGraphicFramePr>
        <p:xfrm>
          <a:off x="708660" y="2351405"/>
          <a:ext cx="16824960" cy="7016115"/>
        </p:xfrm>
        <a:graphic>
          <a:graphicData uri="http://schemas.openxmlformats.org/drawingml/2006/table">
            <a:tbl>
              <a:tblPr/>
              <a:tblGrid>
                <a:gridCol w="12403455"/>
                <a:gridCol w="4421505"/>
              </a:tblGrid>
              <a:tr h="1065530">
                <a:tc>
                  <a:txBody>
                    <a:bodyPr rtlCol="0"/>
                    <a:lstStyle/>
                    <a:p>
                      <a:pPr algn="ctr">
                        <a:lnSpc>
                          <a:spcPts val="3360"/>
                        </a:lnSpc>
                        <a:defRPr/>
                      </a:pPr>
                      <a:r>
                        <a:rPr lang="zh-CN" altLang="en-US" sz="2800" b="1">
                          <a:solidFill>
                            <a:srgbClr val="FF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内容</a:t>
                      </a:r>
                      <a:endParaRPr lang="zh-CN" altLang="en-US" sz="2800" b="1">
                        <a:solidFill>
                          <a:srgbClr val="FF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49E39"/>
                    </a:solidFill>
                  </a:tcPr>
                </a:tc>
                <a:tc>
                  <a:txBody>
                    <a:bodyPr rtlCol="0"/>
                    <a:lstStyle/>
                    <a:p>
                      <a:pPr algn="ctr">
                        <a:lnSpc>
                          <a:spcPts val="3360"/>
                        </a:lnSpc>
                        <a:defRPr/>
                      </a:pPr>
                      <a:r>
                        <a:rPr lang="zh-CN" altLang="en-US" sz="28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完成</a:t>
                      </a:r>
                      <a:r>
                        <a:rPr lang="zh-CN" altLang="en-US" sz="28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时间</a:t>
                      </a:r>
                      <a:endParaRPr lang="zh-CN" altLang="en-US" sz="28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49E39"/>
                    </a:solidFill>
                  </a:tcPr>
                </a:tc>
              </a:tr>
              <a:tr h="886460">
                <a:tc>
                  <a:txBody>
                    <a:bodyPr rtlCol="0"/>
                    <a:lstStyle/>
                    <a:p>
                      <a:pPr algn="l">
                        <a:lnSpc>
                          <a:spcPts val="3360"/>
                        </a:lnSpc>
                        <a:defRPr/>
                      </a:pPr>
                      <a:r>
                        <a:rPr lang="en-US" sz="2800">
                          <a:solidFill>
                            <a:srgbClr val="000000"/>
                          </a:solidFill>
                        </a:rPr>
                        <a:t>前期准备工作：组队、联系项目导师，往届参赛学长介绍参赛经验</a:t>
                      </a:r>
                      <a:endParaRPr lang="en-US" sz="2800">
                        <a:solidFill>
                          <a:srgbClr val="000000"/>
                        </a:solidFill>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c>
                  <a:txBody>
                    <a:bodyPr rtlCol="0"/>
                    <a:lstStyle/>
                    <a:p>
                      <a:pPr algn="l">
                        <a:lnSpc>
                          <a:spcPts val="3360"/>
                        </a:lnSpc>
                        <a:defRPr/>
                      </a:pPr>
                      <a:r>
                        <a:rPr lang="en-US" sz="2800"/>
                        <a:t>4.19-4.25</a:t>
                      </a:r>
                      <a:endParaRPr lang="en-US" sz="28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r>
              <a:tr h="1036320">
                <a:tc>
                  <a:txBody>
                    <a:bodyPr/>
                    <a:p>
                      <a:pPr algn="l">
                        <a:lnSpc>
                          <a:spcPts val="3360"/>
                        </a:lnSpc>
                        <a:buNone/>
                        <a:defRPr/>
                      </a:pPr>
                      <a:r>
                        <a:rPr lang="en-US" altLang="en-US" sz="2800">
                          <a:solidFill>
                            <a:srgbClr val="000000"/>
                          </a:solidFill>
                        </a:rPr>
                        <a:t>项目初步调研：可行性、实现方向、项目框架、技术栈，确定选题</a:t>
                      </a:r>
                      <a:endParaRPr lang="en-US" altLang="en-US" sz="2800">
                        <a:solidFill>
                          <a:srgbClr val="000000"/>
                        </a:solidFill>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c>
                  <a:txBody>
                    <a:bodyPr/>
                    <a:p>
                      <a:pPr algn="l">
                        <a:lnSpc>
                          <a:spcPts val="3360"/>
                        </a:lnSpc>
                        <a:buClrTx/>
                        <a:buSzTx/>
                        <a:buFontTx/>
                        <a:buNone/>
                        <a:defRPr/>
                      </a:pPr>
                      <a:r>
                        <a:rPr lang="en-US" sz="2800"/>
                        <a:t>4.26-5.2</a:t>
                      </a:r>
                      <a:endParaRPr lang="en-US" sz="2800"/>
                    </a:p>
                    <a:p>
                      <a:pPr algn="l">
                        <a:lnSpc>
                          <a:spcPts val="3360"/>
                        </a:lnSpc>
                        <a:buNone/>
                        <a:defRPr/>
                      </a:pPr>
                      <a:endParaRPr lang="en-US" altLang="en-US" sz="11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r>
              <a:tr h="1036320">
                <a:tc>
                  <a:txBody>
                    <a:bodyPr rtlCol="0"/>
                    <a:lstStyle/>
                    <a:p>
                      <a:pPr algn="l">
                        <a:lnSpc>
                          <a:spcPts val="3360"/>
                        </a:lnSpc>
                        <a:defRPr/>
                      </a:pPr>
                      <a:r>
                        <a:rPr lang="en-US" sz="2800">
                          <a:solidFill>
                            <a:srgbClr val="000000"/>
                          </a:solidFill>
                          <a:latin typeface="Calibri (MS)" panose="020F0502020204030204"/>
                          <a:ea typeface="Calibri (MS)" panose="020F0502020204030204"/>
                          <a:cs typeface="Calibri (MS)" panose="020F0502020204030204"/>
                          <a:sym typeface="Calibri (MS)" panose="020F0502020204030204"/>
                        </a:rPr>
                        <a:t>项目深度调研：复现已有项目代码、论文，初步弄懂实现逻辑，思考改进方</a:t>
                      </a:r>
                      <a:endParaRPr lang="en-US" sz="280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3360"/>
                        </a:lnSpc>
                        <a:defRPr/>
                      </a:pPr>
                      <a:r>
                        <a:rPr lang="en-US" sz="2800">
                          <a:solidFill>
                            <a:srgbClr val="000000"/>
                          </a:solidFill>
                          <a:latin typeface="Calibri (MS)" panose="020F0502020204030204"/>
                          <a:ea typeface="Calibri (MS)" panose="020F0502020204030204"/>
                          <a:cs typeface="Calibri (MS)" panose="020F0502020204030204"/>
                          <a:sym typeface="Calibri (MS)" panose="020F0502020204030204"/>
                        </a:rPr>
                        <a:t>式，深入调研 Linux 现有实时调度框架</a:t>
                      </a:r>
                      <a:endParaRPr lang="en-US" sz="2800">
                        <a:solidFill>
                          <a:srgbClr val="000000"/>
                        </a:solidFill>
                        <a:latin typeface="Calibri (MS)" panose="020F0502020204030204"/>
                        <a:ea typeface="Calibri (MS)" panose="020F0502020204030204"/>
                        <a:cs typeface="Calibri (MS)" panose="020F0502020204030204"/>
                        <a:sym typeface="Calibri (MS)" panose="020F0502020204030204"/>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8"/>
                    </a:solidFill>
                  </a:tcPr>
                </a:tc>
                <a:tc>
                  <a:txBody>
                    <a:bodyPr rtlCol="0"/>
                    <a:lstStyle/>
                    <a:p>
                      <a:pPr algn="l">
                        <a:lnSpc>
                          <a:spcPts val="3360"/>
                        </a:lnSpc>
                        <a:defRPr/>
                      </a:pPr>
                      <a:r>
                        <a:rPr lang="en-US" sz="2800"/>
                        <a:t>5.3-5.9</a:t>
                      </a:r>
                      <a:endParaRPr lang="en-US" sz="28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8"/>
                    </a:solidFill>
                  </a:tcPr>
                </a:tc>
              </a:tr>
              <a:tr h="1093470">
                <a:tc>
                  <a:txBody>
                    <a:bodyPr rtlCol="0"/>
                    <a:lstStyle/>
                    <a:p>
                      <a:pPr algn="l">
                        <a:lnSpc>
                          <a:spcPts val="3360"/>
                        </a:lnSpc>
                        <a:defRPr/>
                      </a:pPr>
                      <a:r>
                        <a:rPr lang="en-US" sz="2800">
                          <a:solidFill>
                            <a:srgbClr val="000000"/>
                          </a:solidFill>
                          <a:latin typeface="Calibri (MS)" panose="020F0502020204030204"/>
                          <a:ea typeface="Calibri (MS)" panose="020F0502020204030204"/>
                          <a:cs typeface="Calibri (MS)" panose="020F0502020204030204"/>
                          <a:sym typeface="Calibri (MS)" panose="020F0502020204030204"/>
                        </a:rPr>
                        <a:t>进行了第一次项目知识研讨，首次添加项目文件，标准化项目文档</a:t>
                      </a:r>
                      <a:endParaRPr lang="en-US" sz="2800">
                        <a:solidFill>
                          <a:srgbClr val="000000"/>
                        </a:solidFill>
                        <a:latin typeface="Calibri (MS)" panose="020F0502020204030204"/>
                        <a:ea typeface="Calibri (MS)" panose="020F0502020204030204"/>
                        <a:cs typeface="Calibri (MS)" panose="020F0502020204030204"/>
                        <a:sym typeface="Calibri (MS)" panose="020F0502020204030204"/>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c>
                  <a:txBody>
                    <a:bodyPr rtlCol="0"/>
                    <a:lstStyle/>
                    <a:p>
                      <a:pPr algn="l">
                        <a:lnSpc>
                          <a:spcPts val="3360"/>
                        </a:lnSpc>
                        <a:defRPr/>
                      </a:pPr>
                      <a:r>
                        <a:rPr lang="en-US" sz="2800"/>
                        <a:t>5.10-5.16</a:t>
                      </a:r>
                      <a:endParaRPr lang="en-US" sz="28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r>
              <a:tr h="838835">
                <a:tc>
                  <a:txBody>
                    <a:bodyPr/>
                    <a:p>
                      <a:pPr algn="l">
                        <a:lnSpc>
                          <a:spcPts val="3360"/>
                        </a:lnSpc>
                        <a:buNone/>
                        <a:defRPr/>
                      </a:pPr>
                      <a:r>
                        <a:rPr lang="en-US" altLang="en-US" sz="2800">
                          <a:solidFill>
                            <a:srgbClr val="000000"/>
                          </a:solidFill>
                          <a:latin typeface="Calibri (MS)" panose="020F0502020204030204"/>
                          <a:ea typeface="Calibri (MS)" panose="020F0502020204030204"/>
                          <a:cs typeface="Calibri (MS)" panose="020F0502020204030204"/>
                          <a:sym typeface="Calibri (MS)" panose="020F0502020204030204"/>
                        </a:rPr>
                        <a:t>初步完成代码框架设计和试编译</a:t>
                      </a:r>
                      <a:endParaRPr lang="en-US" altLang="en-US" sz="2800">
                        <a:solidFill>
                          <a:srgbClr val="000000"/>
                        </a:solidFill>
                        <a:latin typeface="Calibri (MS)" panose="020F0502020204030204"/>
                        <a:ea typeface="Calibri (MS)" panose="020F0502020204030204"/>
                        <a:cs typeface="Calibri (MS)" panose="020F0502020204030204"/>
                        <a:sym typeface="Calibri (MS)" panose="020F0502020204030204"/>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c>
                  <a:txBody>
                    <a:bodyPr/>
                    <a:p>
                      <a:pPr algn="l">
                        <a:lnSpc>
                          <a:spcPts val="3360"/>
                        </a:lnSpc>
                        <a:buNone/>
                        <a:defRPr/>
                      </a:pPr>
                      <a:r>
                        <a:rPr lang="en-US" altLang="en-US" sz="2800"/>
                        <a:t>5.17-5.23</a:t>
                      </a:r>
                      <a:endParaRPr lang="en-US" altLang="en-US" sz="28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r>
              <a:tr h="1059180">
                <a:tc>
                  <a:txBody>
                    <a:bodyPr/>
                    <a:p>
                      <a:pPr algn="l">
                        <a:lnSpc>
                          <a:spcPts val="3360"/>
                        </a:lnSpc>
                        <a:buNone/>
                        <a:defRPr/>
                      </a:pPr>
                      <a:r>
                        <a:rPr lang="en-US" altLang="en-US" sz="2800">
                          <a:solidFill>
                            <a:srgbClr val="000000"/>
                          </a:solidFill>
                          <a:latin typeface="Calibri (MS)" panose="020F0502020204030204"/>
                          <a:ea typeface="Calibri (MS)" panose="020F0502020204030204"/>
                          <a:cs typeface="Calibri (MS)" panose="020F0502020204030204"/>
                          <a:sym typeface="Calibri (MS)" panose="020F0502020204030204"/>
                        </a:rPr>
                        <a:t>仓库建设，初赛资料准备，撰写初赛文档</a:t>
                      </a:r>
                      <a:r>
                        <a:rPr lang="zh-CN" altLang="en-US" sz="2800">
                          <a:solidFill>
                            <a:srgbClr val="000000"/>
                          </a:solidFill>
                          <a:latin typeface="Calibri (MS)" panose="020F0502020204030204"/>
                          <a:ea typeface="宋体" panose="02010600030101010101" pitchFamily="2" charset="-122"/>
                          <a:cs typeface="Calibri (MS)" panose="020F0502020204030204"/>
                          <a:sym typeface="Calibri (MS)" panose="020F0502020204030204"/>
                        </a:rPr>
                        <a:t>，及</a:t>
                      </a:r>
                      <a:r>
                        <a:rPr lang="en-US" altLang="zh-CN" sz="2800">
                          <a:solidFill>
                            <a:srgbClr val="000000"/>
                          </a:solidFill>
                          <a:latin typeface="Calibri (MS)" panose="020F0502020204030204"/>
                          <a:ea typeface="宋体" panose="02010600030101010101" pitchFamily="2" charset="-122"/>
                          <a:cs typeface="Calibri (MS)" panose="020F0502020204030204"/>
                          <a:sym typeface="Calibri (MS)" panose="020F0502020204030204"/>
                        </a:rPr>
                        <a:t>PPT</a:t>
                      </a:r>
                      <a:r>
                        <a:rPr lang="zh-CN" altLang="en-US" sz="2800">
                          <a:solidFill>
                            <a:srgbClr val="000000"/>
                          </a:solidFill>
                          <a:latin typeface="Calibri (MS)" panose="020F0502020204030204"/>
                          <a:ea typeface="宋体" panose="02010600030101010101" pitchFamily="2" charset="-122"/>
                          <a:cs typeface="Calibri (MS)" panose="020F0502020204030204"/>
                          <a:sym typeface="Calibri (MS)" panose="020F0502020204030204"/>
                        </a:rPr>
                        <a:t>制作</a:t>
                      </a:r>
                      <a:endParaRPr lang="zh-CN" altLang="en-US" sz="2800">
                        <a:solidFill>
                          <a:srgbClr val="000000"/>
                        </a:solidFill>
                        <a:latin typeface="Calibri (MS)" panose="020F0502020204030204"/>
                        <a:ea typeface="宋体" panose="02010600030101010101" pitchFamily="2" charset="-122"/>
                        <a:cs typeface="Calibri (MS)" panose="020F0502020204030204"/>
                        <a:sym typeface="Calibri (MS)" panose="020F0502020204030204"/>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c>
                  <a:txBody>
                    <a:bodyPr/>
                    <a:p>
                      <a:pPr algn="l">
                        <a:lnSpc>
                          <a:spcPts val="3360"/>
                        </a:lnSpc>
                        <a:buNone/>
                        <a:defRPr/>
                      </a:pPr>
                      <a:r>
                        <a:rPr lang="en-US" altLang="en-US" sz="2800"/>
                        <a:t>5.24-5.30</a:t>
                      </a:r>
                      <a:endParaRPr lang="en-US" altLang="en-US" sz="2800"/>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9481764" y="4029974"/>
            <a:ext cx="8806236" cy="2313674"/>
            <a:chOff x="0" y="0"/>
            <a:chExt cx="11741648" cy="3084898"/>
          </a:xfrm>
        </p:grpSpPr>
        <p:sp>
          <p:nvSpPr>
            <p:cNvPr id="4" name="Freeform 4"/>
            <p:cNvSpPr/>
            <p:nvPr/>
          </p:nvSpPr>
          <p:spPr>
            <a:xfrm>
              <a:off x="0" y="0"/>
              <a:ext cx="11741658" cy="3084957"/>
            </a:xfrm>
            <a:custGeom>
              <a:avLst/>
              <a:gdLst/>
              <a:ahLst/>
              <a:cxnLst/>
              <a:rect l="l" t="t" r="r" b="b"/>
              <a:pathLst>
                <a:path w="11741658" h="3084957">
                  <a:moveTo>
                    <a:pt x="0" y="0"/>
                  </a:moveTo>
                  <a:lnTo>
                    <a:pt x="11741658" y="0"/>
                  </a:lnTo>
                  <a:lnTo>
                    <a:pt x="11741658" y="3084957"/>
                  </a:lnTo>
                  <a:lnTo>
                    <a:pt x="0" y="3084957"/>
                  </a:lnTo>
                  <a:lnTo>
                    <a:pt x="0" y="0"/>
                  </a:lnTo>
                  <a:close/>
                </a:path>
              </a:pathLst>
            </a:custGeom>
            <a:blipFill>
              <a:blip r:embed="rId2"/>
              <a:stretch>
                <a:fillRect t="-74003" r="-17268" b="-160884"/>
              </a:stretch>
            </a:blipFill>
          </p:spPr>
        </p:sp>
      </p:grpSp>
      <p:grpSp>
        <p:nvGrpSpPr>
          <p:cNvPr id="5" name="Group 5"/>
          <p:cNvGrpSpPr/>
          <p:nvPr/>
        </p:nvGrpSpPr>
        <p:grpSpPr>
          <a:xfrm rot="0">
            <a:off x="4286250" y="4029075"/>
            <a:ext cx="14001750" cy="2314573"/>
            <a:chOff x="0" y="0"/>
            <a:chExt cx="18669000" cy="3086098"/>
          </a:xfrm>
        </p:grpSpPr>
        <p:sp>
          <p:nvSpPr>
            <p:cNvPr id="6" name="Freeform 6"/>
            <p:cNvSpPr/>
            <p:nvPr/>
          </p:nvSpPr>
          <p:spPr>
            <a:xfrm>
              <a:off x="0" y="0"/>
              <a:ext cx="18669000" cy="3086100"/>
            </a:xfrm>
            <a:custGeom>
              <a:avLst/>
              <a:gdLst/>
              <a:ahLst/>
              <a:cxnLst/>
              <a:rect l="l" t="t" r="r" b="b"/>
              <a:pathLst>
                <a:path w="18669000" h="3086100">
                  <a:moveTo>
                    <a:pt x="0" y="0"/>
                  </a:moveTo>
                  <a:lnTo>
                    <a:pt x="18669000" y="0"/>
                  </a:lnTo>
                  <a:lnTo>
                    <a:pt x="18669000" y="3086100"/>
                  </a:lnTo>
                  <a:lnTo>
                    <a:pt x="0" y="3086100"/>
                  </a:lnTo>
                  <a:close/>
                </a:path>
              </a:pathLst>
            </a:custGeom>
            <a:gradFill rotWithShape="1">
              <a:gsLst>
                <a:gs pos="0">
                  <a:srgbClr val="014924">
                    <a:alpha val="100000"/>
                  </a:srgbClr>
                </a:gs>
                <a:gs pos="35000">
                  <a:srgbClr val="014924">
                    <a:alpha val="100000"/>
                  </a:srgbClr>
                </a:gs>
                <a:gs pos="59000">
                  <a:srgbClr val="014924">
                    <a:alpha val="95000"/>
                  </a:srgbClr>
                </a:gs>
                <a:gs pos="77000">
                  <a:srgbClr val="014924">
                    <a:alpha val="70000"/>
                  </a:srgbClr>
                </a:gs>
                <a:gs pos="100000">
                  <a:srgbClr val="014924">
                    <a:alpha val="60000"/>
                  </a:srgbClr>
                </a:gs>
              </a:gsLst>
              <a:lin ang="0"/>
            </a:gradFill>
          </p:spPr>
        </p:sp>
      </p:grpSp>
      <p:grpSp>
        <p:nvGrpSpPr>
          <p:cNvPr id="7" name="Group 7"/>
          <p:cNvGrpSpPr/>
          <p:nvPr/>
        </p:nvGrpSpPr>
        <p:grpSpPr>
          <a:xfrm rot="0">
            <a:off x="1685925" y="4029075"/>
            <a:ext cx="2314575" cy="2314575"/>
            <a:chOff x="0" y="0"/>
            <a:chExt cx="3086100" cy="3086100"/>
          </a:xfrm>
        </p:grpSpPr>
        <p:sp>
          <p:nvSpPr>
            <p:cNvPr id="8" name="Freeform 8"/>
            <p:cNvSpPr/>
            <p:nvPr/>
          </p:nvSpPr>
          <p:spPr>
            <a:xfrm>
              <a:off x="0" y="0"/>
              <a:ext cx="3086100" cy="3086100"/>
            </a:xfrm>
            <a:custGeom>
              <a:avLst/>
              <a:gdLst/>
              <a:ahLst/>
              <a:cxnLst/>
              <a:rect l="l" t="t" r="r" b="b"/>
              <a:pathLst>
                <a:path w="3086100" h="3086100">
                  <a:moveTo>
                    <a:pt x="0" y="0"/>
                  </a:moveTo>
                  <a:lnTo>
                    <a:pt x="3086100" y="0"/>
                  </a:lnTo>
                  <a:lnTo>
                    <a:pt x="3086100" y="3086100"/>
                  </a:lnTo>
                  <a:lnTo>
                    <a:pt x="0" y="3086100"/>
                  </a:lnTo>
                  <a:close/>
                </a:path>
              </a:pathLst>
            </a:custGeom>
            <a:solidFill>
              <a:srgbClr val="549E39"/>
            </a:solidFill>
          </p:spPr>
        </p:sp>
      </p:grpSp>
      <p:sp>
        <p:nvSpPr>
          <p:cNvPr id="9" name="TextBox 9"/>
          <p:cNvSpPr txBox="1"/>
          <p:nvPr/>
        </p:nvSpPr>
        <p:spPr>
          <a:xfrm>
            <a:off x="2202368" y="4353461"/>
            <a:ext cx="1281690" cy="1616393"/>
          </a:xfrm>
          <a:prstGeom prst="rect">
            <a:avLst/>
          </a:prstGeom>
        </p:spPr>
        <p:txBody>
          <a:bodyPr lIns="0" tIns="0" rIns="0" bIns="0" rtlCol="0" anchor="t">
            <a:spAutoFit/>
          </a:bodyPr>
          <a:lstStyle/>
          <a:p>
            <a:pPr algn="ctr">
              <a:lnSpc>
                <a:spcPts val="11880"/>
              </a:lnSpc>
            </a:pPr>
            <a:r>
              <a:rPr lang="en-US" sz="9900" b="1">
                <a:solidFill>
                  <a:srgbClr val="FFFFFF"/>
                </a:solidFill>
                <a:latin typeface="Arimo Bold" panose="020B0704020202020204"/>
                <a:ea typeface="Arimo Bold" panose="020B0704020202020204"/>
                <a:cs typeface="Arimo Bold" panose="020B0704020202020204"/>
                <a:sym typeface="Arimo Bold" panose="020B0704020202020204"/>
              </a:rPr>
              <a:t>3</a:t>
            </a:r>
            <a:endParaRPr lang="en-US" sz="99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0" name="TextBox 10"/>
          <p:cNvSpPr txBox="1"/>
          <p:nvPr/>
        </p:nvSpPr>
        <p:spPr>
          <a:xfrm>
            <a:off x="4516938" y="4491057"/>
            <a:ext cx="3787433" cy="1183628"/>
          </a:xfrm>
          <a:prstGeom prst="rect">
            <a:avLst/>
          </a:prstGeom>
        </p:spPr>
        <p:txBody>
          <a:bodyPr lIns="0" tIns="0" rIns="0" bIns="0" rtlCol="0" anchor="t">
            <a:spAutoFit/>
          </a:bodyPr>
          <a:lstStyle/>
          <a:p>
            <a:pPr algn="l">
              <a:lnSpc>
                <a:spcPts val="8640"/>
              </a:lnSpc>
            </a:pPr>
            <a:r>
              <a:rPr lang="en-US" sz="7200">
                <a:solidFill>
                  <a:srgbClr val="FFFFFF"/>
                </a:solidFill>
                <a:latin typeface="Arimo" panose="020B0604020202020204"/>
                <a:ea typeface="Arimo" panose="020B0604020202020204"/>
                <a:cs typeface="Arimo" panose="020B0604020202020204"/>
                <a:sym typeface="Arimo" panose="020B0604020202020204"/>
              </a:rPr>
              <a:t>总体架构</a:t>
            </a:r>
            <a:endParaRPr lang="en-US" sz="72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1" name="Group 11"/>
          <p:cNvGrpSpPr>
            <a:grpSpLocks noChangeAspect="1"/>
          </p:cNvGrpSpPr>
          <p:nvPr/>
        </p:nvGrpSpPr>
        <p:grpSpPr>
          <a:xfrm rot="0">
            <a:off x="14723000" y="203883"/>
            <a:ext cx="3565001" cy="1101770"/>
            <a:chOff x="0" y="0"/>
            <a:chExt cx="4753334" cy="1469026"/>
          </a:xfrm>
        </p:grpSpPr>
        <p:sp>
          <p:nvSpPr>
            <p:cNvPr id="12" name="Freeform 12"/>
            <p:cNvSpPr/>
            <p:nvPr/>
          </p:nvSpPr>
          <p:spPr>
            <a:xfrm>
              <a:off x="0" y="0"/>
              <a:ext cx="4753356" cy="1469009"/>
            </a:xfrm>
            <a:custGeom>
              <a:avLst/>
              <a:gdLst/>
              <a:ahLst/>
              <a:cxnLst/>
              <a:rect l="l" t="t" r="r" b="b"/>
              <a:pathLst>
                <a:path w="4753356" h="1469009">
                  <a:moveTo>
                    <a:pt x="0" y="0"/>
                  </a:moveTo>
                  <a:lnTo>
                    <a:pt x="4753356" y="0"/>
                  </a:lnTo>
                  <a:lnTo>
                    <a:pt x="4753356" y="1469009"/>
                  </a:lnTo>
                  <a:lnTo>
                    <a:pt x="0" y="1469009"/>
                  </a:lnTo>
                  <a:lnTo>
                    <a:pt x="0" y="0"/>
                  </a:lnTo>
                  <a:close/>
                </a:path>
              </a:pathLst>
            </a:custGeom>
            <a:blipFill>
              <a:blip r:embed="rId3"/>
              <a:stretch>
                <a:fillRect t="-34825" b="-13078"/>
              </a:stretch>
            </a:blipFill>
          </p:spPr>
        </p:sp>
      </p:grpSp>
      <p:sp>
        <p:nvSpPr>
          <p:cNvPr id="13" name="TextBox 13"/>
          <p:cNvSpPr txBox="1"/>
          <p:nvPr/>
        </p:nvSpPr>
        <p:spPr>
          <a:xfrm>
            <a:off x="2202368" y="5637913"/>
            <a:ext cx="8962686" cy="481608"/>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OVERALL ARCHITECTURE</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4" name="Group 14"/>
          <p:cNvGrpSpPr>
            <a:grpSpLocks noChangeAspect="1"/>
          </p:cNvGrpSpPr>
          <p:nvPr/>
        </p:nvGrpSpPr>
        <p:grpSpPr>
          <a:xfrm rot="0">
            <a:off x="10853934" y="372126"/>
            <a:ext cx="3466641" cy="765282"/>
            <a:chOff x="0" y="0"/>
            <a:chExt cx="4622188" cy="1020376"/>
          </a:xfrm>
        </p:grpSpPr>
        <p:sp>
          <p:nvSpPr>
            <p:cNvPr id="15" name="Freeform 15"/>
            <p:cNvSpPr/>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
              <a:stretch>
                <a:fillRect b="-5"/>
              </a:stretch>
            </a:blipFill>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3876596" y="32623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6100484"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sp>
        <p:nvSpPr>
          <p:cNvPr id="8" name="Freeform 8"/>
          <p:cNvSpPr/>
          <p:nvPr/>
        </p:nvSpPr>
        <p:spPr>
          <a:xfrm>
            <a:off x="1603285" y="2165915"/>
            <a:ext cx="14497199" cy="7810366"/>
          </a:xfrm>
          <a:custGeom>
            <a:avLst/>
            <a:gdLst/>
            <a:ahLst/>
            <a:cxnLst/>
            <a:rect l="l" t="t" r="r" b="b"/>
            <a:pathLst>
              <a:path w="14497199" h="7810366">
                <a:moveTo>
                  <a:pt x="0" y="0"/>
                </a:moveTo>
                <a:lnTo>
                  <a:pt x="14497199" y="0"/>
                </a:lnTo>
                <a:lnTo>
                  <a:pt x="14497199" y="7810366"/>
                </a:lnTo>
                <a:lnTo>
                  <a:pt x="0" y="7810366"/>
                </a:lnTo>
                <a:lnTo>
                  <a:pt x="0" y="0"/>
                </a:lnTo>
                <a:close/>
              </a:path>
            </a:pathLst>
          </a:custGeom>
          <a:blipFill>
            <a:blip r:embed="rId5"/>
            <a:stretch>
              <a:fillRect/>
            </a:stretch>
          </a:blipFill>
        </p:spPr>
      </p:sp>
      <p:sp>
        <p:nvSpPr>
          <p:cNvPr id="9" name="TextBox 9"/>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3</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0" name="TextBox 10"/>
          <p:cNvSpPr txBox="1"/>
          <p:nvPr/>
        </p:nvSpPr>
        <p:spPr>
          <a:xfrm>
            <a:off x="1143186" y="244078"/>
            <a:ext cx="2556328"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总体架构</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sp>
        <p:nvSpPr>
          <p:cNvPr id="11" name="TextBox 11"/>
          <p:cNvSpPr txBox="1"/>
          <p:nvPr/>
        </p:nvSpPr>
        <p:spPr>
          <a:xfrm>
            <a:off x="1371099" y="320634"/>
            <a:ext cx="9521658" cy="481608"/>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OVERALL ARCHITECTURE</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
        <p:nvSpPr>
          <p:cNvPr id="12" name="TextBox 12"/>
          <p:cNvSpPr txBox="1"/>
          <p:nvPr/>
        </p:nvSpPr>
        <p:spPr>
          <a:xfrm>
            <a:off x="947334" y="1189005"/>
            <a:ext cx="16311966" cy="2072640"/>
          </a:xfrm>
          <a:prstGeom prst="rect">
            <a:avLst/>
          </a:prstGeom>
        </p:spPr>
        <p:txBody>
          <a:bodyPr lIns="0" tIns="0" rIns="0" bIns="0" rtlCol="0" anchor="t">
            <a:spAutoFit/>
          </a:bodyPr>
          <a:lstStyle/>
          <a:p>
            <a:pPr algn="l">
              <a:lnSpc>
                <a:spcPts val="5610"/>
              </a:lnSpc>
            </a:pPr>
            <a:r>
              <a:rPr lang="en-US" sz="34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Yat-CAShed 的整体架构可以划分为两个核心部分：在内核态运行的“Yat-CAShed 内核架构” 和在用户态用于开发与验证的“仿真与测试平台”。这两部分协同工作，构成了从开发、部署到验 证的完整闭环。</a:t>
            </a:r>
            <a:endParaRPr lang="en-US" sz="34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3876596" y="32623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6100484"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sp>
        <p:nvSpPr>
          <p:cNvPr id="8" name="TextBox 8"/>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3</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9" name="TextBox 9"/>
          <p:cNvSpPr txBox="1"/>
          <p:nvPr/>
        </p:nvSpPr>
        <p:spPr>
          <a:xfrm>
            <a:off x="1143186" y="244078"/>
            <a:ext cx="2556328"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总体架构</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sp>
        <p:nvSpPr>
          <p:cNvPr id="10" name="TextBox 10"/>
          <p:cNvSpPr txBox="1"/>
          <p:nvPr/>
        </p:nvSpPr>
        <p:spPr>
          <a:xfrm>
            <a:off x="1371099" y="320634"/>
            <a:ext cx="9521658" cy="481608"/>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OVERALL ARCHITECTURE</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
        <p:nvSpPr>
          <p:cNvPr id="11" name="TextBox 11"/>
          <p:cNvSpPr txBox="1"/>
          <p:nvPr/>
        </p:nvSpPr>
        <p:spPr>
          <a:xfrm>
            <a:off x="199524" y="1330562"/>
            <a:ext cx="18088476" cy="8396605"/>
          </a:xfrm>
          <a:prstGeom prst="rect">
            <a:avLst/>
          </a:prstGeom>
        </p:spPr>
        <p:txBody>
          <a:bodyPr lIns="0" tIns="0" rIns="0" bIns="0" rtlCol="0" anchor="t">
            <a:spAutoFit/>
          </a:bodyPr>
          <a:lstStyle/>
          <a:p>
            <a:pPr algn="l">
              <a:lnSpc>
                <a:spcPts val="3920"/>
              </a:lnSpc>
            </a:pPr>
            <a:r>
              <a:rPr lang="en-US" sz="28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 底层数据结构:</a:t>
            </a:r>
            <a:r>
              <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这是整个调度器的基础。它负责定义和管理调度所需的核心数据，例如每个 CPU 核心的运行队列（Runqueue）、任务的调度实体（Scheduling Entity）、以及用于追踪缓存状态的相关信息。这些数据结构的设计直接影响调度器的效率和可扩展性。</a:t>
            </a:r>
            <a:endPar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3920"/>
              </a:lnSpc>
            </a:pPr>
            <a:r>
              <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a:t>
            </a:r>
            <a:r>
              <a:rPr lang="en-US" sz="28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 核心调度算法: </a:t>
            </a:r>
            <a:r>
              <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这是 Yat-CAShed 的大脑。它实现了调度策略的核心逻辑，包括： </a:t>
            </a:r>
            <a:endPar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3920"/>
              </a:lnSpc>
            </a:pPr>
            <a:r>
              <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enqueue_task: 当任务变为可运行时，决定将其放入哪个 CPU 的运行队列。 </a:t>
            </a:r>
            <a:endPar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3920"/>
              </a:lnSpc>
            </a:pPr>
            <a:r>
              <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dequeue_task: 当任务阻塞或退出时，将其从运行队列中移除。 </a:t>
            </a:r>
            <a:endPar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3920"/>
              </a:lnSpc>
            </a:pPr>
            <a:r>
              <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pick_next_task: 在当前 CPU 上选择下</a:t>
            </a:r>
            <a:r>
              <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一个最应该执行的任务。这是实现缓存亲和性的关键所在。 </a:t>
            </a:r>
            <a:endPar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3920"/>
              </a:lnSpc>
            </a:pPr>
            <a:r>
              <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select_task_rq: 为一个新唤醒的任务选择一个最合适的 CPU 核心，目标是最大化缓存复用。 </a:t>
            </a:r>
            <a:endPar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3920"/>
              </a:lnSpc>
            </a:pPr>
            <a:r>
              <a:rPr lang="en-US" sz="28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 内核集成与交互:</a:t>
            </a:r>
            <a:r>
              <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这部分负责将 Yat-CAShed 无缝地嵌入到 Linux 内核中。主要工作是实现 struct sched_class 结构体中定义的一系列函数指针，并将这个新的调度类注册到内核调度框架中。同时，它也负责处理与用户空间的交互，允许用户通过标准的系统调用（如 sched_setscheduler()) 将进程的调度策略指定为 Yat-CAShed。</a:t>
            </a:r>
            <a:endPar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3920"/>
              </a:lnSpc>
            </a:pPr>
            <a:r>
              <a:rPr lang="en-US" sz="28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 调度跟踪与调试:</a:t>
            </a:r>
            <a:r>
              <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为了验证调度器的行为是否符合预期并进行性能分析，这部分至关重要。我们利用 Linux 内核提供的强大工具，如 ftrace 和 tracepoints，来记录关键的调度事件（如任务唤醒、迁移、上下文切换等）。这些跟踪信息是调试和优化的主要依据。 </a:t>
            </a:r>
            <a:endPar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3920"/>
              </a:lnSpc>
            </a:pPr>
            <a:r>
              <a:rPr lang="en-US" sz="28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 性能测试验证:</a:t>
            </a:r>
            <a:r>
              <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这是衡量项目成功与否的标尺。我们通过编写特定的测试程序（例如，通过 cyclictest 或自定义的负载生成器）来创造不同的应用场景，对比 Yat-CAShed 与内核默认的 CFS 调度器在任务执行延迟、缓存命中率、吞吐量等方面的表现，用数据来证明我们设计的有效性。</a:t>
            </a:r>
            <a:endParaRPr lang="en-US" sz="28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9481764" y="4029974"/>
            <a:ext cx="8806236" cy="2313674"/>
            <a:chOff x="0" y="0"/>
            <a:chExt cx="11741648" cy="3084898"/>
          </a:xfrm>
        </p:grpSpPr>
        <p:sp>
          <p:nvSpPr>
            <p:cNvPr id="4" name="Freeform 4"/>
            <p:cNvSpPr/>
            <p:nvPr/>
          </p:nvSpPr>
          <p:spPr>
            <a:xfrm>
              <a:off x="0" y="0"/>
              <a:ext cx="11741658" cy="3084957"/>
            </a:xfrm>
            <a:custGeom>
              <a:avLst/>
              <a:gdLst/>
              <a:ahLst/>
              <a:cxnLst/>
              <a:rect l="l" t="t" r="r" b="b"/>
              <a:pathLst>
                <a:path w="11741658" h="3084957">
                  <a:moveTo>
                    <a:pt x="0" y="0"/>
                  </a:moveTo>
                  <a:lnTo>
                    <a:pt x="11741658" y="0"/>
                  </a:lnTo>
                  <a:lnTo>
                    <a:pt x="11741658" y="3084957"/>
                  </a:lnTo>
                  <a:lnTo>
                    <a:pt x="0" y="3084957"/>
                  </a:lnTo>
                  <a:lnTo>
                    <a:pt x="0" y="0"/>
                  </a:lnTo>
                  <a:close/>
                </a:path>
              </a:pathLst>
            </a:custGeom>
            <a:blipFill>
              <a:blip r:embed="rId2"/>
              <a:stretch>
                <a:fillRect t="-74003" r="-17268" b="-160884"/>
              </a:stretch>
            </a:blipFill>
          </p:spPr>
        </p:sp>
      </p:grpSp>
      <p:grpSp>
        <p:nvGrpSpPr>
          <p:cNvPr id="5" name="Group 5"/>
          <p:cNvGrpSpPr/>
          <p:nvPr/>
        </p:nvGrpSpPr>
        <p:grpSpPr>
          <a:xfrm rot="0">
            <a:off x="4286250" y="4029075"/>
            <a:ext cx="14001750" cy="2314573"/>
            <a:chOff x="0" y="0"/>
            <a:chExt cx="18669000" cy="3086098"/>
          </a:xfrm>
        </p:grpSpPr>
        <p:sp>
          <p:nvSpPr>
            <p:cNvPr id="6" name="Freeform 6"/>
            <p:cNvSpPr/>
            <p:nvPr/>
          </p:nvSpPr>
          <p:spPr>
            <a:xfrm>
              <a:off x="0" y="0"/>
              <a:ext cx="18669000" cy="3086100"/>
            </a:xfrm>
            <a:custGeom>
              <a:avLst/>
              <a:gdLst/>
              <a:ahLst/>
              <a:cxnLst/>
              <a:rect l="l" t="t" r="r" b="b"/>
              <a:pathLst>
                <a:path w="18669000" h="3086100">
                  <a:moveTo>
                    <a:pt x="0" y="0"/>
                  </a:moveTo>
                  <a:lnTo>
                    <a:pt x="18669000" y="0"/>
                  </a:lnTo>
                  <a:lnTo>
                    <a:pt x="18669000" y="3086100"/>
                  </a:lnTo>
                  <a:lnTo>
                    <a:pt x="0" y="3086100"/>
                  </a:lnTo>
                  <a:close/>
                </a:path>
              </a:pathLst>
            </a:custGeom>
            <a:gradFill rotWithShape="1">
              <a:gsLst>
                <a:gs pos="0">
                  <a:srgbClr val="014924">
                    <a:alpha val="100000"/>
                  </a:srgbClr>
                </a:gs>
                <a:gs pos="35000">
                  <a:srgbClr val="014924">
                    <a:alpha val="100000"/>
                  </a:srgbClr>
                </a:gs>
                <a:gs pos="59000">
                  <a:srgbClr val="014924">
                    <a:alpha val="95000"/>
                  </a:srgbClr>
                </a:gs>
                <a:gs pos="77000">
                  <a:srgbClr val="014924">
                    <a:alpha val="70000"/>
                  </a:srgbClr>
                </a:gs>
                <a:gs pos="100000">
                  <a:srgbClr val="014924">
                    <a:alpha val="60000"/>
                  </a:srgbClr>
                </a:gs>
              </a:gsLst>
              <a:lin ang="0"/>
            </a:gradFill>
          </p:spPr>
        </p:sp>
      </p:grpSp>
      <p:grpSp>
        <p:nvGrpSpPr>
          <p:cNvPr id="7" name="Group 7"/>
          <p:cNvGrpSpPr/>
          <p:nvPr/>
        </p:nvGrpSpPr>
        <p:grpSpPr>
          <a:xfrm rot="0">
            <a:off x="1685925" y="4029075"/>
            <a:ext cx="2314575" cy="2314575"/>
            <a:chOff x="0" y="0"/>
            <a:chExt cx="3086100" cy="3086100"/>
          </a:xfrm>
        </p:grpSpPr>
        <p:sp>
          <p:nvSpPr>
            <p:cNvPr id="8" name="Freeform 8"/>
            <p:cNvSpPr/>
            <p:nvPr/>
          </p:nvSpPr>
          <p:spPr>
            <a:xfrm>
              <a:off x="0" y="0"/>
              <a:ext cx="3086100" cy="3086100"/>
            </a:xfrm>
            <a:custGeom>
              <a:avLst/>
              <a:gdLst/>
              <a:ahLst/>
              <a:cxnLst/>
              <a:rect l="l" t="t" r="r" b="b"/>
              <a:pathLst>
                <a:path w="3086100" h="3086100">
                  <a:moveTo>
                    <a:pt x="0" y="0"/>
                  </a:moveTo>
                  <a:lnTo>
                    <a:pt x="3086100" y="0"/>
                  </a:lnTo>
                  <a:lnTo>
                    <a:pt x="3086100" y="3086100"/>
                  </a:lnTo>
                  <a:lnTo>
                    <a:pt x="0" y="3086100"/>
                  </a:lnTo>
                  <a:close/>
                </a:path>
              </a:pathLst>
            </a:custGeom>
            <a:solidFill>
              <a:srgbClr val="549E39"/>
            </a:solidFill>
          </p:spPr>
        </p:sp>
      </p:grpSp>
      <p:sp>
        <p:nvSpPr>
          <p:cNvPr id="9" name="TextBox 9"/>
          <p:cNvSpPr txBox="1"/>
          <p:nvPr/>
        </p:nvSpPr>
        <p:spPr>
          <a:xfrm>
            <a:off x="2202368" y="4353461"/>
            <a:ext cx="1281690" cy="1616393"/>
          </a:xfrm>
          <a:prstGeom prst="rect">
            <a:avLst/>
          </a:prstGeom>
        </p:spPr>
        <p:txBody>
          <a:bodyPr lIns="0" tIns="0" rIns="0" bIns="0" rtlCol="0" anchor="t">
            <a:spAutoFit/>
          </a:bodyPr>
          <a:lstStyle/>
          <a:p>
            <a:pPr algn="ctr">
              <a:lnSpc>
                <a:spcPts val="11880"/>
              </a:lnSpc>
            </a:pPr>
            <a:r>
              <a:rPr lang="en-US" sz="9900" b="1">
                <a:solidFill>
                  <a:srgbClr val="FFFFFF"/>
                </a:solidFill>
                <a:latin typeface="Arimo Bold" panose="020B0704020202020204"/>
                <a:ea typeface="Arimo Bold" panose="020B0704020202020204"/>
                <a:cs typeface="Arimo Bold" panose="020B0704020202020204"/>
                <a:sym typeface="Arimo Bold" panose="020B0704020202020204"/>
              </a:rPr>
              <a:t>4</a:t>
            </a:r>
            <a:endParaRPr lang="en-US" sz="99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0" name="TextBox 10"/>
          <p:cNvSpPr txBox="1"/>
          <p:nvPr/>
        </p:nvSpPr>
        <p:spPr>
          <a:xfrm>
            <a:off x="4516938" y="4491057"/>
            <a:ext cx="4710762" cy="1183628"/>
          </a:xfrm>
          <a:prstGeom prst="rect">
            <a:avLst/>
          </a:prstGeom>
        </p:spPr>
        <p:txBody>
          <a:bodyPr lIns="0" tIns="0" rIns="0" bIns="0" rtlCol="0" anchor="t">
            <a:spAutoFit/>
          </a:bodyPr>
          <a:lstStyle/>
          <a:p>
            <a:pPr algn="l">
              <a:lnSpc>
                <a:spcPts val="8640"/>
              </a:lnSpc>
            </a:pPr>
            <a:r>
              <a:rPr lang="en-US" sz="7200">
                <a:solidFill>
                  <a:srgbClr val="FFFFFF"/>
                </a:solidFill>
                <a:latin typeface="Arimo" panose="020B0604020202020204"/>
                <a:ea typeface="Arimo" panose="020B0604020202020204"/>
                <a:cs typeface="Arimo" panose="020B0604020202020204"/>
                <a:sym typeface="Arimo" panose="020B0604020202020204"/>
              </a:rPr>
              <a:t>设计与实现</a:t>
            </a:r>
            <a:endParaRPr lang="en-US" sz="72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1" name="Group 11"/>
          <p:cNvGrpSpPr>
            <a:grpSpLocks noChangeAspect="1"/>
          </p:cNvGrpSpPr>
          <p:nvPr/>
        </p:nvGrpSpPr>
        <p:grpSpPr>
          <a:xfrm rot="0">
            <a:off x="14723000" y="203883"/>
            <a:ext cx="3565001" cy="1101770"/>
            <a:chOff x="0" y="0"/>
            <a:chExt cx="4753334" cy="1469026"/>
          </a:xfrm>
        </p:grpSpPr>
        <p:sp>
          <p:nvSpPr>
            <p:cNvPr id="12" name="Freeform 12"/>
            <p:cNvSpPr/>
            <p:nvPr/>
          </p:nvSpPr>
          <p:spPr>
            <a:xfrm>
              <a:off x="0" y="0"/>
              <a:ext cx="4753356" cy="1469009"/>
            </a:xfrm>
            <a:custGeom>
              <a:avLst/>
              <a:gdLst/>
              <a:ahLst/>
              <a:cxnLst/>
              <a:rect l="l" t="t" r="r" b="b"/>
              <a:pathLst>
                <a:path w="4753356" h="1469009">
                  <a:moveTo>
                    <a:pt x="0" y="0"/>
                  </a:moveTo>
                  <a:lnTo>
                    <a:pt x="4753356" y="0"/>
                  </a:lnTo>
                  <a:lnTo>
                    <a:pt x="4753356" y="1469009"/>
                  </a:lnTo>
                  <a:lnTo>
                    <a:pt x="0" y="1469009"/>
                  </a:lnTo>
                  <a:lnTo>
                    <a:pt x="0" y="0"/>
                  </a:lnTo>
                  <a:close/>
                </a:path>
              </a:pathLst>
            </a:custGeom>
            <a:blipFill>
              <a:blip r:embed="rId3"/>
              <a:stretch>
                <a:fillRect t="-34825" b="-13078"/>
              </a:stretch>
            </a:blipFill>
          </p:spPr>
        </p:sp>
      </p:grpSp>
      <p:sp>
        <p:nvSpPr>
          <p:cNvPr id="13" name="TextBox 13"/>
          <p:cNvSpPr txBox="1"/>
          <p:nvPr/>
        </p:nvSpPr>
        <p:spPr>
          <a:xfrm>
            <a:off x="2565027" y="5705680"/>
            <a:ext cx="8962686" cy="480060"/>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DESIGN &amp; IMPLEMENTATION</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4" name="Group 14"/>
          <p:cNvGrpSpPr>
            <a:grpSpLocks noChangeAspect="1"/>
          </p:cNvGrpSpPr>
          <p:nvPr/>
        </p:nvGrpSpPr>
        <p:grpSpPr>
          <a:xfrm rot="0">
            <a:off x="10967054" y="372126"/>
            <a:ext cx="3466641" cy="765282"/>
            <a:chOff x="0" y="0"/>
            <a:chExt cx="4622188" cy="1020376"/>
          </a:xfrm>
        </p:grpSpPr>
        <p:sp>
          <p:nvSpPr>
            <p:cNvPr id="15" name="Freeform 15"/>
            <p:cNvSpPr/>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
              <a:stretch>
                <a:fillRect b="-5"/>
              </a:stretch>
            </a:blipFill>
          </p:spPr>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4127856"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grpSp>
        <p:nvGrpSpPr>
          <p:cNvPr id="8" name="Group 8"/>
          <p:cNvGrpSpPr/>
          <p:nvPr/>
        </p:nvGrpSpPr>
        <p:grpSpPr>
          <a:xfrm rot="0">
            <a:off x="1185710" y="1212357"/>
            <a:ext cx="2793683" cy="626250"/>
            <a:chOff x="0" y="0"/>
            <a:chExt cx="3724910" cy="835000"/>
          </a:xfrm>
        </p:grpSpPr>
        <p:sp>
          <p:nvSpPr>
            <p:cNvPr id="9" name="Freeform 9"/>
            <p:cNvSpPr/>
            <p:nvPr/>
          </p:nvSpPr>
          <p:spPr>
            <a:xfrm>
              <a:off x="0" y="0"/>
              <a:ext cx="3724910" cy="835000"/>
            </a:xfrm>
            <a:custGeom>
              <a:avLst/>
              <a:gdLst/>
              <a:ahLst/>
              <a:cxnLst/>
              <a:rect l="l" t="t" r="r" b="b"/>
              <a:pathLst>
                <a:path w="3724910" h="835000">
                  <a:moveTo>
                    <a:pt x="0" y="0"/>
                  </a:moveTo>
                  <a:lnTo>
                    <a:pt x="3724910" y="0"/>
                  </a:lnTo>
                  <a:lnTo>
                    <a:pt x="3724910" y="835000"/>
                  </a:lnTo>
                  <a:lnTo>
                    <a:pt x="0" y="835000"/>
                  </a:lnTo>
                  <a:close/>
                </a:path>
              </a:pathLst>
            </a:custGeom>
            <a:solidFill>
              <a:srgbClr val="014924"/>
            </a:solidFill>
          </p:spPr>
        </p:sp>
        <p:sp>
          <p:nvSpPr>
            <p:cNvPr id="10" name="TextBox 10"/>
            <p:cNvSpPr txBox="1"/>
            <p:nvPr/>
          </p:nvSpPr>
          <p:spPr>
            <a:xfrm>
              <a:off x="0" y="-19050"/>
              <a:ext cx="3724910" cy="854050"/>
            </a:xfrm>
            <a:prstGeom prst="rect">
              <a:avLst/>
            </a:prstGeom>
          </p:spPr>
          <p:txBody>
            <a:bodyPr lIns="50800" tIns="50800" rIns="50800" bIns="50800" rtlCol="0" anchor="ctr"/>
            <a:lstStyle/>
            <a:p>
              <a:pPr algn="ctr">
                <a:lnSpc>
                  <a:spcPts val="3240"/>
                </a:lnSpc>
              </a:pPr>
              <a:r>
                <a:rPr lang="en-US" sz="2700" b="1">
                  <a:solidFill>
                    <a:srgbClr val="FFFFFF"/>
                  </a:solidFill>
                  <a:latin typeface="Arimo Bold" panose="020B0704020202020204"/>
                  <a:ea typeface="Arimo Bold" panose="020B0704020202020204"/>
                  <a:cs typeface="Arimo Bold" panose="020B0704020202020204"/>
                  <a:sym typeface="Arimo Bold" panose="020B0704020202020204"/>
                </a:rPr>
                <a:t>调度算法原理</a:t>
              </a:r>
              <a:endParaRPr lang="en-US" sz="27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sp>
        <p:nvSpPr>
          <p:cNvPr id="11" name="Freeform 11"/>
          <p:cNvSpPr/>
          <p:nvPr/>
        </p:nvSpPr>
        <p:spPr>
          <a:xfrm>
            <a:off x="10261634" y="1315593"/>
            <a:ext cx="6997666" cy="3827907"/>
          </a:xfrm>
          <a:custGeom>
            <a:avLst/>
            <a:gdLst/>
            <a:ahLst/>
            <a:cxnLst/>
            <a:rect l="l" t="t" r="r" b="b"/>
            <a:pathLst>
              <a:path w="6997666" h="3827907">
                <a:moveTo>
                  <a:pt x="0" y="0"/>
                </a:moveTo>
                <a:lnTo>
                  <a:pt x="6997666" y="0"/>
                </a:lnTo>
                <a:lnTo>
                  <a:pt x="6997666" y="3827907"/>
                </a:lnTo>
                <a:lnTo>
                  <a:pt x="0" y="3827907"/>
                </a:lnTo>
                <a:lnTo>
                  <a:pt x="0" y="0"/>
                </a:lnTo>
                <a:close/>
              </a:path>
            </a:pathLst>
          </a:custGeom>
          <a:blipFill>
            <a:blip r:embed="rId5"/>
            <a:stretch>
              <a:fillRect l="-16690" t="-6841" r="-18389" b="-11996"/>
            </a:stretch>
          </a:blipFill>
        </p:spPr>
      </p:sp>
      <p:sp>
        <p:nvSpPr>
          <p:cNvPr id="12" name="Freeform 12"/>
          <p:cNvSpPr/>
          <p:nvPr/>
        </p:nvSpPr>
        <p:spPr>
          <a:xfrm>
            <a:off x="10261634" y="5314770"/>
            <a:ext cx="7053485" cy="4117472"/>
          </a:xfrm>
          <a:custGeom>
            <a:avLst/>
            <a:gdLst/>
            <a:ahLst/>
            <a:cxnLst/>
            <a:rect l="l" t="t" r="r" b="b"/>
            <a:pathLst>
              <a:path w="7053485" h="4117472">
                <a:moveTo>
                  <a:pt x="0" y="0"/>
                </a:moveTo>
                <a:lnTo>
                  <a:pt x="7053485" y="0"/>
                </a:lnTo>
                <a:lnTo>
                  <a:pt x="7053485" y="4117471"/>
                </a:lnTo>
                <a:lnTo>
                  <a:pt x="0" y="4117471"/>
                </a:lnTo>
                <a:lnTo>
                  <a:pt x="0" y="0"/>
                </a:lnTo>
                <a:close/>
              </a:path>
            </a:pathLst>
          </a:custGeom>
          <a:blipFill>
            <a:blip r:embed="rId6"/>
            <a:stretch>
              <a:fillRect/>
            </a:stretch>
          </a:blipFill>
        </p:spPr>
      </p:sp>
      <p:sp>
        <p:nvSpPr>
          <p:cNvPr id="13" name="TextBox 13"/>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4</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4" name="TextBox 14"/>
          <p:cNvSpPr txBox="1"/>
          <p:nvPr/>
        </p:nvSpPr>
        <p:spPr>
          <a:xfrm>
            <a:off x="1461683" y="198914"/>
            <a:ext cx="3171881"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设计与实现</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sp>
        <p:nvSpPr>
          <p:cNvPr id="15" name="TextBox 15"/>
          <p:cNvSpPr txBox="1"/>
          <p:nvPr/>
        </p:nvSpPr>
        <p:spPr>
          <a:xfrm>
            <a:off x="3139064" y="322422"/>
            <a:ext cx="9521658" cy="480060"/>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DESIGN &amp; IMPLEMENTATION</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
        <p:nvSpPr>
          <p:cNvPr id="16" name="TextBox 16"/>
          <p:cNvSpPr txBox="1"/>
          <p:nvPr/>
        </p:nvSpPr>
        <p:spPr>
          <a:xfrm>
            <a:off x="972177" y="1962178"/>
            <a:ext cx="9182833" cy="7470063"/>
          </a:xfrm>
          <a:prstGeom prst="rect">
            <a:avLst/>
          </a:prstGeom>
        </p:spPr>
        <p:txBody>
          <a:bodyPr lIns="0" tIns="0" rIns="0" bIns="0" rtlCol="0" anchor="t">
            <a:spAutoFit/>
          </a:bodyPr>
          <a:lstStyle/>
          <a:p>
            <a:pPr marL="560070" lvl="1" indent="-280035" algn="l">
              <a:lnSpc>
                <a:spcPts val="3710"/>
              </a:lnSpc>
              <a:buFont typeface="Arial" panose="020B0604020202020204"/>
              <a:buChar char="•"/>
            </a:pPr>
            <a:r>
              <a:rPr lang="en-US" sz="309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任务接收：</a:t>
            </a:r>
            <a:endParaRPr lang="en-US" sz="309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60"/>
              </a:lnSpc>
            </a:pP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调度器接收来自</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就绪队列</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的多个 DAG 任务</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节点。</a:t>
            </a:r>
            <a:endPar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60"/>
              </a:lnSpc>
            </a:pPr>
          </a:p>
          <a:p>
            <a:pPr marL="560070" lvl="1" indent="-280035" algn="l">
              <a:lnSpc>
                <a:spcPts val="3710"/>
              </a:lnSpc>
              <a:buFont typeface="Arial" panose="020B0604020202020204"/>
              <a:buChar char="•"/>
            </a:pPr>
            <a:r>
              <a:rPr lang="en-US" sz="309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历史查询：</a:t>
            </a:r>
            <a:endParaRPr lang="en-US" sz="309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60"/>
              </a:lnSpc>
            </a:pP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查询历史</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调度</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日志，获取相关任务的历史执行数据。</a:t>
            </a:r>
            <a:endPar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60"/>
              </a:lnSpc>
            </a:pPr>
          </a:p>
          <a:p>
            <a:pPr marL="560070" lvl="1" indent="-280035" algn="l">
              <a:lnSpc>
                <a:spcPts val="3710"/>
              </a:lnSpc>
              <a:buFont typeface="Arial" panose="020B0604020202020204"/>
              <a:buChar char="•"/>
            </a:pPr>
            <a:r>
              <a:rPr lang="en-US" sz="309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加速预测：</a:t>
            </a:r>
            <a:endParaRPr lang="en-US" sz="309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60"/>
              </a:lnSpc>
            </a:pP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基于历史数据更新加速表</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，预测任务在各核心上的执行加速比。</a:t>
            </a:r>
            <a:endPar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60"/>
              </a:lnSpc>
            </a:pPr>
          </a:p>
          <a:p>
            <a:pPr marL="560070" lvl="1" indent="-280035" algn="l">
              <a:lnSpc>
                <a:spcPts val="3710"/>
              </a:lnSpc>
              <a:buFont typeface="Arial" panose="020B0604020202020204"/>
              <a:buChar char="•"/>
            </a:pPr>
            <a:r>
              <a:rPr lang="en-US" sz="309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调度决策：</a:t>
            </a:r>
            <a:endParaRPr lang="en-US" sz="309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60"/>
              </a:lnSpc>
            </a:pP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硬件感知调度器综合考虑加速表信息、核心负载状态和任务</a:t>
            </a:r>
            <a:endPar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60"/>
              </a:lnSpc>
            </a:pP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依赖关系，做出最优分配决策。</a:t>
            </a:r>
            <a:endPar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60"/>
              </a:lnSpc>
            </a:pPr>
          </a:p>
          <a:p>
            <a:pPr marL="560070" lvl="1" indent="-280035" algn="l">
              <a:lnSpc>
                <a:spcPts val="3710"/>
              </a:lnSpc>
              <a:buFont typeface="Arial" panose="020B0604020202020204"/>
              <a:buChar char="•"/>
            </a:pPr>
            <a:r>
              <a:rPr lang="en-US" sz="309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执行监控：</a:t>
            </a:r>
            <a:endParaRPr lang="en-US" sz="309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60"/>
              </a:lnSpc>
            </a:pP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任务</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在指定核心上执行，系统收集执行性能数据。</a:t>
            </a:r>
            <a:endPar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60"/>
              </a:lnSpc>
            </a:pPr>
          </a:p>
          <a:p>
            <a:pPr marL="560070" lvl="1" indent="-280035" algn="l">
              <a:lnSpc>
                <a:spcPts val="3710"/>
              </a:lnSpc>
              <a:buFont typeface="Arial" panose="020B0604020202020204"/>
              <a:buChar char="•"/>
            </a:pPr>
            <a:r>
              <a:rPr lang="en-US" sz="309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反馈更新：</a:t>
            </a:r>
            <a:endParaRPr lang="en-US" sz="309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60"/>
              </a:lnSpc>
            </a:pP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将新</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的执行数据反馈到历史日志和加速表中，为后续调度</a:t>
            </a:r>
            <a:endPar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60"/>
              </a:lnSpc>
            </a:pP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提供更准确的预测基础</a:t>
            </a:r>
            <a:endParaRPr lang="en-US" sz="238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4127856"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grpSp>
        <p:nvGrpSpPr>
          <p:cNvPr id="8" name="Group 8"/>
          <p:cNvGrpSpPr/>
          <p:nvPr/>
        </p:nvGrpSpPr>
        <p:grpSpPr>
          <a:xfrm rot="0">
            <a:off x="1197918" y="1060971"/>
            <a:ext cx="2793683" cy="626250"/>
            <a:chOff x="0" y="0"/>
            <a:chExt cx="3724910" cy="835000"/>
          </a:xfrm>
        </p:grpSpPr>
        <p:sp>
          <p:nvSpPr>
            <p:cNvPr id="9" name="Freeform 9"/>
            <p:cNvSpPr/>
            <p:nvPr/>
          </p:nvSpPr>
          <p:spPr>
            <a:xfrm>
              <a:off x="0" y="0"/>
              <a:ext cx="3724910" cy="835000"/>
            </a:xfrm>
            <a:custGeom>
              <a:avLst/>
              <a:gdLst/>
              <a:ahLst/>
              <a:cxnLst/>
              <a:rect l="l" t="t" r="r" b="b"/>
              <a:pathLst>
                <a:path w="3724910" h="835000">
                  <a:moveTo>
                    <a:pt x="0" y="0"/>
                  </a:moveTo>
                  <a:lnTo>
                    <a:pt x="3724910" y="0"/>
                  </a:lnTo>
                  <a:lnTo>
                    <a:pt x="3724910" y="835000"/>
                  </a:lnTo>
                  <a:lnTo>
                    <a:pt x="0" y="835000"/>
                  </a:lnTo>
                  <a:close/>
                </a:path>
              </a:pathLst>
            </a:custGeom>
            <a:solidFill>
              <a:srgbClr val="014924"/>
            </a:solidFill>
          </p:spPr>
        </p:sp>
        <p:sp>
          <p:nvSpPr>
            <p:cNvPr id="10" name="TextBox 10"/>
            <p:cNvSpPr txBox="1"/>
            <p:nvPr/>
          </p:nvSpPr>
          <p:spPr>
            <a:xfrm>
              <a:off x="0" y="-19050"/>
              <a:ext cx="3724910" cy="854050"/>
            </a:xfrm>
            <a:prstGeom prst="rect">
              <a:avLst/>
            </a:prstGeom>
          </p:spPr>
          <p:txBody>
            <a:bodyPr lIns="50800" tIns="50800" rIns="50800" bIns="50800" rtlCol="0" anchor="ctr"/>
            <a:lstStyle/>
            <a:p>
              <a:pPr algn="ctr">
                <a:lnSpc>
                  <a:spcPts val="3240"/>
                </a:lnSpc>
              </a:pPr>
              <a:r>
                <a:rPr lang="en-US" sz="2700" b="1">
                  <a:solidFill>
                    <a:srgbClr val="FFFFFF"/>
                  </a:solidFill>
                  <a:latin typeface="Arimo Bold" panose="020B0704020202020204"/>
                  <a:ea typeface="Arimo Bold" panose="020B0704020202020204"/>
                  <a:cs typeface="Arimo Bold" panose="020B0704020202020204"/>
                  <a:sym typeface="Arimo Bold" panose="020B0704020202020204"/>
                </a:rPr>
                <a:t>调度模拟器搭建</a:t>
              </a:r>
              <a:endParaRPr lang="en-US" sz="27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sp>
        <p:nvSpPr>
          <p:cNvPr id="11" name="Freeform 11"/>
          <p:cNvSpPr/>
          <p:nvPr/>
        </p:nvSpPr>
        <p:spPr>
          <a:xfrm>
            <a:off x="10914738" y="1687221"/>
            <a:ext cx="5612062" cy="7571079"/>
          </a:xfrm>
          <a:custGeom>
            <a:avLst/>
            <a:gdLst/>
            <a:ahLst/>
            <a:cxnLst/>
            <a:rect l="l" t="t" r="r" b="b"/>
            <a:pathLst>
              <a:path w="5612062" h="7571079">
                <a:moveTo>
                  <a:pt x="0" y="0"/>
                </a:moveTo>
                <a:lnTo>
                  <a:pt x="5612063" y="0"/>
                </a:lnTo>
                <a:lnTo>
                  <a:pt x="5612063" y="7571079"/>
                </a:lnTo>
                <a:lnTo>
                  <a:pt x="0" y="7571079"/>
                </a:lnTo>
                <a:lnTo>
                  <a:pt x="0" y="0"/>
                </a:lnTo>
                <a:close/>
              </a:path>
            </a:pathLst>
          </a:custGeom>
          <a:blipFill>
            <a:blip r:embed="rId5"/>
            <a:stretch>
              <a:fillRect/>
            </a:stretch>
          </a:blipFill>
        </p:spPr>
      </p:sp>
      <p:sp>
        <p:nvSpPr>
          <p:cNvPr id="12" name="TextBox 12"/>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4</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3" name="TextBox 13"/>
          <p:cNvSpPr txBox="1"/>
          <p:nvPr/>
        </p:nvSpPr>
        <p:spPr>
          <a:xfrm>
            <a:off x="1461683" y="198914"/>
            <a:ext cx="3171881"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设计与实现</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sp>
        <p:nvSpPr>
          <p:cNvPr id="14" name="TextBox 14"/>
          <p:cNvSpPr txBox="1"/>
          <p:nvPr/>
        </p:nvSpPr>
        <p:spPr>
          <a:xfrm>
            <a:off x="3139064" y="322422"/>
            <a:ext cx="9521658" cy="480060"/>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DESIGN &amp; IMPLEMENTATION</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
        <p:nvSpPr>
          <p:cNvPr id="15" name="TextBox 15"/>
          <p:cNvSpPr txBox="1"/>
          <p:nvPr/>
        </p:nvSpPr>
        <p:spPr>
          <a:xfrm>
            <a:off x="1197918" y="1744371"/>
            <a:ext cx="8788872" cy="7513929"/>
          </a:xfrm>
          <a:prstGeom prst="rect">
            <a:avLst/>
          </a:prstGeom>
        </p:spPr>
        <p:txBody>
          <a:bodyPr lIns="0" tIns="0" rIns="0" bIns="0" rtlCol="0" anchor="t">
            <a:spAutoFit/>
          </a:bodyPr>
          <a:lstStyle/>
          <a:p>
            <a:pPr algn="l">
              <a:lnSpc>
                <a:spcPts val="3585"/>
              </a:lnSpc>
            </a:pPr>
            <a:r>
              <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系统架构设计</a:t>
            </a:r>
            <a:endPar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3585"/>
              </a:lnSpc>
            </a:pPr>
            <a:r>
              <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模拟器采</a:t>
            </a:r>
            <a:r>
              <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用分层模块化架构，包含以下核心模块：</a:t>
            </a:r>
            <a:endPar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marL="541020" lvl="1" indent="-270510" algn="l">
              <a:lnSpc>
                <a:spcPts val="3585"/>
              </a:lnSpc>
              <a:buFont typeface="Arial" panose="020B0604020202020204"/>
              <a:buChar char="•"/>
            </a:pPr>
            <a:r>
              <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调度算法层：</a:t>
            </a:r>
            <a:endPar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70"/>
              </a:lnSpc>
            </a:pP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模拟实现</a:t>
            </a:r>
            <a:r>
              <a:rPr lang="en-US" sz="2390"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 OnlineWFD</a:t>
            </a: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和 </a:t>
            </a:r>
            <a:r>
              <a:rPr lang="en-US" sz="2390"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OnlineCac</a:t>
            </a:r>
            <a:r>
              <a:rPr lang="en-US" sz="2390"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heAware </a:t>
            </a: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两种核心</a:t>
            </a:r>
            <a:endPar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70"/>
              </a:lnSpc>
            </a:pP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调度算法，并进行模拟实验对比。</a:t>
            </a:r>
            <a:endPar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70"/>
              </a:lnSpc>
            </a:pPr>
          </a:p>
          <a:p>
            <a:pPr marL="541020" lvl="1" indent="-270510" algn="l">
              <a:lnSpc>
                <a:spcPts val="3585"/>
              </a:lnSpc>
              <a:buFont typeface="Arial" panose="020B0604020202020204"/>
              <a:buChar char="•"/>
            </a:pPr>
            <a:r>
              <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任务</a:t>
            </a:r>
            <a:r>
              <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生成层：</a:t>
            </a:r>
            <a:endPar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70"/>
              </a:lnSpc>
            </a:pP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基于</a:t>
            </a:r>
            <a:r>
              <a:rPr lang="en-US" sz="2390"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 UUn</a:t>
            </a:r>
            <a:r>
              <a:rPr lang="en-US" sz="2390"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ifastDiscard </a:t>
            </a: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等算法的增强任务集生成器，</a:t>
            </a:r>
            <a:endPar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70"/>
              </a:lnSpc>
            </a:pP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支持缓存敏感任务建模，模拟真实任务。</a:t>
            </a:r>
            <a:endPar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70"/>
              </a:lnSpc>
            </a:pPr>
          </a:p>
          <a:p>
            <a:pPr marL="541020" lvl="1" indent="-270510" algn="l">
              <a:lnSpc>
                <a:spcPts val="3585"/>
              </a:lnSpc>
              <a:buFont typeface="Arial" panose="020B0604020202020204"/>
              <a:buChar char="•"/>
            </a:pPr>
            <a:r>
              <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缓存建模层：</a:t>
            </a:r>
            <a:endPar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70"/>
              </a:lnSpc>
            </a:pP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完整的</a:t>
            </a:r>
            <a:r>
              <a:rPr lang="en-US" sz="2390"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三级缓存层次</a:t>
            </a: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结构仿真，</a:t>
            </a:r>
            <a:endPar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70"/>
              </a:lnSpc>
            </a:pP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精确模拟反映现代多核处理器特性。</a:t>
            </a:r>
            <a:endPar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70"/>
              </a:lnSpc>
            </a:pPr>
          </a:p>
          <a:p>
            <a:pPr marL="541020" lvl="1" indent="-270510" algn="l">
              <a:lnSpc>
                <a:spcPts val="3585"/>
              </a:lnSpc>
              <a:buFont typeface="Arial" panose="020B0604020202020204"/>
              <a:buChar char="•"/>
            </a:pPr>
            <a:r>
              <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性能分析层：</a:t>
            </a:r>
            <a:endPar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70"/>
              </a:lnSpc>
            </a:pP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实时性能监控和</a:t>
            </a:r>
            <a:r>
              <a:rPr lang="en-US" sz="2390"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多维度指标统计分析。</a:t>
            </a:r>
            <a:endParaRPr lang="en-US" sz="2390"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endParaRPr>
          </a:p>
          <a:p>
            <a:pPr algn="l">
              <a:lnSpc>
                <a:spcPts val="2870"/>
              </a:lnSpc>
            </a:pPr>
          </a:p>
          <a:p>
            <a:pPr marL="541020" lvl="1" indent="-270510" algn="l">
              <a:lnSpc>
                <a:spcPts val="3585"/>
              </a:lnSpc>
              <a:buFont typeface="Arial" panose="020B0604020202020204"/>
              <a:buChar char="•"/>
            </a:pPr>
            <a:r>
              <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可视化展示层：</a:t>
            </a:r>
            <a:endParaRPr lang="en-US" sz="29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70"/>
              </a:lnSpc>
            </a:pPr>
            <a:r>
              <a:rPr lang="en-US" sz="2390"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       </a:t>
            </a:r>
            <a:r>
              <a:rPr lang="en-US" sz="2390"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可视化图表</a:t>
            </a:r>
            <a:r>
              <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生成。</a:t>
            </a:r>
            <a:endParaRPr lang="en-US" sz="239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4127856"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grpSp>
        <p:nvGrpSpPr>
          <p:cNvPr id="8" name="Group 8"/>
          <p:cNvGrpSpPr/>
          <p:nvPr/>
        </p:nvGrpSpPr>
        <p:grpSpPr>
          <a:xfrm rot="0">
            <a:off x="966105" y="1687221"/>
            <a:ext cx="2793683" cy="626250"/>
            <a:chOff x="0" y="0"/>
            <a:chExt cx="3724910" cy="835000"/>
          </a:xfrm>
        </p:grpSpPr>
        <p:sp>
          <p:nvSpPr>
            <p:cNvPr id="9" name="Freeform 9"/>
            <p:cNvSpPr/>
            <p:nvPr/>
          </p:nvSpPr>
          <p:spPr>
            <a:xfrm>
              <a:off x="0" y="0"/>
              <a:ext cx="3724910" cy="835000"/>
            </a:xfrm>
            <a:custGeom>
              <a:avLst/>
              <a:gdLst/>
              <a:ahLst/>
              <a:cxnLst/>
              <a:rect l="l" t="t" r="r" b="b"/>
              <a:pathLst>
                <a:path w="3724910" h="835000">
                  <a:moveTo>
                    <a:pt x="0" y="0"/>
                  </a:moveTo>
                  <a:lnTo>
                    <a:pt x="3724910" y="0"/>
                  </a:lnTo>
                  <a:lnTo>
                    <a:pt x="3724910" y="835000"/>
                  </a:lnTo>
                  <a:lnTo>
                    <a:pt x="0" y="835000"/>
                  </a:lnTo>
                  <a:close/>
                </a:path>
              </a:pathLst>
            </a:custGeom>
            <a:solidFill>
              <a:srgbClr val="014924"/>
            </a:solidFill>
          </p:spPr>
        </p:sp>
        <p:sp>
          <p:nvSpPr>
            <p:cNvPr id="10" name="TextBox 10"/>
            <p:cNvSpPr txBox="1"/>
            <p:nvPr/>
          </p:nvSpPr>
          <p:spPr>
            <a:xfrm>
              <a:off x="0" y="-19050"/>
              <a:ext cx="3724910" cy="854050"/>
            </a:xfrm>
            <a:prstGeom prst="rect">
              <a:avLst/>
            </a:prstGeom>
          </p:spPr>
          <p:txBody>
            <a:bodyPr lIns="50800" tIns="50800" rIns="50800" bIns="50800" rtlCol="0" anchor="ctr"/>
            <a:lstStyle/>
            <a:p>
              <a:pPr algn="ctr">
                <a:lnSpc>
                  <a:spcPts val="3240"/>
                </a:lnSpc>
              </a:pPr>
              <a:r>
                <a:rPr lang="en-US" sz="2700" b="1">
                  <a:solidFill>
                    <a:srgbClr val="FFFFFF"/>
                  </a:solidFill>
                  <a:latin typeface="Arimo Bold" panose="020B0704020202020204"/>
                  <a:ea typeface="Arimo Bold" panose="020B0704020202020204"/>
                  <a:cs typeface="Arimo Bold" panose="020B0704020202020204"/>
                  <a:sym typeface="Arimo Bold" panose="020B0704020202020204"/>
                </a:rPr>
                <a:t>模拟结果展示</a:t>
              </a:r>
              <a:endParaRPr lang="en-US" sz="27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sp>
        <p:nvSpPr>
          <p:cNvPr id="11" name="Freeform 11"/>
          <p:cNvSpPr/>
          <p:nvPr/>
        </p:nvSpPr>
        <p:spPr>
          <a:xfrm>
            <a:off x="9495212" y="1687221"/>
            <a:ext cx="8370936" cy="2566875"/>
          </a:xfrm>
          <a:custGeom>
            <a:avLst/>
            <a:gdLst/>
            <a:ahLst/>
            <a:cxnLst/>
            <a:rect l="l" t="t" r="r" b="b"/>
            <a:pathLst>
              <a:path w="8370936" h="2566875">
                <a:moveTo>
                  <a:pt x="0" y="0"/>
                </a:moveTo>
                <a:lnTo>
                  <a:pt x="8370935" y="0"/>
                </a:lnTo>
                <a:lnTo>
                  <a:pt x="8370935" y="2566875"/>
                </a:lnTo>
                <a:lnTo>
                  <a:pt x="0" y="2566875"/>
                </a:lnTo>
                <a:lnTo>
                  <a:pt x="0" y="0"/>
                </a:lnTo>
                <a:close/>
              </a:path>
            </a:pathLst>
          </a:custGeom>
          <a:blipFill>
            <a:blip r:embed="rId5"/>
            <a:stretch>
              <a:fillRect t="-1377" b="-1377"/>
            </a:stretch>
          </a:blipFill>
        </p:spPr>
      </p:sp>
      <p:sp>
        <p:nvSpPr>
          <p:cNvPr id="12" name="Freeform 12"/>
          <p:cNvSpPr/>
          <p:nvPr/>
        </p:nvSpPr>
        <p:spPr>
          <a:xfrm>
            <a:off x="9495212" y="4697090"/>
            <a:ext cx="8370936" cy="4725173"/>
          </a:xfrm>
          <a:custGeom>
            <a:avLst/>
            <a:gdLst/>
            <a:ahLst/>
            <a:cxnLst/>
            <a:rect l="l" t="t" r="r" b="b"/>
            <a:pathLst>
              <a:path w="8370936" h="4725173">
                <a:moveTo>
                  <a:pt x="0" y="0"/>
                </a:moveTo>
                <a:lnTo>
                  <a:pt x="8370935" y="0"/>
                </a:lnTo>
                <a:lnTo>
                  <a:pt x="8370935" y="4725173"/>
                </a:lnTo>
                <a:lnTo>
                  <a:pt x="0" y="4725173"/>
                </a:lnTo>
                <a:lnTo>
                  <a:pt x="0" y="0"/>
                </a:lnTo>
                <a:close/>
              </a:path>
            </a:pathLst>
          </a:custGeom>
          <a:blipFill>
            <a:blip r:embed="rId6"/>
            <a:stretch>
              <a:fillRect/>
            </a:stretch>
          </a:blipFill>
        </p:spPr>
      </p:sp>
      <p:sp>
        <p:nvSpPr>
          <p:cNvPr id="13" name="TextBox 13"/>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4</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4" name="TextBox 14"/>
          <p:cNvSpPr txBox="1"/>
          <p:nvPr/>
        </p:nvSpPr>
        <p:spPr>
          <a:xfrm>
            <a:off x="1461683" y="198914"/>
            <a:ext cx="3171881"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设计与实现</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sp>
        <p:nvSpPr>
          <p:cNvPr id="15" name="TextBox 15"/>
          <p:cNvSpPr txBox="1"/>
          <p:nvPr/>
        </p:nvSpPr>
        <p:spPr>
          <a:xfrm>
            <a:off x="3139064" y="322422"/>
            <a:ext cx="9521658" cy="480060"/>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DESIGN &amp; IMPLEMENTATION</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
        <p:nvSpPr>
          <p:cNvPr id="16" name="TextBox 16"/>
          <p:cNvSpPr txBox="1"/>
          <p:nvPr/>
        </p:nvSpPr>
        <p:spPr>
          <a:xfrm>
            <a:off x="966105" y="2326138"/>
            <a:ext cx="8046260" cy="7096125"/>
          </a:xfrm>
          <a:prstGeom prst="rect">
            <a:avLst/>
          </a:prstGeom>
        </p:spPr>
        <p:txBody>
          <a:bodyPr lIns="0" tIns="0" rIns="0" bIns="0" rtlCol="0" anchor="t">
            <a:spAutoFit/>
          </a:bodyPr>
          <a:lstStyle/>
          <a:p>
            <a:pPr marL="565785" lvl="1" indent="-283210" algn="l">
              <a:lnSpc>
                <a:spcPts val="3750"/>
              </a:lnSpc>
              <a:buFont typeface="Arial" panose="020B0604020202020204"/>
              <a:buChar char="•"/>
            </a:pPr>
            <a:r>
              <a:rPr lang="en-US" sz="312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a:t>
            </a:r>
            <a:r>
              <a:rPr lang="en-US" sz="312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Cache Hit Rat</a:t>
            </a:r>
            <a:r>
              <a:rPr lang="en-US" sz="312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e Analysis (缓存命中率分析)</a:t>
            </a:r>
            <a:endParaRPr lang="en-US" sz="312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15"/>
              </a:lnSpc>
            </a:pP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Cache-Aware算法平均命中率达到</a:t>
            </a:r>
            <a:r>
              <a:rPr lang="en-US" sz="2345"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73.8%</a:t>
            </a: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，稳定集中</a:t>
            </a:r>
            <a:endPar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15"/>
              </a:lnSpc>
            </a:pP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在73-75%区间，比WFD</a:t>
            </a: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的</a:t>
            </a:r>
            <a:r>
              <a:rPr lang="en-US" sz="2345"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43.6%</a:t>
            </a: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高出</a:t>
            </a:r>
            <a:r>
              <a:rPr lang="en-US" sz="2345"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30.2%</a:t>
            </a: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a:t>
            </a:r>
            <a:endPar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15"/>
              </a:lnSpc>
            </a:pPr>
          </a:p>
          <a:p>
            <a:pPr marL="565785" lvl="1" indent="-283210" algn="l">
              <a:lnSpc>
                <a:spcPts val="3750"/>
              </a:lnSpc>
              <a:buFont typeface="Arial" panose="020B0604020202020204"/>
              <a:buChar char="•"/>
            </a:pPr>
            <a:r>
              <a:rPr lang="en-US" sz="312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M</a:t>
            </a:r>
            <a:r>
              <a:rPr lang="en-US" sz="312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ak</a:t>
            </a:r>
            <a:r>
              <a:rPr lang="en-US" sz="312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espan A</a:t>
            </a:r>
            <a:r>
              <a:rPr lang="en-US" sz="312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nalysis (完工时间分析)</a:t>
            </a:r>
            <a:endParaRPr lang="en-US" sz="312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15"/>
              </a:lnSpc>
            </a:pP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Cache-Aware算法Makespan指标为 155059 ns，相比</a:t>
            </a:r>
            <a:endPar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15"/>
              </a:lnSpc>
            </a:pP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WFD的176044 ns减少了约</a:t>
            </a:r>
            <a:r>
              <a:rPr lang="en-US" sz="2345"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11.9%</a:t>
            </a: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a:t>
            </a:r>
            <a:endPar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15"/>
              </a:lnSpc>
            </a:pPr>
          </a:p>
          <a:p>
            <a:pPr marL="565785" lvl="1" indent="-283210" algn="l">
              <a:lnSpc>
                <a:spcPts val="3750"/>
              </a:lnSpc>
              <a:buFont typeface="Arial" panose="020B0604020202020204"/>
              <a:buChar char="•"/>
            </a:pPr>
            <a:r>
              <a:rPr lang="en-US" sz="312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Execution Time Analysis (执行时间分析)</a:t>
            </a:r>
            <a:endParaRPr lang="en-US" sz="312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15"/>
              </a:lnSpc>
            </a:pP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Cache-Aware算法总执行时间为997741.40 ns，相比</a:t>
            </a:r>
            <a:endPar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15"/>
              </a:lnSpc>
            </a:pP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WFD的1160519.98 ns减少</a:t>
            </a:r>
            <a:r>
              <a:rPr lang="en-US" sz="2345" b="1">
                <a:solidFill>
                  <a:srgbClr val="000000"/>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16.3%</a:t>
            </a: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a:t>
            </a:r>
            <a:endPar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15"/>
              </a:lnSpc>
            </a:pPr>
          </a:p>
          <a:p>
            <a:pPr marL="675005" lvl="1" indent="-337820" algn="l">
              <a:lnSpc>
                <a:spcPts val="3750"/>
              </a:lnSpc>
              <a:buFont typeface="Arial" panose="020B0604020202020204"/>
              <a:buChar char="•"/>
            </a:pPr>
            <a:r>
              <a:rPr lang="en-US" sz="312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🏆模拟实验结论</a:t>
            </a:r>
            <a:endParaRPr lang="en-US" sz="312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15"/>
              </a:lnSpc>
            </a:pP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a:t>
            </a: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经过 100 个测试案例的初步验证，Cache-Aware 算法</a:t>
            </a:r>
            <a:endPar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15"/>
              </a:lnSpc>
            </a:pP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在关键性能指标上都显著优于传统WFD 算法，展现出</a:t>
            </a:r>
            <a:endPar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2815"/>
              </a:lnSpc>
            </a:pPr>
            <a:r>
              <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       卓越的性能提升效果</a:t>
            </a:r>
            <a:endParaRPr lang="en-US" sz="2345">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81000" y="340624"/>
            <a:ext cx="1347105" cy="659502"/>
            <a:chOff x="0" y="0"/>
            <a:chExt cx="1796140" cy="879336"/>
          </a:xfrm>
        </p:grpSpPr>
        <p:sp>
          <p:nvSpPr>
            <p:cNvPr id="3" name="Freeform 3"/>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4" name="Freeform 4"/>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5" name="Group 5"/>
          <p:cNvGrpSpPr>
            <a:grpSpLocks noChangeAspect="1"/>
          </p:cNvGrpSpPr>
          <p:nvPr/>
        </p:nvGrpSpPr>
        <p:grpSpPr>
          <a:xfrm rot="0">
            <a:off x="14127856" y="264381"/>
            <a:ext cx="1896959" cy="667167"/>
            <a:chOff x="0" y="0"/>
            <a:chExt cx="2529278" cy="889556"/>
          </a:xfrm>
        </p:grpSpPr>
        <p:sp>
          <p:nvSpPr>
            <p:cNvPr id="6" name="Freeform 6"/>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3"/>
              <a:stretch>
                <a:fillRect t="-29960" r="2" b="-53"/>
              </a:stretch>
            </a:blipFill>
          </p:spPr>
        </p:sp>
      </p:grpSp>
      <p:grpSp>
        <p:nvGrpSpPr>
          <p:cNvPr id="7" name="Group 7"/>
          <p:cNvGrpSpPr>
            <a:grpSpLocks noChangeAspect="1"/>
          </p:cNvGrpSpPr>
          <p:nvPr/>
        </p:nvGrpSpPr>
        <p:grpSpPr>
          <a:xfrm rot="0">
            <a:off x="854234" y="2596858"/>
            <a:ext cx="6601746" cy="2514951"/>
            <a:chOff x="0" y="0"/>
            <a:chExt cx="8802328" cy="3353268"/>
          </a:xfrm>
        </p:grpSpPr>
        <p:sp>
          <p:nvSpPr>
            <p:cNvPr id="8" name="Freeform 8"/>
            <p:cNvSpPr/>
            <p:nvPr/>
          </p:nvSpPr>
          <p:spPr>
            <a:xfrm>
              <a:off x="0" y="0"/>
              <a:ext cx="8802370" cy="3353308"/>
            </a:xfrm>
            <a:custGeom>
              <a:avLst/>
              <a:gdLst/>
              <a:ahLst/>
              <a:cxnLst/>
              <a:rect l="l" t="t" r="r" b="b"/>
              <a:pathLst>
                <a:path w="8802370" h="3353308">
                  <a:moveTo>
                    <a:pt x="0" y="0"/>
                  </a:moveTo>
                  <a:lnTo>
                    <a:pt x="8802370" y="0"/>
                  </a:lnTo>
                  <a:lnTo>
                    <a:pt x="8802370" y="3353308"/>
                  </a:lnTo>
                  <a:lnTo>
                    <a:pt x="0" y="3353308"/>
                  </a:lnTo>
                  <a:lnTo>
                    <a:pt x="0" y="0"/>
                  </a:lnTo>
                  <a:close/>
                </a:path>
              </a:pathLst>
            </a:custGeom>
            <a:blipFill>
              <a:blip r:embed="rId4"/>
              <a:stretch>
                <a:fillRect b="1"/>
              </a:stretch>
            </a:blipFill>
          </p:spPr>
        </p:sp>
      </p:grpSp>
      <p:grpSp>
        <p:nvGrpSpPr>
          <p:cNvPr id="9" name="Group 9"/>
          <p:cNvGrpSpPr/>
          <p:nvPr/>
        </p:nvGrpSpPr>
        <p:grpSpPr>
          <a:xfrm rot="0">
            <a:off x="959693" y="1687221"/>
            <a:ext cx="2793683" cy="626250"/>
            <a:chOff x="0" y="0"/>
            <a:chExt cx="3724910" cy="835000"/>
          </a:xfrm>
        </p:grpSpPr>
        <p:sp>
          <p:nvSpPr>
            <p:cNvPr id="10" name="Freeform 10"/>
            <p:cNvSpPr/>
            <p:nvPr/>
          </p:nvSpPr>
          <p:spPr>
            <a:xfrm>
              <a:off x="0" y="0"/>
              <a:ext cx="3724910" cy="835000"/>
            </a:xfrm>
            <a:custGeom>
              <a:avLst/>
              <a:gdLst/>
              <a:ahLst/>
              <a:cxnLst/>
              <a:rect l="l" t="t" r="r" b="b"/>
              <a:pathLst>
                <a:path w="3724910" h="835000">
                  <a:moveTo>
                    <a:pt x="0" y="0"/>
                  </a:moveTo>
                  <a:lnTo>
                    <a:pt x="3724910" y="0"/>
                  </a:lnTo>
                  <a:lnTo>
                    <a:pt x="3724910" y="835000"/>
                  </a:lnTo>
                  <a:lnTo>
                    <a:pt x="0" y="835000"/>
                  </a:lnTo>
                  <a:close/>
                </a:path>
              </a:pathLst>
            </a:custGeom>
            <a:solidFill>
              <a:srgbClr val="014924"/>
            </a:solidFill>
          </p:spPr>
        </p:sp>
        <p:sp>
          <p:nvSpPr>
            <p:cNvPr id="11" name="TextBox 11"/>
            <p:cNvSpPr txBox="1"/>
            <p:nvPr/>
          </p:nvSpPr>
          <p:spPr>
            <a:xfrm>
              <a:off x="0" y="-19050"/>
              <a:ext cx="3724910" cy="854050"/>
            </a:xfrm>
            <a:prstGeom prst="rect">
              <a:avLst/>
            </a:prstGeom>
          </p:spPr>
          <p:txBody>
            <a:bodyPr lIns="50800" tIns="50800" rIns="50800" bIns="50800" rtlCol="0" anchor="ctr"/>
            <a:lstStyle/>
            <a:p>
              <a:pPr algn="ctr">
                <a:lnSpc>
                  <a:spcPts val="3240"/>
                </a:lnSpc>
              </a:pPr>
              <a:r>
                <a:rPr lang="en-US" sz="2700" b="1">
                  <a:solidFill>
                    <a:srgbClr val="FFFFFF"/>
                  </a:solidFill>
                  <a:latin typeface="Arimo Bold" panose="020B0704020202020204"/>
                  <a:ea typeface="Arimo Bold" panose="020B0704020202020204"/>
                  <a:cs typeface="Arimo Bold" panose="020B0704020202020204"/>
                  <a:sym typeface="Arimo Bold" panose="020B0704020202020204"/>
                </a:rPr>
                <a:t>调度</a:t>
              </a:r>
              <a:endParaRPr lang="en-US" sz="27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sp>
        <p:nvSpPr>
          <p:cNvPr id="12" name="TextBox 12"/>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4</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3" name="TextBox 13"/>
          <p:cNvSpPr txBox="1"/>
          <p:nvPr/>
        </p:nvSpPr>
        <p:spPr>
          <a:xfrm>
            <a:off x="1461683" y="198914"/>
            <a:ext cx="3171881"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设计与实现</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sp>
        <p:nvSpPr>
          <p:cNvPr id="14" name="TextBox 14"/>
          <p:cNvSpPr txBox="1"/>
          <p:nvPr/>
        </p:nvSpPr>
        <p:spPr>
          <a:xfrm>
            <a:off x="3139064" y="322422"/>
            <a:ext cx="9521658" cy="480060"/>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DESIGN &amp; IMPLEMENTATION</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
        <p:nvSpPr>
          <p:cNvPr id="15" name="TextBox 15"/>
          <p:cNvSpPr txBox="1"/>
          <p:nvPr/>
        </p:nvSpPr>
        <p:spPr>
          <a:xfrm>
            <a:off x="4027120" y="1475271"/>
            <a:ext cx="9616282" cy="838200"/>
          </a:xfrm>
          <a:prstGeom prst="rect">
            <a:avLst/>
          </a:prstGeom>
        </p:spPr>
        <p:txBody>
          <a:bodyPr lIns="0" tIns="0" rIns="0" bIns="0" rtlCol="0" anchor="t">
            <a:spAutoFit/>
          </a:bodyPr>
          <a:lstStyle/>
          <a:p>
            <a:pPr algn="l">
              <a:lnSpc>
                <a:spcPts val="3240"/>
              </a:lnSpc>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从Linux内核中的schedule()</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转换到Yat_CASched中的schedule()：</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p:txBody>
      </p:sp>
      <p:sp>
        <p:nvSpPr>
          <p:cNvPr id="16" name="TextBox 16"/>
          <p:cNvSpPr txBox="1"/>
          <p:nvPr/>
        </p:nvSpPr>
        <p:spPr>
          <a:xfrm>
            <a:off x="8554402" y="3546243"/>
            <a:ext cx="8704898" cy="4429125"/>
          </a:xfrm>
          <a:prstGeom prst="rect">
            <a:avLst/>
          </a:prstGeom>
        </p:spPr>
        <p:txBody>
          <a:bodyPr lIns="0" tIns="0" rIns="0" bIns="0" rtlCol="0" anchor="t">
            <a:spAutoFit/>
          </a:bodyPr>
          <a:lstStyle/>
          <a:p>
            <a:pPr algn="l">
              <a:lnSpc>
                <a:spcPts val="3240"/>
              </a:lnSpc>
              <a:spcBef>
                <a:spcPct val="0"/>
              </a:spcBef>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现有调度器的不足</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spcBef>
                <a:spcPct val="0"/>
              </a:spcBef>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Linux CFS调度器的问题</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marL="582930" lvl="1" indent="-291465" algn="l">
              <a:lnSpc>
                <a:spcPts val="3240"/>
              </a:lnSpc>
              <a:spcBef>
                <a:spcPct val="0"/>
              </a:spcBef>
              <a:buFont typeface="Arial" panose="020B0604020202020204"/>
              <a:buChar char="•"/>
            </a:pPr>
            <a:r>
              <a:rPr lang="en-US" sz="2700">
                <a:solidFill>
                  <a:srgbClr val="000000"/>
                </a:solidFill>
                <a:latin typeface="Arimo" panose="020B0604020202020204"/>
                <a:ea typeface="Arimo" panose="020B0604020202020204"/>
                <a:cs typeface="Arimo" panose="020B0604020202020204"/>
                <a:sym typeface="Arimo" panose="020B0604020202020204"/>
              </a:rPr>
              <a:t>只关心公平性：主要确保每个任务获得公平的CPU时间</a:t>
            </a:r>
            <a:endParaRPr lang="en-US" sz="2700">
              <a:solidFill>
                <a:srgbClr val="000000"/>
              </a:solidFill>
              <a:latin typeface="Arimo" panose="020B0604020202020204"/>
              <a:ea typeface="Arimo" panose="020B0604020202020204"/>
              <a:cs typeface="Arimo" panose="020B0604020202020204"/>
              <a:sym typeface="Arimo" panose="020B0604020202020204"/>
            </a:endParaRPr>
          </a:p>
          <a:p>
            <a:pPr marL="582930" lvl="1" indent="-291465" algn="l">
              <a:lnSpc>
                <a:spcPts val="3240"/>
              </a:lnSpc>
              <a:spcBef>
                <a:spcPct val="0"/>
              </a:spcBef>
              <a:buFont typeface="Arial" panose="020B0604020202020204"/>
              <a:buChar char="•"/>
            </a:pPr>
            <a:r>
              <a:rPr lang="en-US" sz="2700">
                <a:solidFill>
                  <a:srgbClr val="000000"/>
                </a:solidFill>
                <a:latin typeface="Arimo" panose="020B0604020202020204"/>
                <a:ea typeface="Arimo" panose="020B0604020202020204"/>
                <a:cs typeface="Arimo" panose="020B0604020202020204"/>
                <a:sym typeface="Arimo" panose="020B0604020202020204"/>
              </a:rPr>
              <a:t>忽略缓存：不考虑任务切换带来的缓存失效成本</a:t>
            </a:r>
            <a:endParaRPr lang="en-US" sz="2700">
              <a:solidFill>
                <a:srgbClr val="000000"/>
              </a:solidFill>
              <a:latin typeface="Arimo" panose="020B0604020202020204"/>
              <a:ea typeface="Arimo" panose="020B0604020202020204"/>
              <a:cs typeface="Arimo" panose="020B0604020202020204"/>
              <a:sym typeface="Arimo" panose="020B0604020202020204"/>
            </a:endParaRPr>
          </a:p>
          <a:p>
            <a:pPr marL="582930" lvl="1" indent="-291465" algn="l">
              <a:lnSpc>
                <a:spcPts val="3240"/>
              </a:lnSpc>
              <a:spcBef>
                <a:spcPct val="0"/>
              </a:spcBef>
              <a:buFont typeface="Arial" panose="020B0604020202020204"/>
              <a:buChar char="•"/>
            </a:pPr>
            <a:r>
              <a:rPr lang="en-US" sz="2700">
                <a:solidFill>
                  <a:srgbClr val="000000"/>
                </a:solidFill>
                <a:latin typeface="Arimo" panose="020B0604020202020204"/>
                <a:ea typeface="Arimo" panose="020B0604020202020204"/>
                <a:cs typeface="Arimo" panose="020B0604020202020204"/>
                <a:sym typeface="Arimo" panose="020B0604020202020204"/>
              </a:rPr>
              <a:t>频繁迁移：为了负载均衡，经常在CPU间移动任务</a:t>
            </a:r>
            <a:endParaRPr lang="en-US" sz="2700">
              <a:solidFill>
                <a:srgbClr val="000000"/>
              </a:solidFill>
              <a:latin typeface="Arimo" panose="020B0604020202020204"/>
              <a:ea typeface="Arimo" panose="020B0604020202020204"/>
              <a:cs typeface="Arimo" panose="020B0604020202020204"/>
              <a:sym typeface="Arimo" panose="020B0604020202020204"/>
            </a:endParaRPr>
          </a:p>
          <a:p>
            <a:pPr algn="l">
              <a:lnSpc>
                <a:spcPts val="3240"/>
              </a:lnSpc>
              <a:spcBef>
                <a:spcPct val="0"/>
              </a:spcBef>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我们的改进策略</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marL="582930" lvl="1" indent="-291465" algn="l">
              <a:lnSpc>
                <a:spcPts val="3240"/>
              </a:lnSpc>
              <a:spcBef>
                <a:spcPct val="0"/>
              </a:spcBef>
              <a:buAutoNum type="arabicPeriod"/>
            </a:pPr>
            <a:r>
              <a:rPr lang="en-US" sz="2700">
                <a:solidFill>
                  <a:srgbClr val="000000"/>
                </a:solidFill>
                <a:latin typeface="Arimo" panose="020B0604020202020204"/>
                <a:ea typeface="Arimo" panose="020B0604020202020204"/>
                <a:cs typeface="Arimo" panose="020B0604020202020204"/>
                <a:sym typeface="Arimo" panose="020B0604020202020204"/>
              </a:rPr>
              <a:t>记忆功能：记住每个任务上次运行的CPU</a:t>
            </a:r>
            <a:endParaRPr lang="en-US" sz="2700">
              <a:solidFill>
                <a:srgbClr val="000000"/>
              </a:solidFill>
              <a:latin typeface="Arimo" panose="020B0604020202020204"/>
              <a:ea typeface="Arimo" panose="020B0604020202020204"/>
              <a:cs typeface="Arimo" panose="020B0604020202020204"/>
              <a:sym typeface="Arimo" panose="020B0604020202020204"/>
            </a:endParaRPr>
          </a:p>
          <a:p>
            <a:pPr marL="582930" lvl="1" indent="-291465" algn="l">
              <a:lnSpc>
                <a:spcPts val="3240"/>
              </a:lnSpc>
              <a:spcBef>
                <a:spcPct val="0"/>
              </a:spcBef>
              <a:buAutoNum type="arabicPeriod"/>
            </a:pPr>
            <a:r>
              <a:rPr lang="en-US" sz="2700">
                <a:solidFill>
                  <a:srgbClr val="000000"/>
                </a:solidFill>
                <a:latin typeface="Arimo" panose="020B0604020202020204"/>
                <a:ea typeface="Arimo" panose="020B0604020202020204"/>
                <a:cs typeface="Arimo" panose="020B0604020202020204"/>
                <a:sym typeface="Arimo" panose="020B0604020202020204"/>
              </a:rPr>
              <a:t>缓存热度判断：判断任务的缓存热度是否有效</a:t>
            </a:r>
            <a:endParaRPr lang="en-US" sz="2700">
              <a:solidFill>
                <a:srgbClr val="000000"/>
              </a:solidFill>
              <a:latin typeface="Arimo" panose="020B0604020202020204"/>
              <a:ea typeface="Arimo" panose="020B0604020202020204"/>
              <a:cs typeface="Arimo" panose="020B0604020202020204"/>
              <a:sym typeface="Arimo" panose="020B0604020202020204"/>
            </a:endParaRPr>
          </a:p>
          <a:p>
            <a:pPr marL="582930" lvl="1" indent="-291465" algn="l">
              <a:lnSpc>
                <a:spcPts val="3240"/>
              </a:lnSpc>
              <a:spcBef>
                <a:spcPct val="0"/>
              </a:spcBef>
              <a:buAutoNum type="arabicPeriod"/>
            </a:pPr>
            <a:r>
              <a:rPr lang="en-US" sz="2700">
                <a:solidFill>
                  <a:srgbClr val="000000"/>
                </a:solidFill>
                <a:latin typeface="Arimo" panose="020B0604020202020204"/>
                <a:ea typeface="Arimo" panose="020B0604020202020204"/>
                <a:cs typeface="Arimo" panose="020B0604020202020204"/>
                <a:sym typeface="Arimo" panose="020B0604020202020204"/>
              </a:rPr>
              <a:t>智能选择：在缓存利用和负载均衡之间平衡</a:t>
            </a:r>
            <a:endParaRPr lang="en-US" sz="2700">
              <a:solidFill>
                <a:srgbClr val="000000"/>
              </a:solidFill>
              <a:latin typeface="Arimo" panose="020B0604020202020204"/>
              <a:ea typeface="Arimo" panose="020B0604020202020204"/>
              <a:cs typeface="Arimo" panose="020B0604020202020204"/>
              <a:sym typeface="Arimo" panose="020B0604020202020204"/>
            </a:endParaRPr>
          </a:p>
          <a:p>
            <a:pPr algn="ctr">
              <a:lnSpc>
                <a:spcPts val="2520"/>
              </a:lnSpc>
              <a:spcBef>
                <a:spcPct val="0"/>
              </a:spcBef>
            </a:pPr>
          </a:p>
        </p:txBody>
      </p:sp>
      <p:sp>
        <p:nvSpPr>
          <p:cNvPr id="17" name="TextBox 17"/>
          <p:cNvSpPr txBox="1"/>
          <p:nvPr/>
        </p:nvSpPr>
        <p:spPr>
          <a:xfrm>
            <a:off x="959693" y="5314357"/>
            <a:ext cx="6390829" cy="3114675"/>
          </a:xfrm>
          <a:prstGeom prst="rect">
            <a:avLst/>
          </a:prstGeom>
        </p:spPr>
        <p:txBody>
          <a:bodyPr lIns="0" tIns="0" rIns="0" bIns="0" rtlCol="0" anchor="t">
            <a:spAutoFit/>
          </a:bodyPr>
          <a:lstStyle/>
          <a:p>
            <a:pPr algn="l">
              <a:lnSpc>
                <a:spcPts val="2520"/>
              </a:lnSpc>
            </a:pPr>
            <a:r>
              <a:rPr lang="en-US" sz="2100" b="1">
                <a:solidFill>
                  <a:srgbClr val="000000"/>
                </a:solidFill>
                <a:latin typeface="Arimo Bold" panose="020B0704020202020204"/>
                <a:ea typeface="Arimo Bold" panose="020B0704020202020204"/>
                <a:cs typeface="Arimo Bold" panose="020B0704020202020204"/>
                <a:sym typeface="Arimo Bold" panose="020B0704020202020204"/>
              </a:rPr>
              <a:t>└── 调度策略常量定义</a:t>
            </a:r>
            <a:endParaRPr lang="en-US" sz="21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2520"/>
              </a:lnSpc>
            </a:pPr>
            <a:r>
              <a:rPr lang="en-US" sz="2100" b="1">
                <a:solidFill>
                  <a:srgbClr val="000000"/>
                </a:solidFill>
                <a:latin typeface="Arimo Bold" panose="020B0704020202020204"/>
                <a:ea typeface="Arimo Bold" panose="020B0704020202020204"/>
                <a:cs typeface="Arimo Bold" panose="020B0704020202020204"/>
                <a:sym typeface="Arimo Bold" panose="020B0704020202020204"/>
              </a:rPr>
              <a:t>    ├── SCHED_NORMAL (0)</a:t>
            </a:r>
            <a:endParaRPr lang="en-US" sz="21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2520"/>
              </a:lnSpc>
            </a:pPr>
            <a:r>
              <a:rPr lang="en-US" sz="2100" b="1">
                <a:solidFill>
                  <a:srgbClr val="000000"/>
                </a:solidFill>
                <a:latin typeface="Arimo Bold" panose="020B0704020202020204"/>
                <a:ea typeface="Arimo Bold" panose="020B0704020202020204"/>
                <a:cs typeface="Arimo Bold" panose="020B0704020202020204"/>
                <a:sym typeface="Arimo Bold" panose="020B0704020202020204"/>
              </a:rPr>
              <a:t>    ├── SCHED_FIFO (1)</a:t>
            </a:r>
            <a:endParaRPr lang="en-US" sz="21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2520"/>
              </a:lnSpc>
            </a:pPr>
            <a:r>
              <a:rPr lang="en-US" sz="2100" b="1">
                <a:solidFill>
                  <a:srgbClr val="000000"/>
                </a:solidFill>
                <a:latin typeface="Arimo Bold" panose="020B0704020202020204"/>
                <a:ea typeface="Arimo Bold" panose="020B0704020202020204"/>
                <a:cs typeface="Arimo Bold" panose="020B0704020202020204"/>
                <a:sym typeface="Arimo Bold" panose="020B0704020202020204"/>
              </a:rPr>
              <a:t>    ├── SCHED_RR (2)</a:t>
            </a:r>
            <a:endParaRPr lang="en-US" sz="21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2520"/>
              </a:lnSpc>
            </a:pPr>
            <a:r>
              <a:rPr lang="en-US" sz="2100" b="1">
                <a:solidFill>
                  <a:srgbClr val="000000"/>
                </a:solidFill>
                <a:latin typeface="Arimo Bold" panose="020B0704020202020204"/>
                <a:ea typeface="Arimo Bold" panose="020B0704020202020204"/>
                <a:cs typeface="Arimo Bold" panose="020B0704020202020204"/>
                <a:sym typeface="Arimo Bold" panose="020B0704020202020204"/>
              </a:rPr>
              <a:t>    ├── SCHED_BATCH (3)</a:t>
            </a:r>
            <a:endParaRPr lang="en-US" sz="21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2520"/>
              </a:lnSpc>
            </a:pPr>
            <a:r>
              <a:rPr lang="en-US" sz="2100" b="1">
                <a:solidFill>
                  <a:srgbClr val="000000"/>
                </a:solidFill>
                <a:latin typeface="Arimo Bold" panose="020B0704020202020204"/>
                <a:ea typeface="Arimo Bold" panose="020B0704020202020204"/>
                <a:cs typeface="Arimo Bold" panose="020B0704020202020204"/>
                <a:sym typeface="Arimo Bold" panose="020B0704020202020204"/>
              </a:rPr>
              <a:t>    ├── SCHED_IDLE (5)</a:t>
            </a:r>
            <a:endParaRPr lang="en-US" sz="21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2520"/>
              </a:lnSpc>
            </a:pPr>
            <a:r>
              <a:rPr lang="en-US" sz="2100" b="1">
                <a:solidFill>
                  <a:srgbClr val="000000"/>
                </a:solidFill>
                <a:latin typeface="Arimo Bold" panose="020B0704020202020204"/>
                <a:ea typeface="Arimo Bold" panose="020B0704020202020204"/>
                <a:cs typeface="Arimo Bold" panose="020B0704020202020204"/>
                <a:sym typeface="Arimo Bold" panose="020B0704020202020204"/>
              </a:rPr>
              <a:t>    ├── SCHED_DEADLINE (6)</a:t>
            </a:r>
            <a:endParaRPr lang="en-US" sz="21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2520"/>
              </a:lnSpc>
            </a:pPr>
            <a:r>
              <a:rPr lang="en-US" sz="2100" b="1">
                <a:solidFill>
                  <a:srgbClr val="000000"/>
                </a:solidFill>
                <a:latin typeface="Arimo Bold" panose="020B0704020202020204"/>
                <a:ea typeface="Arimo Bold" panose="020B0704020202020204"/>
                <a:cs typeface="Arimo Bold" panose="020B0704020202020204"/>
                <a:sym typeface="Arimo Bold" panose="020B0704020202020204"/>
              </a:rPr>
              <a:t>    └── SCHED_YAT_CASCHED (8) ← 【新增策略】</a:t>
            </a:r>
            <a:endParaRPr lang="en-US" sz="21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4680"/>
              </a:lnSpc>
              <a:spcBef>
                <a:spcPct val="0"/>
              </a:spcBef>
            </a:p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16100484" y="264381"/>
            <a:ext cx="1896959" cy="667167"/>
            <a:chOff x="0" y="0"/>
            <a:chExt cx="2529278" cy="889556"/>
          </a:xfrm>
        </p:grpSpPr>
        <p:sp>
          <p:nvSpPr>
            <p:cNvPr id="4" name="Freeform 4"/>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5" name="Group 5"/>
          <p:cNvGrpSpPr/>
          <p:nvPr/>
        </p:nvGrpSpPr>
        <p:grpSpPr>
          <a:xfrm rot="0">
            <a:off x="-381000" y="340624"/>
            <a:ext cx="1347105" cy="659502"/>
            <a:chOff x="0" y="0"/>
            <a:chExt cx="1796140" cy="879336"/>
          </a:xfrm>
        </p:grpSpPr>
        <p:sp>
          <p:nvSpPr>
            <p:cNvPr id="6" name="Freeform 6"/>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7" name="TextBox 7"/>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4</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8" name="TextBox 8"/>
          <p:cNvSpPr txBox="1"/>
          <p:nvPr/>
        </p:nvSpPr>
        <p:spPr>
          <a:xfrm>
            <a:off x="1461683" y="198914"/>
            <a:ext cx="3171881"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设计与实现</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sp>
        <p:nvSpPr>
          <p:cNvPr id="9" name="Freeform 9"/>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0" name="Group 10"/>
          <p:cNvGrpSpPr>
            <a:grpSpLocks noChangeAspect="1"/>
          </p:cNvGrpSpPr>
          <p:nvPr/>
        </p:nvGrpSpPr>
        <p:grpSpPr>
          <a:xfrm rot="0">
            <a:off x="14127856" y="264381"/>
            <a:ext cx="1896959" cy="667167"/>
            <a:chOff x="0" y="0"/>
            <a:chExt cx="2529278" cy="889556"/>
          </a:xfrm>
        </p:grpSpPr>
        <p:sp>
          <p:nvSpPr>
            <p:cNvPr id="11" name="Freeform 11"/>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2" name="TextBox 12"/>
          <p:cNvSpPr txBox="1"/>
          <p:nvPr/>
        </p:nvSpPr>
        <p:spPr>
          <a:xfrm>
            <a:off x="3139064" y="322422"/>
            <a:ext cx="9521658" cy="480060"/>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DESIGN &amp; IMPLEMENTATION</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
        <p:nvSpPr>
          <p:cNvPr id="13" name="TextBox 13"/>
          <p:cNvSpPr txBox="1"/>
          <p:nvPr/>
        </p:nvSpPr>
        <p:spPr>
          <a:xfrm>
            <a:off x="576653" y="4059965"/>
            <a:ext cx="11549955" cy="5753100"/>
          </a:xfrm>
          <a:prstGeom prst="rect">
            <a:avLst/>
          </a:prstGeom>
        </p:spPr>
        <p:txBody>
          <a:bodyPr lIns="0" tIns="0" rIns="0" bIns="0" rtlCol="0" anchor="t">
            <a:spAutoFit/>
          </a:bodyPr>
          <a:lstStyle/>
          <a:p>
            <a:pPr algn="l">
              <a:lnSpc>
                <a:spcPts val="3240"/>
              </a:lnSpc>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task_struct (进程控制块)</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 struct sched_entity se (CFS调度实体)</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 struct rt_entity rt (实时调度实体)</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 struct dl_entity dl (截止时间调度实体)</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 struct sched_yat_casched_entity yat_casched ←【新增调度实体】</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    ├── u64 vruntime (虚拟运行时间 - 8字节)</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    ├── int last_cpu (上次运行CPU - 4字节)</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    ├── unsigned long cache_hot (缓存热度时间戳 - 8字节)</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    ├── unsigned long last_run_time (上次运行时间 - 8字节)</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    ├── struct list_head run_list (运行队列节点 - 16字节)</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spcBef>
                <a:spcPct val="0"/>
              </a:spcBef>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    ├── unsigned long migrate_count (迁移统计 - 8</a:t>
            </a: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字节)</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spcBef>
                <a:spcPct val="0"/>
              </a:spcBef>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    └── unsigned long cache_hit_count (缓存命中统计 - 8字节)</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l">
              <a:lnSpc>
                <a:spcPts val="3240"/>
              </a:lnSpc>
              <a:spcBef>
                <a:spcPct val="0"/>
              </a:spcBef>
            </a:pPr>
            <a:r>
              <a:rPr lang="en-US" sz="2700" b="1">
                <a:solidFill>
                  <a:srgbClr val="000000"/>
                </a:solidFill>
                <a:latin typeface="Arimo Bold" panose="020B0704020202020204"/>
                <a:ea typeface="Arimo Bold" panose="020B0704020202020204"/>
                <a:cs typeface="Arimo Bold" panose="020B0704020202020204"/>
                <a:sym typeface="Arimo Bold" panose="020B0704020202020204"/>
              </a:rPr>
              <a:t>    └── [总计: 64字节 = 1个缓存线]</a:t>
            </a:r>
            <a:endParaRPr lang="en-US" sz="2700" b="1">
              <a:solidFill>
                <a:srgbClr val="000000"/>
              </a:solidFill>
              <a:latin typeface="Arimo Bold" panose="020B0704020202020204"/>
              <a:ea typeface="Arimo Bold" panose="020B0704020202020204"/>
              <a:cs typeface="Arimo Bold" panose="020B0704020202020204"/>
              <a:sym typeface="Arimo Bold" panose="020B0704020202020204"/>
            </a:endParaRPr>
          </a:p>
          <a:p>
            <a:pPr algn="ctr">
              <a:lnSpc>
                <a:spcPts val="3240"/>
              </a:lnSpc>
              <a:spcBef>
                <a:spcPct val="0"/>
              </a:spcBef>
            </a:pPr>
          </a:p>
        </p:txBody>
      </p:sp>
      <p:sp>
        <p:nvSpPr>
          <p:cNvPr id="14" name="Freeform 14"/>
          <p:cNvSpPr/>
          <p:nvPr/>
        </p:nvSpPr>
        <p:spPr>
          <a:xfrm>
            <a:off x="8099669" y="1869368"/>
            <a:ext cx="6028188" cy="1659392"/>
          </a:xfrm>
          <a:custGeom>
            <a:avLst/>
            <a:gdLst/>
            <a:ahLst/>
            <a:cxnLst/>
            <a:rect l="l" t="t" r="r" b="b"/>
            <a:pathLst>
              <a:path w="6028188" h="1659392">
                <a:moveTo>
                  <a:pt x="0" y="0"/>
                </a:moveTo>
                <a:lnTo>
                  <a:pt x="6028187" y="0"/>
                </a:lnTo>
                <a:lnTo>
                  <a:pt x="6028187" y="1659392"/>
                </a:lnTo>
                <a:lnTo>
                  <a:pt x="0" y="1659392"/>
                </a:lnTo>
                <a:lnTo>
                  <a:pt x="0" y="0"/>
                </a:lnTo>
                <a:close/>
              </a:path>
            </a:pathLst>
          </a:custGeom>
          <a:blipFill>
            <a:blip r:embed="rId5"/>
            <a:stretch>
              <a:fillRect/>
            </a:stretch>
          </a:blipFill>
        </p:spPr>
      </p:sp>
      <p:sp>
        <p:nvSpPr>
          <p:cNvPr id="15" name="TextBox 15"/>
          <p:cNvSpPr txBox="1"/>
          <p:nvPr/>
        </p:nvSpPr>
        <p:spPr>
          <a:xfrm>
            <a:off x="576653" y="2056807"/>
            <a:ext cx="10190783" cy="1151165"/>
          </a:xfrm>
          <a:prstGeom prst="rect">
            <a:avLst/>
          </a:prstGeom>
        </p:spPr>
        <p:txBody>
          <a:bodyPr lIns="0" tIns="0" rIns="0" bIns="0" rtlCol="0" anchor="t">
            <a:spAutoFit/>
          </a:bodyPr>
          <a:lstStyle/>
          <a:p>
            <a:pPr algn="l">
              <a:lnSpc>
                <a:spcPts val="9495"/>
              </a:lnSpc>
            </a:pPr>
            <a:r>
              <a:rPr lang="en-US" sz="6780">
                <a:solidFill>
                  <a:srgbClr val="000000"/>
                </a:solidFill>
                <a:latin typeface="可画糯糯体-简" panose="020B0500000000000000" charset="-122"/>
                <a:ea typeface="可画糯糯体-简" panose="020B0500000000000000" charset="-122"/>
                <a:cs typeface="可画糯糯体-简" panose="020B0500000000000000" charset="-122"/>
                <a:sym typeface="可画糯糯体-简" panose="020B0500000000000000" charset="-122"/>
              </a:rPr>
              <a:t>核心数据结构关系：</a:t>
            </a:r>
            <a:endParaRPr lang="en-US" sz="6780">
              <a:solidFill>
                <a:srgbClr val="000000"/>
              </a:solidFill>
              <a:latin typeface="可画糯糯体-简" panose="020B0500000000000000" charset="-122"/>
              <a:ea typeface="可画糯糯体-简" panose="020B0500000000000000" charset="-122"/>
              <a:cs typeface="可画糯糯体-简" panose="020B0500000000000000" charset="-122"/>
              <a:sym typeface="可画糯糯体-简" panose="020B0500000000000000" charset="-122"/>
            </a:endParaRPr>
          </a:p>
        </p:txBody>
      </p:sp>
      <p:sp>
        <p:nvSpPr>
          <p:cNvPr id="16" name="Freeform 16"/>
          <p:cNvSpPr/>
          <p:nvPr/>
        </p:nvSpPr>
        <p:spPr>
          <a:xfrm>
            <a:off x="11954712" y="4079015"/>
            <a:ext cx="5804641" cy="4037342"/>
          </a:xfrm>
          <a:custGeom>
            <a:avLst/>
            <a:gdLst/>
            <a:ahLst/>
            <a:cxnLst/>
            <a:rect l="l" t="t" r="r" b="b"/>
            <a:pathLst>
              <a:path w="5804641" h="4037342">
                <a:moveTo>
                  <a:pt x="0" y="0"/>
                </a:moveTo>
                <a:lnTo>
                  <a:pt x="5804642" y="0"/>
                </a:lnTo>
                <a:lnTo>
                  <a:pt x="5804642" y="4037342"/>
                </a:lnTo>
                <a:lnTo>
                  <a:pt x="0" y="4037342"/>
                </a:lnTo>
                <a:lnTo>
                  <a:pt x="0" y="0"/>
                </a:lnTo>
                <a:close/>
              </a:path>
            </a:pathLst>
          </a:custGeom>
          <a:blipFill>
            <a:blip r:embed="rId6"/>
            <a:stretch>
              <a:fillRect t="-557" r="-3139" b="-557"/>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4127856"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grpSp>
        <p:nvGrpSpPr>
          <p:cNvPr id="8" name="Group 8"/>
          <p:cNvGrpSpPr/>
          <p:nvPr/>
        </p:nvGrpSpPr>
        <p:grpSpPr>
          <a:xfrm rot="0">
            <a:off x="708660" y="1434129"/>
            <a:ext cx="5042380" cy="778877"/>
            <a:chOff x="0" y="0"/>
            <a:chExt cx="6723174" cy="1038502"/>
          </a:xfrm>
        </p:grpSpPr>
        <p:sp>
          <p:nvSpPr>
            <p:cNvPr id="9" name="Freeform 9"/>
            <p:cNvSpPr/>
            <p:nvPr/>
          </p:nvSpPr>
          <p:spPr>
            <a:xfrm>
              <a:off x="0" y="0"/>
              <a:ext cx="6723173" cy="1038502"/>
            </a:xfrm>
            <a:custGeom>
              <a:avLst/>
              <a:gdLst/>
              <a:ahLst/>
              <a:cxnLst/>
              <a:rect l="l" t="t" r="r" b="b"/>
              <a:pathLst>
                <a:path w="6723173" h="1038502">
                  <a:moveTo>
                    <a:pt x="0" y="0"/>
                  </a:moveTo>
                  <a:lnTo>
                    <a:pt x="6723173" y="0"/>
                  </a:lnTo>
                  <a:lnTo>
                    <a:pt x="6723173" y="1038502"/>
                  </a:lnTo>
                  <a:lnTo>
                    <a:pt x="0" y="1038502"/>
                  </a:lnTo>
                  <a:close/>
                </a:path>
              </a:pathLst>
            </a:custGeom>
            <a:solidFill>
              <a:srgbClr val="014924"/>
            </a:solidFill>
          </p:spPr>
        </p:sp>
        <p:sp>
          <p:nvSpPr>
            <p:cNvPr id="10" name="TextBox 10"/>
            <p:cNvSpPr txBox="1"/>
            <p:nvPr/>
          </p:nvSpPr>
          <p:spPr>
            <a:xfrm>
              <a:off x="0" y="-19050"/>
              <a:ext cx="6723174" cy="1057552"/>
            </a:xfrm>
            <a:prstGeom prst="rect">
              <a:avLst/>
            </a:prstGeom>
          </p:spPr>
          <p:txBody>
            <a:bodyPr lIns="50800" tIns="50800" rIns="50800" bIns="50800" rtlCol="0" anchor="ctr"/>
            <a:lstStyle/>
            <a:p>
              <a:pPr algn="ctr">
                <a:lnSpc>
                  <a:spcPts val="3240"/>
                </a:lnSpc>
              </a:pPr>
              <a:r>
                <a:rPr lang="en-US" sz="2700" b="1">
                  <a:solidFill>
                    <a:srgbClr val="FFFFFF"/>
                  </a:solidFill>
                  <a:latin typeface="Arimo Bold" panose="020B0704020202020204"/>
                  <a:ea typeface="Arimo Bold" panose="020B0704020202020204"/>
                  <a:cs typeface="Arimo Bold" panose="020B0704020202020204"/>
                  <a:sym typeface="Arimo Bold" panose="020B0704020202020204"/>
                </a:rPr>
                <a:t>热度时间窗口</a:t>
              </a:r>
              <a:endParaRPr lang="en-US" sz="27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sp>
        <p:nvSpPr>
          <p:cNvPr id="11" name="TextBox 11"/>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4</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2" name="TextBox 12"/>
          <p:cNvSpPr txBox="1"/>
          <p:nvPr/>
        </p:nvSpPr>
        <p:spPr>
          <a:xfrm>
            <a:off x="1461683" y="198914"/>
            <a:ext cx="3171881"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设计与实现</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sp>
        <p:nvSpPr>
          <p:cNvPr id="13" name="TextBox 13"/>
          <p:cNvSpPr txBox="1"/>
          <p:nvPr/>
        </p:nvSpPr>
        <p:spPr>
          <a:xfrm>
            <a:off x="3139064" y="322422"/>
            <a:ext cx="9521658" cy="480060"/>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DESIGN &amp; IMPLEMENTATION</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
        <p:nvSpPr>
          <p:cNvPr id="14" name="TextBox 14"/>
          <p:cNvSpPr txBox="1"/>
          <p:nvPr/>
        </p:nvSpPr>
        <p:spPr>
          <a:xfrm>
            <a:off x="708660" y="3005468"/>
            <a:ext cx="9102499" cy="3276600"/>
          </a:xfrm>
          <a:prstGeom prst="rect">
            <a:avLst/>
          </a:prstGeom>
        </p:spPr>
        <p:txBody>
          <a:bodyPr lIns="0" tIns="0" rIns="0" bIns="0" rtlCol="0" anchor="t">
            <a:spAutoFit/>
          </a:bodyPr>
          <a:lstStyle/>
          <a:p>
            <a:pPr algn="l">
              <a:lnSpc>
                <a:spcPts val="3240"/>
              </a:lnSpc>
            </a:pPr>
            <a:r>
              <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我们设定</a:t>
            </a:r>
            <a:r>
              <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了一个10ms的缓存热度时间窗口：</a:t>
            </a:r>
            <a:endPar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marL="582930" lvl="1" indent="-291465" algn="l">
              <a:lnSpc>
                <a:spcPts val="3240"/>
              </a:lnSpc>
              <a:buFont typeface="Arial" panose="020B0604020202020204"/>
              <a:buChar char="•"/>
            </a:pPr>
            <a:r>
              <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窗口内：任务的缓存热度仍然有效，优先回到原C</a:t>
            </a:r>
            <a:r>
              <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P</a:t>
            </a:r>
            <a:r>
              <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U</a:t>
            </a:r>
            <a:endPar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marL="582930" lvl="1" indent="-291465" algn="l">
              <a:lnSpc>
                <a:spcPts val="3240"/>
              </a:lnSpc>
              <a:buFont typeface="Arial" panose="020B0604020202020204"/>
              <a:buChar char="•"/>
            </a:pPr>
            <a:r>
              <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窗口外：缓存已经"冷"了，可以迁移到其他CPU</a:t>
            </a:r>
            <a:endPar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3240"/>
              </a:lnSpc>
            </a:pPr>
            <a:r>
              <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为什么是10ms？通过实验我们发现：</a:t>
            </a:r>
            <a:endPar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marL="582930" lvl="1" indent="-291465" algn="l">
              <a:lnSpc>
                <a:spcPts val="3240"/>
              </a:lnSpc>
              <a:buFont typeface="Arial" panose="020B0604020202020204"/>
              <a:buChar char="•"/>
            </a:pPr>
            <a:r>
              <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太短（1ms）：效果不明显</a:t>
            </a:r>
            <a:endPar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marL="582930" lvl="1" indent="-291465" algn="l">
              <a:lnSpc>
                <a:spcPts val="3240"/>
              </a:lnSpc>
              <a:buFont typeface="Arial" panose="020B0604020202020204"/>
              <a:buChar char="•"/>
            </a:pPr>
            <a:r>
              <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太长（100ms）：影响负载均衡</a:t>
            </a:r>
            <a:endPar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marL="582930" lvl="1" indent="-291465" algn="l">
              <a:lnSpc>
                <a:spcPts val="3240"/>
              </a:lnSpc>
              <a:buFont typeface="Arial" panose="020B0604020202020204"/>
              <a:buChar char="•"/>
            </a:pPr>
            <a:r>
              <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rPr>
              <a:t>10ms：较好平衡缓存保护和负载均衡</a:t>
            </a:r>
            <a:endParaRPr lang="en-US" sz="2700">
              <a:solidFill>
                <a:srgbClr val="000000"/>
              </a:solidFill>
              <a:latin typeface="思源宋体" panose="02020400000000000000" charset="-122"/>
              <a:ea typeface="思源宋体" panose="02020400000000000000" charset="-122"/>
              <a:cs typeface="思源宋体" panose="02020400000000000000" charset="-122"/>
              <a:sym typeface="思源宋体" panose="02020400000000000000" charset="-122"/>
            </a:endParaRPr>
          </a:p>
          <a:p>
            <a:pPr algn="l">
              <a:lnSpc>
                <a:spcPts val="3240"/>
              </a:lnSpc>
            </a:pPr>
          </a:p>
        </p:txBody>
      </p:sp>
      <p:sp>
        <p:nvSpPr>
          <p:cNvPr id="15" name="TextBox 15"/>
          <p:cNvSpPr txBox="1"/>
          <p:nvPr/>
        </p:nvSpPr>
        <p:spPr>
          <a:xfrm>
            <a:off x="4918276" y="7472659"/>
            <a:ext cx="12602890" cy="2076450"/>
          </a:xfrm>
          <a:prstGeom prst="rect">
            <a:avLst/>
          </a:prstGeom>
        </p:spPr>
        <p:txBody>
          <a:bodyPr lIns="0" tIns="0" rIns="0" bIns="0" rtlCol="0" anchor="t">
            <a:spAutoFit/>
          </a:bodyPr>
          <a:lstStyle/>
          <a:p>
            <a:pPr algn="l">
              <a:lnSpc>
                <a:spcPts val="2760"/>
              </a:lnSpc>
            </a:pPr>
            <a:r>
              <a:rPr lang="en-US" sz="2300">
                <a:solidFill>
                  <a:srgbClr val="000000"/>
                </a:solidFill>
                <a:latin typeface="Arimo" panose="020B0604020202020204"/>
                <a:ea typeface="Arimo" panose="020B0604020202020204"/>
                <a:cs typeface="Arimo" panose="020B0604020202020204"/>
                <a:sym typeface="Arimo" panose="020B0604020202020204"/>
              </a:rPr>
              <a:t>Scheduling_Score(cpu_i) = w₁ · Cache_Affinity(cpu_i) + w₂ · Load_Balance(cpu_i)</a:t>
            </a:r>
            <a:endParaRPr lang="en-US" sz="2300">
              <a:solidFill>
                <a:srgbClr val="000000"/>
              </a:solidFill>
              <a:latin typeface="Arimo" panose="020B0604020202020204"/>
              <a:ea typeface="Arimo" panose="020B0604020202020204"/>
              <a:cs typeface="Arimo" panose="020B0604020202020204"/>
              <a:sym typeface="Arimo" panose="020B0604020202020204"/>
            </a:endParaRPr>
          </a:p>
          <a:p>
            <a:pPr algn="l">
              <a:lnSpc>
                <a:spcPts val="2760"/>
              </a:lnSpc>
            </a:pPr>
            <a:r>
              <a:rPr lang="en-US" sz="2300">
                <a:solidFill>
                  <a:srgbClr val="000000"/>
                </a:solidFill>
                <a:latin typeface="Arimo" panose="020B0604020202020204"/>
                <a:ea typeface="Arimo" panose="020B0604020202020204"/>
                <a:cs typeface="Arimo" panose="020B0604020202020204"/>
                <a:sym typeface="Arimo" panose="020B0604020202020204"/>
              </a:rPr>
              <a:t>其中：</a:t>
            </a:r>
            <a:endParaRPr lang="en-US" sz="2300">
              <a:solidFill>
                <a:srgbClr val="000000"/>
              </a:solidFill>
              <a:latin typeface="Arimo" panose="020B0604020202020204"/>
              <a:ea typeface="Arimo" panose="020B0604020202020204"/>
              <a:cs typeface="Arimo" panose="020B0604020202020204"/>
              <a:sym typeface="Arimo" panose="020B0604020202020204"/>
            </a:endParaRPr>
          </a:p>
          <a:p>
            <a:pPr algn="l">
              <a:lnSpc>
                <a:spcPts val="2760"/>
              </a:lnSpc>
            </a:pPr>
            <a:r>
              <a:rPr lang="en-US" sz="2300">
                <a:solidFill>
                  <a:srgbClr val="000000"/>
                </a:solidFill>
                <a:latin typeface="Arimo" panose="020B0604020202020204"/>
                <a:ea typeface="Arimo" panose="020B0604020202020204"/>
                <a:cs typeface="Arimo" panose="020B0604020202020204"/>
                <a:sym typeface="Arimo" panose="020B0604020202020204"/>
              </a:rPr>
              <a:t>Cache_Affinity(cpu_i) = Cache_Effectiveness(t_last, distance(last_cpu, cpu_i))</a:t>
            </a:r>
            <a:endParaRPr lang="en-US" sz="2300">
              <a:solidFill>
                <a:srgbClr val="000000"/>
              </a:solidFill>
              <a:latin typeface="Arimo" panose="020B0604020202020204"/>
              <a:ea typeface="Arimo" panose="020B0604020202020204"/>
              <a:cs typeface="Arimo" panose="020B0604020202020204"/>
              <a:sym typeface="Arimo" panose="020B0604020202020204"/>
            </a:endParaRPr>
          </a:p>
          <a:p>
            <a:pPr algn="l">
              <a:lnSpc>
                <a:spcPts val="2760"/>
              </a:lnSpc>
            </a:pPr>
            <a:r>
              <a:rPr lang="en-US" sz="2300">
                <a:solidFill>
                  <a:srgbClr val="000000"/>
                </a:solidFill>
                <a:latin typeface="Arimo" panose="020B0604020202020204"/>
                <a:ea typeface="Arimo" panose="020B0604020202020204"/>
                <a:cs typeface="Arimo" panose="020B0604020202020204"/>
                <a:sym typeface="Arimo" panose="020B0604020202020204"/>
              </a:rPr>
              <a:t>Load_Balance(cpu_i) = 1 / (1 + normalized_load(cpu_i))</a:t>
            </a:r>
            <a:endParaRPr lang="en-US" sz="2300">
              <a:solidFill>
                <a:srgbClr val="000000"/>
              </a:solidFill>
              <a:latin typeface="Arimo" panose="020B0604020202020204"/>
              <a:ea typeface="Arimo" panose="020B0604020202020204"/>
              <a:cs typeface="Arimo" panose="020B0604020202020204"/>
              <a:sym typeface="Arimo" panose="020B0604020202020204"/>
            </a:endParaRPr>
          </a:p>
          <a:p>
            <a:pPr algn="l">
              <a:lnSpc>
                <a:spcPts val="2760"/>
              </a:lnSpc>
            </a:pPr>
            <a:r>
              <a:rPr lang="en-US" sz="2300">
                <a:solidFill>
                  <a:srgbClr val="000000"/>
                </a:solidFill>
                <a:latin typeface="Arimo" panose="020B0604020202020204"/>
                <a:ea typeface="Arimo" panose="020B0604020202020204"/>
                <a:cs typeface="Arimo" panose="020B0604020202020204"/>
                <a:sym typeface="Arimo" panose="020B0604020202020204"/>
              </a:rPr>
              <a:t>w₁ + w₂ = 1, 权重根据系统状态动态调整</a:t>
            </a:r>
            <a:endParaRPr lang="en-US" sz="2300">
              <a:solidFill>
                <a:srgbClr val="000000"/>
              </a:solidFill>
              <a:latin typeface="Arimo" panose="020B0604020202020204"/>
              <a:ea typeface="Arimo" panose="020B0604020202020204"/>
              <a:cs typeface="Arimo" panose="020B0604020202020204"/>
              <a:sym typeface="Arimo" panose="020B0604020202020204"/>
            </a:endParaRPr>
          </a:p>
          <a:p>
            <a:pPr algn="l">
              <a:lnSpc>
                <a:spcPts val="2760"/>
              </a:lnSpc>
              <a:spcBef>
                <a:spcPct val="0"/>
              </a:spcBef>
            </a:pPr>
          </a:p>
        </p:txBody>
      </p:sp>
      <p:sp>
        <p:nvSpPr>
          <p:cNvPr id="16" name="TextBox 16"/>
          <p:cNvSpPr txBox="1"/>
          <p:nvPr/>
        </p:nvSpPr>
        <p:spPr>
          <a:xfrm>
            <a:off x="9811159" y="2742215"/>
            <a:ext cx="8334821" cy="3619500"/>
          </a:xfrm>
          <a:prstGeom prst="rect">
            <a:avLst/>
          </a:prstGeom>
        </p:spPr>
        <p:txBody>
          <a:bodyPr lIns="0" tIns="0" rIns="0" bIns="0" rtlCol="0" anchor="t">
            <a:spAutoFit/>
          </a:bodyPr>
          <a:lstStyle/>
          <a:p>
            <a:pPr algn="l">
              <a:lnSpc>
                <a:spcPts val="3160"/>
              </a:lnSpc>
            </a:pPr>
            <a:r>
              <a:rPr lang="en-US" sz="2635">
                <a:solidFill>
                  <a:srgbClr val="000000"/>
                </a:solidFill>
                <a:latin typeface="Arimo" panose="020B0604020202020204"/>
                <a:ea typeface="Arimo" panose="020B0604020202020204"/>
                <a:cs typeface="Arimo" panose="020B0604020202020204"/>
                <a:sym typeface="Arimo" panose="020B0604020202020204"/>
              </a:rPr>
              <a:t>动态平衡机制：</a:t>
            </a:r>
            <a:endParaRPr lang="en-US" sz="2635">
              <a:solidFill>
                <a:srgbClr val="000000"/>
              </a:solidFill>
              <a:latin typeface="Arimo" panose="020B0604020202020204"/>
              <a:ea typeface="Arimo" panose="020B0604020202020204"/>
              <a:cs typeface="Arimo" panose="020B0604020202020204"/>
              <a:sym typeface="Arimo" panose="020B0604020202020204"/>
            </a:endParaRPr>
          </a:p>
          <a:p>
            <a:pPr algn="l">
              <a:lnSpc>
                <a:spcPts val="3160"/>
              </a:lnSpc>
              <a:spcBef>
                <a:spcPct val="0"/>
              </a:spcBef>
            </a:pPr>
            <a:r>
              <a:rPr lang="en-US" sz="2635">
                <a:solidFill>
                  <a:srgbClr val="000000"/>
                </a:solidFill>
                <a:latin typeface="Arimo" panose="020B0604020202020204"/>
                <a:ea typeface="Arimo" panose="020B0604020202020204"/>
                <a:cs typeface="Arimo" panose="020B0604020202020204"/>
                <a:sym typeface="Arimo" panose="020B0604020202020204"/>
              </a:rPr>
              <a:t>Yat_Casched实现了缓存亲和性与负载均衡</a:t>
            </a:r>
            <a:r>
              <a:rPr lang="en-US" sz="2635">
                <a:solidFill>
                  <a:srgbClr val="000000"/>
                </a:solidFill>
                <a:latin typeface="Arimo" panose="020B0604020202020204"/>
                <a:ea typeface="Arimo" panose="020B0604020202020204"/>
                <a:cs typeface="Arimo" panose="020B0604020202020204"/>
                <a:sym typeface="Arimo" panose="020B0604020202020204"/>
              </a:rPr>
              <a:t>的智能权衡：</a:t>
            </a:r>
            <a:endParaRPr lang="en-US" sz="2635">
              <a:solidFill>
                <a:srgbClr val="000000"/>
              </a:solidFill>
              <a:latin typeface="Arimo" panose="020B0604020202020204"/>
              <a:ea typeface="Arimo" panose="020B0604020202020204"/>
              <a:cs typeface="Arimo" panose="020B0604020202020204"/>
              <a:sym typeface="Arimo" panose="020B0604020202020204"/>
            </a:endParaRPr>
          </a:p>
          <a:p>
            <a:pPr algn="l">
              <a:lnSpc>
                <a:spcPts val="3160"/>
              </a:lnSpc>
              <a:spcBef>
                <a:spcPct val="0"/>
              </a:spcBef>
            </a:pPr>
            <a:r>
              <a:rPr lang="en-US" sz="2635">
                <a:solidFill>
                  <a:srgbClr val="000000"/>
                </a:solidFill>
                <a:latin typeface="Arimo" panose="020B0604020202020204"/>
                <a:ea typeface="Arimo" panose="020B0604020202020204"/>
                <a:cs typeface="Arimo" panose="020B0604020202020204"/>
                <a:sym typeface="Arimo" panose="020B0604020202020204"/>
              </a:rPr>
              <a:t>短期策略（≤ 10ms）：缓存亲和性优先</a:t>
            </a:r>
            <a:endParaRPr lang="en-US" sz="2635">
              <a:solidFill>
                <a:srgbClr val="000000"/>
              </a:solidFill>
              <a:latin typeface="Arimo" panose="020B0604020202020204"/>
              <a:ea typeface="Arimo" panose="020B0604020202020204"/>
              <a:cs typeface="Arimo" panose="020B0604020202020204"/>
              <a:sym typeface="Arimo" panose="020B0604020202020204"/>
            </a:endParaRPr>
          </a:p>
          <a:p>
            <a:pPr marL="568325" lvl="1" indent="-284480" algn="l">
              <a:lnSpc>
                <a:spcPts val="3160"/>
              </a:lnSpc>
              <a:spcBef>
                <a:spcPct val="0"/>
              </a:spcBef>
              <a:buFont typeface="Arial" panose="020B0604020202020204"/>
              <a:buChar char="•"/>
            </a:pPr>
            <a:r>
              <a:rPr lang="en-US" sz="2635">
                <a:solidFill>
                  <a:srgbClr val="000000"/>
                </a:solidFill>
                <a:latin typeface="Arimo" panose="020B0604020202020204"/>
                <a:ea typeface="Arimo" panose="020B0604020202020204"/>
                <a:cs typeface="Arimo" panose="020B0604020202020204"/>
                <a:sym typeface="Arimo" panose="020B0604020202020204"/>
              </a:rPr>
              <a:t>强制保持任务在原CPU，即使负载稍高</a:t>
            </a:r>
            <a:endParaRPr lang="en-US" sz="2635">
              <a:solidFill>
                <a:srgbClr val="000000"/>
              </a:solidFill>
              <a:latin typeface="Arimo" panose="020B0604020202020204"/>
              <a:ea typeface="Arimo" panose="020B0604020202020204"/>
              <a:cs typeface="Arimo" panose="020B0604020202020204"/>
              <a:sym typeface="Arimo" panose="020B0604020202020204"/>
            </a:endParaRPr>
          </a:p>
          <a:p>
            <a:pPr marL="568325" lvl="1" indent="-284480" algn="l">
              <a:lnSpc>
                <a:spcPts val="3160"/>
              </a:lnSpc>
              <a:spcBef>
                <a:spcPct val="0"/>
              </a:spcBef>
              <a:buFont typeface="Arial" panose="020B0604020202020204"/>
              <a:buChar char="•"/>
            </a:pPr>
            <a:r>
              <a:rPr lang="en-US" sz="2635">
                <a:solidFill>
                  <a:srgbClr val="000000"/>
                </a:solidFill>
                <a:latin typeface="Arimo" panose="020B0604020202020204"/>
                <a:ea typeface="Arimo" panose="020B0604020202020204"/>
                <a:cs typeface="Arimo" panose="020B0604020202020204"/>
                <a:sym typeface="Arimo" panose="020B0604020202020204"/>
              </a:rPr>
              <a:t>避免频繁迁移造成的缓存失效</a:t>
            </a:r>
            <a:endParaRPr lang="en-US" sz="2635">
              <a:solidFill>
                <a:srgbClr val="000000"/>
              </a:solidFill>
              <a:latin typeface="Arimo" panose="020B0604020202020204"/>
              <a:ea typeface="Arimo" panose="020B0604020202020204"/>
              <a:cs typeface="Arimo" panose="020B0604020202020204"/>
              <a:sym typeface="Arimo" panose="020B0604020202020204"/>
            </a:endParaRPr>
          </a:p>
          <a:p>
            <a:pPr algn="l">
              <a:lnSpc>
                <a:spcPts val="3160"/>
              </a:lnSpc>
              <a:spcBef>
                <a:spcPct val="0"/>
              </a:spcBef>
            </a:pPr>
            <a:r>
              <a:rPr lang="en-US" sz="2635">
                <a:solidFill>
                  <a:srgbClr val="000000"/>
                </a:solidFill>
                <a:latin typeface="Arimo" panose="020B0604020202020204"/>
                <a:ea typeface="Arimo" panose="020B0604020202020204"/>
                <a:cs typeface="Arimo" panose="020B0604020202020204"/>
                <a:sym typeface="Arimo" panose="020B0604020202020204"/>
              </a:rPr>
              <a:t>长期策略（&gt; 10ms）：负载均衡主导</a:t>
            </a:r>
            <a:endParaRPr lang="en-US" sz="2635">
              <a:solidFill>
                <a:srgbClr val="000000"/>
              </a:solidFill>
              <a:latin typeface="Arimo" panose="020B0604020202020204"/>
              <a:ea typeface="Arimo" panose="020B0604020202020204"/>
              <a:cs typeface="Arimo" panose="020B0604020202020204"/>
              <a:sym typeface="Arimo" panose="020B0604020202020204"/>
            </a:endParaRPr>
          </a:p>
          <a:p>
            <a:pPr marL="568325" lvl="1" indent="-284480" algn="l">
              <a:lnSpc>
                <a:spcPts val="3160"/>
              </a:lnSpc>
              <a:spcBef>
                <a:spcPct val="0"/>
              </a:spcBef>
              <a:buFont typeface="Arial" panose="020B0604020202020204"/>
              <a:buChar char="•"/>
            </a:pPr>
            <a:r>
              <a:rPr lang="en-US" sz="2635">
                <a:solidFill>
                  <a:srgbClr val="000000"/>
                </a:solidFill>
                <a:latin typeface="Arimo" panose="020B0604020202020204"/>
                <a:ea typeface="Arimo" panose="020B0604020202020204"/>
                <a:cs typeface="Arimo" panose="020B0604020202020204"/>
                <a:sym typeface="Arimo" panose="020B0604020202020204"/>
              </a:rPr>
              <a:t>允许迁移到负载更轻的CPU</a:t>
            </a:r>
            <a:endParaRPr lang="en-US" sz="2635">
              <a:solidFill>
                <a:srgbClr val="000000"/>
              </a:solidFill>
              <a:latin typeface="Arimo" panose="020B0604020202020204"/>
              <a:ea typeface="Arimo" panose="020B0604020202020204"/>
              <a:cs typeface="Arimo" panose="020B0604020202020204"/>
              <a:sym typeface="Arimo" panose="020B0604020202020204"/>
            </a:endParaRPr>
          </a:p>
          <a:p>
            <a:pPr marL="568325" lvl="1" indent="-284480" algn="l">
              <a:lnSpc>
                <a:spcPts val="3160"/>
              </a:lnSpc>
              <a:spcBef>
                <a:spcPct val="0"/>
              </a:spcBef>
              <a:buFont typeface="Arial" panose="020B0604020202020204"/>
              <a:buChar char="•"/>
            </a:pPr>
            <a:r>
              <a:rPr lang="en-US" sz="2635">
                <a:solidFill>
                  <a:srgbClr val="000000"/>
                </a:solidFill>
                <a:latin typeface="Arimo" panose="020B0604020202020204"/>
                <a:ea typeface="Arimo" panose="020B0604020202020204"/>
                <a:cs typeface="Arimo" panose="020B0604020202020204"/>
                <a:sym typeface="Arimo" panose="020B0604020202020204"/>
              </a:rPr>
              <a:t>保证系统整体性能平衡</a:t>
            </a:r>
            <a:endParaRPr lang="en-US" sz="2635">
              <a:solidFill>
                <a:srgbClr val="000000"/>
              </a:solidFill>
              <a:latin typeface="Arimo" panose="020B0604020202020204"/>
              <a:ea typeface="Arimo" panose="020B0604020202020204"/>
              <a:cs typeface="Arimo" panose="020B0604020202020204"/>
              <a:sym typeface="Arimo" panose="020B0604020202020204"/>
            </a:endParaRPr>
          </a:p>
          <a:p>
            <a:pPr algn="l">
              <a:lnSpc>
                <a:spcPts val="3160"/>
              </a:lnSpc>
              <a:spcBef>
                <a:spcPct val="0"/>
              </a:spcBef>
            </a:pPr>
          </a:p>
        </p:txBody>
      </p:sp>
      <p:sp>
        <p:nvSpPr>
          <p:cNvPr id="17" name="TextBox 17"/>
          <p:cNvSpPr txBox="1"/>
          <p:nvPr/>
        </p:nvSpPr>
        <p:spPr>
          <a:xfrm>
            <a:off x="2468029" y="6596393"/>
            <a:ext cx="3699067" cy="1151165"/>
          </a:xfrm>
          <a:prstGeom prst="rect">
            <a:avLst/>
          </a:prstGeom>
        </p:spPr>
        <p:txBody>
          <a:bodyPr lIns="0" tIns="0" rIns="0" bIns="0" rtlCol="0" anchor="t">
            <a:spAutoFit/>
          </a:bodyPr>
          <a:lstStyle/>
          <a:p>
            <a:pPr algn="l">
              <a:lnSpc>
                <a:spcPts val="9495"/>
              </a:lnSpc>
            </a:pPr>
            <a:r>
              <a:rPr lang="en-US" sz="6780">
                <a:solidFill>
                  <a:srgbClr val="000000"/>
                </a:solidFill>
                <a:latin typeface="可画糯糯体-简" panose="020B0500000000000000" charset="-122"/>
                <a:ea typeface="可画糯糯体-简" panose="020B0500000000000000" charset="-122"/>
                <a:cs typeface="可画糯糯体-简" panose="020B0500000000000000" charset="-122"/>
                <a:sym typeface="可画糯糯体-简" panose="020B0500000000000000" charset="-122"/>
              </a:rPr>
              <a:t>定义：</a:t>
            </a:r>
            <a:endParaRPr lang="en-US" sz="6780">
              <a:solidFill>
                <a:srgbClr val="000000"/>
              </a:solidFill>
              <a:latin typeface="可画糯糯体-简" panose="020B0500000000000000" charset="-122"/>
              <a:ea typeface="可画糯糯体-简" panose="020B0500000000000000" charset="-122"/>
              <a:cs typeface="可画糯糯体-简" panose="020B0500000000000000" charset="-122"/>
              <a:sym typeface="可画糯糯体-简" panose="020B0500000000000000"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4127856"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grpSp>
        <p:nvGrpSpPr>
          <p:cNvPr id="8" name="Group 8"/>
          <p:cNvGrpSpPr/>
          <p:nvPr/>
        </p:nvGrpSpPr>
        <p:grpSpPr>
          <a:xfrm rot="0">
            <a:off x="772778" y="1127590"/>
            <a:ext cx="3758895" cy="626250"/>
            <a:chOff x="0" y="0"/>
            <a:chExt cx="5011860" cy="835000"/>
          </a:xfrm>
        </p:grpSpPr>
        <p:sp>
          <p:nvSpPr>
            <p:cNvPr id="9" name="Freeform 9"/>
            <p:cNvSpPr/>
            <p:nvPr/>
          </p:nvSpPr>
          <p:spPr>
            <a:xfrm>
              <a:off x="0" y="0"/>
              <a:ext cx="5011801" cy="835000"/>
            </a:xfrm>
            <a:custGeom>
              <a:avLst/>
              <a:gdLst/>
              <a:ahLst/>
              <a:cxnLst/>
              <a:rect l="l" t="t" r="r" b="b"/>
              <a:pathLst>
                <a:path w="5011801" h="835000">
                  <a:moveTo>
                    <a:pt x="0" y="0"/>
                  </a:moveTo>
                  <a:lnTo>
                    <a:pt x="5011801" y="0"/>
                  </a:lnTo>
                  <a:lnTo>
                    <a:pt x="5011801" y="835000"/>
                  </a:lnTo>
                  <a:lnTo>
                    <a:pt x="0" y="835000"/>
                  </a:lnTo>
                  <a:close/>
                </a:path>
              </a:pathLst>
            </a:custGeom>
            <a:solidFill>
              <a:srgbClr val="014924"/>
            </a:solidFill>
          </p:spPr>
        </p:sp>
        <p:sp>
          <p:nvSpPr>
            <p:cNvPr id="10" name="TextBox 10"/>
            <p:cNvSpPr txBox="1"/>
            <p:nvPr/>
          </p:nvSpPr>
          <p:spPr>
            <a:xfrm>
              <a:off x="0" y="-19050"/>
              <a:ext cx="5011860" cy="854050"/>
            </a:xfrm>
            <a:prstGeom prst="rect">
              <a:avLst/>
            </a:prstGeom>
          </p:spPr>
          <p:txBody>
            <a:bodyPr lIns="50800" tIns="50800" rIns="50800" bIns="50800" rtlCol="0" anchor="ctr"/>
            <a:lstStyle/>
            <a:p>
              <a:pPr algn="ctr">
                <a:lnSpc>
                  <a:spcPts val="3240"/>
                </a:lnSpc>
              </a:pPr>
              <a:r>
                <a:rPr lang="en-US" sz="2700" b="1">
                  <a:solidFill>
                    <a:srgbClr val="FFFFFF"/>
                  </a:solidFill>
                  <a:latin typeface="Arimo Bold" panose="020B0704020202020204"/>
                  <a:ea typeface="Arimo Bold" panose="020B0704020202020204"/>
                  <a:cs typeface="Arimo Bold" panose="020B0704020202020204"/>
                  <a:sym typeface="Arimo Bold" panose="020B0704020202020204"/>
                </a:rPr>
                <a:t>核心实现</a:t>
              </a:r>
              <a:endParaRPr lang="en-US" sz="27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sp>
        <p:nvSpPr>
          <p:cNvPr id="11" name="Freeform 11"/>
          <p:cNvSpPr/>
          <p:nvPr/>
        </p:nvSpPr>
        <p:spPr>
          <a:xfrm>
            <a:off x="292552" y="2608973"/>
            <a:ext cx="7501616" cy="5959931"/>
          </a:xfrm>
          <a:custGeom>
            <a:avLst/>
            <a:gdLst/>
            <a:ahLst/>
            <a:cxnLst/>
            <a:rect l="l" t="t" r="r" b="b"/>
            <a:pathLst>
              <a:path w="7501616" h="5959931">
                <a:moveTo>
                  <a:pt x="0" y="0"/>
                </a:moveTo>
                <a:lnTo>
                  <a:pt x="7501617" y="0"/>
                </a:lnTo>
                <a:lnTo>
                  <a:pt x="7501617" y="5959930"/>
                </a:lnTo>
                <a:lnTo>
                  <a:pt x="0" y="5959930"/>
                </a:lnTo>
                <a:lnTo>
                  <a:pt x="0" y="0"/>
                </a:lnTo>
                <a:close/>
              </a:path>
            </a:pathLst>
          </a:custGeom>
          <a:blipFill>
            <a:blip r:embed="rId5"/>
            <a:stretch>
              <a:fillRect/>
            </a:stretch>
          </a:blipFill>
        </p:spPr>
      </p:sp>
      <p:sp>
        <p:nvSpPr>
          <p:cNvPr id="12" name="Freeform 12"/>
          <p:cNvSpPr/>
          <p:nvPr/>
        </p:nvSpPr>
        <p:spPr>
          <a:xfrm>
            <a:off x="9045224" y="2608973"/>
            <a:ext cx="8880803" cy="6205461"/>
          </a:xfrm>
          <a:custGeom>
            <a:avLst/>
            <a:gdLst/>
            <a:ahLst/>
            <a:cxnLst/>
            <a:rect l="l" t="t" r="r" b="b"/>
            <a:pathLst>
              <a:path w="8880803" h="6205461">
                <a:moveTo>
                  <a:pt x="0" y="0"/>
                </a:moveTo>
                <a:lnTo>
                  <a:pt x="8880803" y="0"/>
                </a:lnTo>
                <a:lnTo>
                  <a:pt x="8880803" y="6205461"/>
                </a:lnTo>
                <a:lnTo>
                  <a:pt x="0" y="6205461"/>
                </a:lnTo>
                <a:lnTo>
                  <a:pt x="0" y="0"/>
                </a:lnTo>
                <a:close/>
              </a:path>
            </a:pathLst>
          </a:custGeom>
          <a:blipFill>
            <a:blip r:embed="rId6"/>
            <a:stretch>
              <a:fillRect/>
            </a:stretch>
          </a:blipFill>
        </p:spPr>
      </p:sp>
      <p:sp>
        <p:nvSpPr>
          <p:cNvPr id="13" name="TextBox 13"/>
          <p:cNvSpPr txBox="1"/>
          <p:nvPr/>
        </p:nvSpPr>
        <p:spPr>
          <a:xfrm>
            <a:off x="189999" y="32919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4</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4" name="TextBox 14"/>
          <p:cNvSpPr txBox="1"/>
          <p:nvPr/>
        </p:nvSpPr>
        <p:spPr>
          <a:xfrm>
            <a:off x="1461683" y="198914"/>
            <a:ext cx="3171881"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设计与实现</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sp>
        <p:nvSpPr>
          <p:cNvPr id="15" name="TextBox 15"/>
          <p:cNvSpPr txBox="1"/>
          <p:nvPr/>
        </p:nvSpPr>
        <p:spPr>
          <a:xfrm>
            <a:off x="3139064" y="322422"/>
            <a:ext cx="9521658" cy="480060"/>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DESIGN &amp; IMPLEMENTATION</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9481764" y="4029974"/>
            <a:ext cx="8806236" cy="2313674"/>
            <a:chOff x="0" y="0"/>
            <a:chExt cx="11741648" cy="3084898"/>
          </a:xfrm>
        </p:grpSpPr>
        <p:sp>
          <p:nvSpPr>
            <p:cNvPr id="4" name="Freeform 4"/>
            <p:cNvSpPr/>
            <p:nvPr/>
          </p:nvSpPr>
          <p:spPr>
            <a:xfrm>
              <a:off x="0" y="0"/>
              <a:ext cx="11741658" cy="3084957"/>
            </a:xfrm>
            <a:custGeom>
              <a:avLst/>
              <a:gdLst/>
              <a:ahLst/>
              <a:cxnLst/>
              <a:rect l="l" t="t" r="r" b="b"/>
              <a:pathLst>
                <a:path w="11741658" h="3084957">
                  <a:moveTo>
                    <a:pt x="0" y="0"/>
                  </a:moveTo>
                  <a:lnTo>
                    <a:pt x="11741658" y="0"/>
                  </a:lnTo>
                  <a:lnTo>
                    <a:pt x="11741658" y="3084957"/>
                  </a:lnTo>
                  <a:lnTo>
                    <a:pt x="0" y="3084957"/>
                  </a:lnTo>
                  <a:lnTo>
                    <a:pt x="0" y="0"/>
                  </a:lnTo>
                  <a:close/>
                </a:path>
              </a:pathLst>
            </a:custGeom>
            <a:blipFill>
              <a:blip r:embed="rId2"/>
              <a:stretch>
                <a:fillRect t="-74003" r="-17268" b="-160884"/>
              </a:stretch>
            </a:blipFill>
          </p:spPr>
        </p:sp>
      </p:grpSp>
      <p:grpSp>
        <p:nvGrpSpPr>
          <p:cNvPr id="5" name="Group 5"/>
          <p:cNvGrpSpPr/>
          <p:nvPr/>
        </p:nvGrpSpPr>
        <p:grpSpPr>
          <a:xfrm rot="0">
            <a:off x="4286250" y="4029074"/>
            <a:ext cx="14001750" cy="2314574"/>
            <a:chOff x="0" y="0"/>
            <a:chExt cx="18669000" cy="3086098"/>
          </a:xfrm>
        </p:grpSpPr>
        <p:sp>
          <p:nvSpPr>
            <p:cNvPr id="6" name="Freeform 6"/>
            <p:cNvSpPr/>
            <p:nvPr/>
          </p:nvSpPr>
          <p:spPr>
            <a:xfrm>
              <a:off x="0" y="0"/>
              <a:ext cx="18669000" cy="3086100"/>
            </a:xfrm>
            <a:custGeom>
              <a:avLst/>
              <a:gdLst/>
              <a:ahLst/>
              <a:cxnLst/>
              <a:rect l="l" t="t" r="r" b="b"/>
              <a:pathLst>
                <a:path w="18669000" h="3086100">
                  <a:moveTo>
                    <a:pt x="0" y="0"/>
                  </a:moveTo>
                  <a:lnTo>
                    <a:pt x="18669000" y="0"/>
                  </a:lnTo>
                  <a:lnTo>
                    <a:pt x="18669000" y="3086100"/>
                  </a:lnTo>
                  <a:lnTo>
                    <a:pt x="0" y="3086100"/>
                  </a:lnTo>
                  <a:close/>
                </a:path>
              </a:pathLst>
            </a:custGeom>
            <a:gradFill rotWithShape="1">
              <a:gsLst>
                <a:gs pos="0">
                  <a:srgbClr val="014924">
                    <a:alpha val="100000"/>
                  </a:srgbClr>
                </a:gs>
                <a:gs pos="35000">
                  <a:srgbClr val="014924">
                    <a:alpha val="100000"/>
                  </a:srgbClr>
                </a:gs>
                <a:gs pos="59000">
                  <a:srgbClr val="014924">
                    <a:alpha val="95000"/>
                  </a:srgbClr>
                </a:gs>
                <a:gs pos="77000">
                  <a:srgbClr val="014924">
                    <a:alpha val="70000"/>
                  </a:srgbClr>
                </a:gs>
                <a:gs pos="100000">
                  <a:srgbClr val="014924">
                    <a:alpha val="60000"/>
                  </a:srgbClr>
                </a:gs>
              </a:gsLst>
              <a:lin ang="0"/>
            </a:gradFill>
          </p:spPr>
        </p:sp>
      </p:grpSp>
      <p:grpSp>
        <p:nvGrpSpPr>
          <p:cNvPr id="7" name="Group 7"/>
          <p:cNvGrpSpPr/>
          <p:nvPr/>
        </p:nvGrpSpPr>
        <p:grpSpPr>
          <a:xfrm rot="0">
            <a:off x="1685925" y="4029075"/>
            <a:ext cx="2314575" cy="2314575"/>
            <a:chOff x="0" y="0"/>
            <a:chExt cx="3086100" cy="3086100"/>
          </a:xfrm>
        </p:grpSpPr>
        <p:sp>
          <p:nvSpPr>
            <p:cNvPr id="8" name="Freeform 8"/>
            <p:cNvSpPr/>
            <p:nvPr/>
          </p:nvSpPr>
          <p:spPr>
            <a:xfrm>
              <a:off x="0" y="0"/>
              <a:ext cx="3086100" cy="3086100"/>
            </a:xfrm>
            <a:custGeom>
              <a:avLst/>
              <a:gdLst/>
              <a:ahLst/>
              <a:cxnLst/>
              <a:rect l="l" t="t" r="r" b="b"/>
              <a:pathLst>
                <a:path w="3086100" h="3086100">
                  <a:moveTo>
                    <a:pt x="0" y="0"/>
                  </a:moveTo>
                  <a:lnTo>
                    <a:pt x="3086100" y="0"/>
                  </a:lnTo>
                  <a:lnTo>
                    <a:pt x="3086100" y="3086100"/>
                  </a:lnTo>
                  <a:lnTo>
                    <a:pt x="0" y="3086100"/>
                  </a:lnTo>
                  <a:close/>
                </a:path>
              </a:pathLst>
            </a:custGeom>
            <a:solidFill>
              <a:srgbClr val="549E39"/>
            </a:solidFill>
          </p:spPr>
        </p:sp>
      </p:grpSp>
      <p:sp>
        <p:nvSpPr>
          <p:cNvPr id="9" name="TextBox 9"/>
          <p:cNvSpPr txBox="1"/>
          <p:nvPr/>
        </p:nvSpPr>
        <p:spPr>
          <a:xfrm>
            <a:off x="2202368" y="4353461"/>
            <a:ext cx="1281690" cy="1616393"/>
          </a:xfrm>
          <a:prstGeom prst="rect">
            <a:avLst/>
          </a:prstGeom>
        </p:spPr>
        <p:txBody>
          <a:bodyPr lIns="0" tIns="0" rIns="0" bIns="0" rtlCol="0" anchor="t">
            <a:spAutoFit/>
          </a:bodyPr>
          <a:lstStyle/>
          <a:p>
            <a:pPr algn="ctr">
              <a:lnSpc>
                <a:spcPts val="11880"/>
              </a:lnSpc>
            </a:pPr>
            <a:r>
              <a:rPr lang="en-US" sz="9900" b="1">
                <a:solidFill>
                  <a:srgbClr val="FFFFFF"/>
                </a:solidFill>
                <a:latin typeface="Arimo Bold" panose="020B0704020202020204"/>
                <a:ea typeface="Arimo Bold" panose="020B0704020202020204"/>
                <a:cs typeface="Arimo Bold" panose="020B0704020202020204"/>
                <a:sym typeface="Arimo Bold" panose="020B0704020202020204"/>
              </a:rPr>
              <a:t>5</a:t>
            </a:r>
            <a:endParaRPr lang="en-US" sz="99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0" name="TextBox 10"/>
          <p:cNvSpPr txBox="1"/>
          <p:nvPr/>
        </p:nvSpPr>
        <p:spPr>
          <a:xfrm>
            <a:off x="4516938" y="4188700"/>
            <a:ext cx="3787433" cy="1183629"/>
          </a:xfrm>
          <a:prstGeom prst="rect">
            <a:avLst/>
          </a:prstGeom>
        </p:spPr>
        <p:txBody>
          <a:bodyPr lIns="0" tIns="0" rIns="0" bIns="0" rtlCol="0" anchor="t">
            <a:spAutoFit/>
          </a:bodyPr>
          <a:lstStyle/>
          <a:p>
            <a:pPr algn="l">
              <a:lnSpc>
                <a:spcPts val="8640"/>
              </a:lnSpc>
            </a:pPr>
            <a:r>
              <a:rPr lang="en-US" sz="7200">
                <a:solidFill>
                  <a:srgbClr val="FFFFFF"/>
                </a:solidFill>
                <a:latin typeface="Arimo" panose="020B0604020202020204"/>
                <a:ea typeface="Arimo" panose="020B0604020202020204"/>
                <a:cs typeface="Arimo" panose="020B0604020202020204"/>
                <a:sym typeface="Arimo" panose="020B0604020202020204"/>
              </a:rPr>
              <a:t>项目测试</a:t>
            </a:r>
            <a:endParaRPr lang="en-US" sz="7200">
              <a:solidFill>
                <a:srgbClr val="FFFFFF"/>
              </a:solidFill>
              <a:latin typeface="Arimo" panose="020B0604020202020204"/>
              <a:ea typeface="Arimo" panose="020B0604020202020204"/>
              <a:cs typeface="Arimo" panose="020B0604020202020204"/>
              <a:sym typeface="Arimo" panose="020B0604020202020204"/>
            </a:endParaRPr>
          </a:p>
        </p:txBody>
      </p:sp>
      <p:sp>
        <p:nvSpPr>
          <p:cNvPr id="11" name="TextBox 11"/>
          <p:cNvSpPr txBox="1"/>
          <p:nvPr/>
        </p:nvSpPr>
        <p:spPr>
          <a:xfrm>
            <a:off x="4516938" y="5503622"/>
            <a:ext cx="3096571" cy="481606"/>
          </a:xfrm>
          <a:prstGeom prst="rect">
            <a:avLst/>
          </a:prstGeom>
        </p:spPr>
        <p:txBody>
          <a:bodyPr lIns="0" tIns="0" rIns="0" bIns="0" rtlCol="0" anchor="t">
            <a:spAutoFit/>
          </a:bodyPr>
          <a:lstStyle/>
          <a:p>
            <a:pPr algn="ctr">
              <a:lnSpc>
                <a:spcPts val="3240"/>
              </a:lnSpc>
            </a:pPr>
            <a:r>
              <a:rPr lang="en-US" sz="2700">
                <a:solidFill>
                  <a:srgbClr val="FFFFFF"/>
                </a:solidFill>
                <a:latin typeface="Arimo" panose="020B0604020202020204"/>
                <a:ea typeface="Arimo" panose="020B0604020202020204"/>
                <a:cs typeface="Arimo" panose="020B0604020202020204"/>
                <a:sym typeface="Arimo" panose="020B0604020202020204"/>
              </a:rPr>
              <a:t>PROJECT TESTING</a:t>
            </a:r>
            <a:endParaRPr lang="en-US" sz="27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2" name="Group 12"/>
          <p:cNvGrpSpPr>
            <a:grpSpLocks noChangeAspect="1"/>
          </p:cNvGrpSpPr>
          <p:nvPr/>
        </p:nvGrpSpPr>
        <p:grpSpPr>
          <a:xfrm rot="0">
            <a:off x="14723000" y="203883"/>
            <a:ext cx="3565001" cy="1101770"/>
            <a:chOff x="0" y="0"/>
            <a:chExt cx="4753334" cy="1469026"/>
          </a:xfrm>
        </p:grpSpPr>
        <p:sp>
          <p:nvSpPr>
            <p:cNvPr id="13" name="Freeform 13"/>
            <p:cNvSpPr/>
            <p:nvPr/>
          </p:nvSpPr>
          <p:spPr>
            <a:xfrm>
              <a:off x="0" y="0"/>
              <a:ext cx="4753356" cy="1469009"/>
            </a:xfrm>
            <a:custGeom>
              <a:avLst/>
              <a:gdLst/>
              <a:ahLst/>
              <a:cxnLst/>
              <a:rect l="l" t="t" r="r" b="b"/>
              <a:pathLst>
                <a:path w="4753356" h="1469009">
                  <a:moveTo>
                    <a:pt x="0" y="0"/>
                  </a:moveTo>
                  <a:lnTo>
                    <a:pt x="4753356" y="0"/>
                  </a:lnTo>
                  <a:lnTo>
                    <a:pt x="4753356" y="1469009"/>
                  </a:lnTo>
                  <a:lnTo>
                    <a:pt x="0" y="1469009"/>
                  </a:lnTo>
                  <a:lnTo>
                    <a:pt x="0" y="0"/>
                  </a:lnTo>
                  <a:close/>
                </a:path>
              </a:pathLst>
            </a:custGeom>
            <a:blipFill>
              <a:blip r:embed="rId3"/>
              <a:stretch>
                <a:fillRect t="-34825" b="-13078"/>
              </a:stretch>
            </a:blipFill>
          </p:spPr>
        </p:sp>
      </p:grpSp>
      <p:grpSp>
        <p:nvGrpSpPr>
          <p:cNvPr id="14" name="Group 14"/>
          <p:cNvGrpSpPr>
            <a:grpSpLocks noChangeAspect="1"/>
          </p:cNvGrpSpPr>
          <p:nvPr/>
        </p:nvGrpSpPr>
        <p:grpSpPr>
          <a:xfrm rot="0">
            <a:off x="10684251" y="372126"/>
            <a:ext cx="3466641" cy="765282"/>
            <a:chOff x="0" y="0"/>
            <a:chExt cx="4622188" cy="1020376"/>
          </a:xfrm>
        </p:grpSpPr>
        <p:sp>
          <p:nvSpPr>
            <p:cNvPr id="15" name="Freeform 15"/>
            <p:cNvSpPr/>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
              <a:stretch>
                <a:fillRect b="-5"/>
              </a:stretch>
            </a:blipFill>
          </p:spPr>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28406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3876596" y="32623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6100484"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sp>
        <p:nvSpPr>
          <p:cNvPr id="8" name="Freeform 8"/>
          <p:cNvSpPr/>
          <p:nvPr/>
        </p:nvSpPr>
        <p:spPr>
          <a:xfrm>
            <a:off x="292552" y="6268042"/>
            <a:ext cx="5966448" cy="3823269"/>
          </a:xfrm>
          <a:custGeom>
            <a:avLst/>
            <a:gdLst/>
            <a:ahLst/>
            <a:cxnLst/>
            <a:rect l="l" t="t" r="r" b="b"/>
            <a:pathLst>
              <a:path w="5966448" h="3823269">
                <a:moveTo>
                  <a:pt x="0" y="0"/>
                </a:moveTo>
                <a:lnTo>
                  <a:pt x="5966448" y="0"/>
                </a:lnTo>
                <a:lnTo>
                  <a:pt x="5966448" y="3823269"/>
                </a:lnTo>
                <a:lnTo>
                  <a:pt x="0" y="3823269"/>
                </a:lnTo>
                <a:lnTo>
                  <a:pt x="0" y="0"/>
                </a:lnTo>
                <a:close/>
              </a:path>
            </a:pathLst>
          </a:custGeom>
          <a:blipFill>
            <a:blip r:embed="rId5"/>
            <a:stretch>
              <a:fillRect t="-2580"/>
            </a:stretch>
          </a:blipFill>
        </p:spPr>
      </p:sp>
      <p:sp>
        <p:nvSpPr>
          <p:cNvPr id="10" name="Freeform 10"/>
          <p:cNvSpPr/>
          <p:nvPr/>
        </p:nvSpPr>
        <p:spPr>
          <a:xfrm>
            <a:off x="7897066" y="3769513"/>
            <a:ext cx="8986221" cy="5784880"/>
          </a:xfrm>
          <a:custGeom>
            <a:avLst/>
            <a:gdLst/>
            <a:ahLst/>
            <a:cxnLst/>
            <a:rect l="l" t="t" r="r" b="b"/>
            <a:pathLst>
              <a:path w="8986221" h="5784880">
                <a:moveTo>
                  <a:pt x="0" y="0"/>
                </a:moveTo>
                <a:lnTo>
                  <a:pt x="8986221" y="0"/>
                </a:lnTo>
                <a:lnTo>
                  <a:pt x="8986221" y="5784880"/>
                </a:lnTo>
                <a:lnTo>
                  <a:pt x="0" y="5784880"/>
                </a:lnTo>
                <a:lnTo>
                  <a:pt x="0" y="0"/>
                </a:lnTo>
                <a:close/>
              </a:path>
            </a:pathLst>
          </a:custGeom>
          <a:blipFill>
            <a:blip r:embed="rId6"/>
            <a:stretch>
              <a:fillRect/>
            </a:stretch>
          </a:blipFill>
        </p:spPr>
      </p:sp>
      <p:sp>
        <p:nvSpPr>
          <p:cNvPr id="11" name="TextBox 11"/>
          <p:cNvSpPr txBox="1"/>
          <p:nvPr/>
        </p:nvSpPr>
        <p:spPr>
          <a:xfrm>
            <a:off x="189999" y="27263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5</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2" name="TextBox 12"/>
          <p:cNvSpPr txBox="1"/>
          <p:nvPr/>
        </p:nvSpPr>
        <p:spPr>
          <a:xfrm>
            <a:off x="1143186" y="244078"/>
            <a:ext cx="2556328"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项目测试</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sp>
        <p:nvSpPr>
          <p:cNvPr id="13" name="TextBox 13"/>
          <p:cNvSpPr txBox="1"/>
          <p:nvPr/>
        </p:nvSpPr>
        <p:spPr>
          <a:xfrm>
            <a:off x="4058309" y="416886"/>
            <a:ext cx="2778579" cy="285750"/>
          </a:xfrm>
          <a:prstGeom prst="rect">
            <a:avLst/>
          </a:prstGeom>
        </p:spPr>
        <p:txBody>
          <a:bodyPr lIns="0" tIns="0" rIns="0" bIns="0" rtlCol="0" anchor="t">
            <a:spAutoFit/>
          </a:bodyPr>
          <a:lstStyle/>
          <a:p>
            <a:pPr algn="ctr">
              <a:lnSpc>
                <a:spcPts val="2160"/>
              </a:lnSpc>
            </a:pPr>
            <a:r>
              <a:rPr lang="en-US" sz="1800">
                <a:solidFill>
                  <a:srgbClr val="FFFFFF"/>
                </a:solidFill>
                <a:latin typeface="Arimo" panose="020B0604020202020204"/>
                <a:ea typeface="Arimo" panose="020B0604020202020204"/>
                <a:cs typeface="Arimo" panose="020B0604020202020204"/>
                <a:sym typeface="Arimo" panose="020B0604020202020204"/>
              </a:rPr>
              <a:t>PROJECT TESTING</a:t>
            </a:r>
            <a:endParaRPr lang="en-US" sz="1800">
              <a:solidFill>
                <a:srgbClr val="FFFFFF"/>
              </a:solidFill>
              <a:latin typeface="Arimo" panose="020B0604020202020204"/>
              <a:ea typeface="Arimo" panose="020B0604020202020204"/>
              <a:cs typeface="Arimo" panose="020B0604020202020204"/>
              <a:sym typeface="Arimo" panose="020B0604020202020204"/>
            </a:endParaRPr>
          </a:p>
        </p:txBody>
      </p:sp>
      <p:grpSp>
        <p:nvGrpSpPr>
          <p:cNvPr id="14" name="Group 14"/>
          <p:cNvGrpSpPr/>
          <p:nvPr/>
        </p:nvGrpSpPr>
        <p:grpSpPr>
          <a:xfrm rot="0">
            <a:off x="376726" y="1130956"/>
            <a:ext cx="2793683" cy="626250"/>
            <a:chOff x="0" y="0"/>
            <a:chExt cx="3724910" cy="835000"/>
          </a:xfrm>
        </p:grpSpPr>
        <p:sp>
          <p:nvSpPr>
            <p:cNvPr id="15" name="Freeform 15"/>
            <p:cNvSpPr/>
            <p:nvPr/>
          </p:nvSpPr>
          <p:spPr>
            <a:xfrm>
              <a:off x="0" y="0"/>
              <a:ext cx="3724910" cy="835000"/>
            </a:xfrm>
            <a:custGeom>
              <a:avLst/>
              <a:gdLst/>
              <a:ahLst/>
              <a:cxnLst/>
              <a:rect l="l" t="t" r="r" b="b"/>
              <a:pathLst>
                <a:path w="3724910" h="835000">
                  <a:moveTo>
                    <a:pt x="0" y="0"/>
                  </a:moveTo>
                  <a:lnTo>
                    <a:pt x="3724910" y="0"/>
                  </a:lnTo>
                  <a:lnTo>
                    <a:pt x="3724910" y="835000"/>
                  </a:lnTo>
                  <a:lnTo>
                    <a:pt x="0" y="835000"/>
                  </a:lnTo>
                  <a:close/>
                </a:path>
              </a:pathLst>
            </a:custGeom>
            <a:solidFill>
              <a:srgbClr val="014924"/>
            </a:solidFill>
          </p:spPr>
        </p:sp>
        <p:sp>
          <p:nvSpPr>
            <p:cNvPr id="16" name="TextBox 16"/>
            <p:cNvSpPr txBox="1"/>
            <p:nvPr/>
          </p:nvSpPr>
          <p:spPr>
            <a:xfrm>
              <a:off x="0" y="-19050"/>
              <a:ext cx="3724910" cy="854050"/>
            </a:xfrm>
            <a:prstGeom prst="rect">
              <a:avLst/>
            </a:prstGeom>
          </p:spPr>
          <p:txBody>
            <a:bodyPr lIns="50800" tIns="50800" rIns="50800" bIns="50800" rtlCol="0" anchor="ctr"/>
            <a:lstStyle/>
            <a:p>
              <a:pPr algn="ctr">
                <a:lnSpc>
                  <a:spcPts val="3240"/>
                </a:lnSpc>
              </a:pPr>
              <a:r>
                <a:rPr lang="en-US" sz="2700" b="1">
                  <a:solidFill>
                    <a:srgbClr val="FFFFFF"/>
                  </a:solidFill>
                  <a:latin typeface="Arimo Bold" panose="020B0704020202020204"/>
                  <a:ea typeface="Arimo Bold" panose="020B0704020202020204"/>
                  <a:cs typeface="Arimo Bold" panose="020B0704020202020204"/>
                  <a:sym typeface="Arimo Bold" panose="020B0704020202020204"/>
                </a:rPr>
                <a:t>启动测试脚本</a:t>
              </a:r>
              <a:endParaRPr lang="en-US" sz="27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sp>
        <p:nvSpPr>
          <p:cNvPr id="17" name="TextBox 17"/>
          <p:cNvSpPr txBox="1"/>
          <p:nvPr/>
        </p:nvSpPr>
        <p:spPr>
          <a:xfrm>
            <a:off x="708660" y="1933066"/>
            <a:ext cx="6730968" cy="4257675"/>
          </a:xfrm>
          <a:prstGeom prst="rect">
            <a:avLst/>
          </a:prstGeom>
        </p:spPr>
        <p:txBody>
          <a:bodyPr lIns="0" tIns="0" rIns="0" bIns="0" rtlCol="0" anchor="t">
            <a:spAutoFit/>
          </a:bodyPr>
          <a:lstStyle/>
          <a:p>
            <a:pPr algn="l">
              <a:lnSpc>
                <a:spcPts val="2600"/>
              </a:lnSpc>
            </a:pPr>
            <a:r>
              <a:rPr lang="en-US" sz="2170">
                <a:solidFill>
                  <a:srgbClr val="000000"/>
                </a:solidFill>
                <a:latin typeface="Calibri (MS)" panose="020F0502020204030204"/>
                <a:ea typeface="Calibri (MS)" panose="020F0502020204030204"/>
                <a:cs typeface="Calibri (MS)" panose="020F0502020204030204"/>
                <a:sym typeface="Calibri (MS)" panose="020F0502020204030204"/>
              </a:rPr>
              <a:t>  qemu-system-x86_64 \</a:t>
            </a:r>
            <a:endParaRPr lang="en-US" sz="217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2600"/>
              </a:lnSpc>
            </a:pPr>
            <a:r>
              <a:rPr lang="en-US" sz="2170">
                <a:solidFill>
                  <a:srgbClr val="000000"/>
                </a:solidFill>
                <a:latin typeface="Calibri (MS)" panose="020F0502020204030204"/>
                <a:ea typeface="Calibri (MS)" panose="020F0502020204030204"/>
                <a:cs typeface="Calibri (MS)" panose="020F0502020204030204"/>
                <a:sym typeface="Calibri (MS)" panose="020F0502020204030204"/>
              </a:rPr>
              <a:t>     -enable-kvm \</a:t>
            </a:r>
            <a:endParaRPr lang="en-US" sz="217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2600"/>
              </a:lnSpc>
            </a:pPr>
            <a:r>
              <a:rPr lang="en-US" sz="2170">
                <a:solidFill>
                  <a:srgbClr val="000000"/>
                </a:solidFill>
                <a:latin typeface="Calibri (MS)" panose="020F0502020204030204"/>
                <a:ea typeface="Calibri (MS)" panose="020F0502020204030204"/>
                <a:cs typeface="Calibri (MS)" panose="020F0502020204030204"/>
                <a:sym typeface="Calibri (MS)" panose="020F0502020204030204"/>
              </a:rPr>
              <a:t>    -cpu host \</a:t>
            </a:r>
            <a:endParaRPr lang="en-US" sz="217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2600"/>
              </a:lnSpc>
            </a:pPr>
            <a:r>
              <a:rPr lang="en-US" sz="2170">
                <a:solidFill>
                  <a:srgbClr val="000000"/>
                </a:solidFill>
                <a:latin typeface="Calibri (MS)" panose="020F0502020204030204"/>
                <a:ea typeface="Calibri (MS)" panose="020F0502020204030204"/>
                <a:cs typeface="Calibri (MS)" panose="020F0502020204030204"/>
                <a:sym typeface="Calibri (MS)" panose="020F0502020204030204"/>
              </a:rPr>
              <a:t>    -machine pc,accel=kvm \</a:t>
            </a:r>
            <a:endParaRPr lang="en-US" sz="217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2600"/>
              </a:lnSpc>
            </a:pPr>
            <a:r>
              <a:rPr lang="en-US" sz="2170">
                <a:solidFill>
                  <a:srgbClr val="000000"/>
                </a:solidFill>
                <a:latin typeface="Calibri (MS)" panose="020F0502020204030204"/>
                <a:ea typeface="Calibri (MS)" panose="020F0502020204030204"/>
                <a:cs typeface="Calibri (MS)" panose="020F0502020204030204"/>
                <a:sym typeface="Calibri (MS)" panose="020F0502020204030204"/>
              </a:rPr>
              <a:t>    -smp 8 \</a:t>
            </a:r>
            <a:endParaRPr lang="en-US" sz="217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2600"/>
              </a:lnSpc>
            </a:pPr>
            <a:r>
              <a:rPr lang="en-US" sz="2170">
                <a:solidFill>
                  <a:srgbClr val="000000"/>
                </a:solidFill>
                <a:latin typeface="Calibri (MS)" panose="020F0502020204030204"/>
                <a:ea typeface="Calibri (MS)" panose="020F0502020204030204"/>
                <a:cs typeface="Calibri (MS)" panose="020F0502020204030204"/>
                <a:sym typeface="Calibri (MS)" panose="020F0502020204030204"/>
              </a:rPr>
              <a:t>    -m 4G \</a:t>
            </a:r>
            <a:endParaRPr lang="en-US" sz="217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2600"/>
              </a:lnSpc>
            </a:pPr>
            <a:r>
              <a:rPr lang="en-US" sz="2170">
                <a:solidFill>
                  <a:srgbClr val="000000"/>
                </a:solidFill>
                <a:latin typeface="Calibri (MS)" panose="020F0502020204030204"/>
                <a:ea typeface="Calibri (MS)" panose="020F0502020204030204"/>
                <a:cs typeface="Calibri (MS)" panose="020F0502020204030204"/>
                <a:sym typeface="Calibri (MS)" panose="020F0502020204030204"/>
              </a:rPr>
              <a:t>    -kernel "$KERNEL_IMAGE" \</a:t>
            </a:r>
            <a:endParaRPr lang="en-US" sz="217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2600"/>
              </a:lnSpc>
            </a:pPr>
            <a:r>
              <a:rPr lang="en-US" sz="2170">
                <a:solidFill>
                  <a:srgbClr val="000000"/>
                </a:solidFill>
                <a:latin typeface="Calibri (MS)" panose="020F0502020204030204"/>
                <a:ea typeface="Calibri (MS)" panose="020F0502020204030204"/>
                <a:cs typeface="Calibri (MS)" panose="020F0502020204030204"/>
                <a:sym typeface="Calibri (MS)" panose="020F0502020204030204"/>
              </a:rPr>
              <a:t>    -initrd "$DISK_IMAGE" \</a:t>
            </a:r>
            <a:endParaRPr lang="en-US" sz="217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2600"/>
              </a:lnSpc>
            </a:pPr>
            <a:r>
              <a:rPr lang="en-US" sz="2170">
                <a:solidFill>
                  <a:srgbClr val="000000"/>
                </a:solidFill>
                <a:latin typeface="Calibri (MS)" panose="020F0502020204030204"/>
                <a:ea typeface="Calibri (MS)" panose="020F0502020204030204"/>
                <a:cs typeface="Calibri (MS)" panose="020F0502020204030204"/>
                <a:sym typeface="Calibri (MS)" panose="020F0502020204030204"/>
              </a:rPr>
              <a:t>    -append "console=ttyS0,115200 rdinit=/init panic=1 loglevel=7" \</a:t>
            </a:r>
            <a:endParaRPr lang="en-US" sz="217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2600"/>
              </a:lnSpc>
            </a:pPr>
            <a:r>
              <a:rPr lang="en-US" sz="2170">
                <a:solidFill>
                  <a:srgbClr val="000000"/>
                </a:solidFill>
                <a:latin typeface="Calibri (MS)" panose="020F0502020204030204"/>
                <a:ea typeface="Calibri (MS)" panose="020F0502020204030204"/>
                <a:cs typeface="Calibri (MS)" panose="020F0502020204030204"/>
                <a:sym typeface="Calibri (MS)" panose="020F0502020204030204"/>
              </a:rPr>
              <a:t>    -nographic \</a:t>
            </a:r>
            <a:endParaRPr lang="en-US" sz="217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2600"/>
              </a:lnSpc>
            </a:pPr>
            <a:r>
              <a:rPr lang="en-US" sz="2170">
                <a:solidFill>
                  <a:srgbClr val="000000"/>
                </a:solidFill>
                <a:latin typeface="Calibri (MS)" panose="020F0502020204030204"/>
                <a:ea typeface="Calibri (MS)" panose="020F0502020204030204"/>
                <a:cs typeface="Calibri (MS)" panose="020F0502020204030204"/>
                <a:sym typeface="Calibri (MS)" panose="020F0502020204030204"/>
              </a:rPr>
              <a:t>    -no-reboot</a:t>
            </a:r>
            <a:endParaRPr lang="en-US" sz="217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2600"/>
              </a:lnSpc>
              <a:spcBef>
                <a:spcPct val="0"/>
              </a:spcBef>
            </a:p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16100484" y="264381"/>
            <a:ext cx="1896959" cy="667167"/>
            <a:chOff x="0" y="0"/>
            <a:chExt cx="2529278" cy="889556"/>
          </a:xfrm>
        </p:grpSpPr>
        <p:sp>
          <p:nvSpPr>
            <p:cNvPr id="4" name="Freeform 4"/>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5" name="Group 5"/>
          <p:cNvGrpSpPr/>
          <p:nvPr/>
        </p:nvGrpSpPr>
        <p:grpSpPr>
          <a:xfrm rot="0">
            <a:off x="-381000" y="284064"/>
            <a:ext cx="1347105" cy="659502"/>
            <a:chOff x="0" y="0"/>
            <a:chExt cx="1796140" cy="879336"/>
          </a:xfrm>
        </p:grpSpPr>
        <p:sp>
          <p:nvSpPr>
            <p:cNvPr id="6" name="Freeform 6"/>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7" name="Freeform 7"/>
          <p:cNvSpPr/>
          <p:nvPr/>
        </p:nvSpPr>
        <p:spPr>
          <a:xfrm>
            <a:off x="3876596" y="32623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a:grpSpLocks noChangeAspect="1"/>
          </p:cNvGrpSpPr>
          <p:nvPr/>
        </p:nvGrpSpPr>
        <p:grpSpPr>
          <a:xfrm rot="0">
            <a:off x="16100484" y="264381"/>
            <a:ext cx="1896959" cy="667167"/>
            <a:chOff x="0" y="0"/>
            <a:chExt cx="2529278" cy="889556"/>
          </a:xfrm>
        </p:grpSpPr>
        <p:sp>
          <p:nvSpPr>
            <p:cNvPr id="9" name="Freeform 9"/>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0" name="Freeform 10"/>
          <p:cNvSpPr/>
          <p:nvPr/>
        </p:nvSpPr>
        <p:spPr>
          <a:xfrm>
            <a:off x="751804" y="4363549"/>
            <a:ext cx="8563871" cy="5217484"/>
          </a:xfrm>
          <a:custGeom>
            <a:avLst/>
            <a:gdLst/>
            <a:ahLst/>
            <a:cxnLst/>
            <a:rect l="l" t="t" r="r" b="b"/>
            <a:pathLst>
              <a:path w="8563871" h="5217484">
                <a:moveTo>
                  <a:pt x="0" y="0"/>
                </a:moveTo>
                <a:lnTo>
                  <a:pt x="8563871" y="0"/>
                </a:lnTo>
                <a:lnTo>
                  <a:pt x="8563871" y="5217484"/>
                </a:lnTo>
                <a:lnTo>
                  <a:pt x="0" y="5217484"/>
                </a:lnTo>
                <a:lnTo>
                  <a:pt x="0" y="0"/>
                </a:lnTo>
                <a:close/>
              </a:path>
            </a:pathLst>
          </a:custGeom>
          <a:blipFill>
            <a:blip r:embed="rId5"/>
            <a:stretch>
              <a:fillRect/>
            </a:stretch>
          </a:blipFill>
        </p:spPr>
      </p:sp>
      <p:sp>
        <p:nvSpPr>
          <p:cNvPr id="11" name="Freeform 11"/>
          <p:cNvSpPr/>
          <p:nvPr/>
        </p:nvSpPr>
        <p:spPr>
          <a:xfrm>
            <a:off x="10316662" y="2086172"/>
            <a:ext cx="7199180" cy="6758230"/>
          </a:xfrm>
          <a:custGeom>
            <a:avLst/>
            <a:gdLst/>
            <a:ahLst/>
            <a:cxnLst/>
            <a:rect l="l" t="t" r="r" b="b"/>
            <a:pathLst>
              <a:path w="7199180" h="6758230">
                <a:moveTo>
                  <a:pt x="0" y="0"/>
                </a:moveTo>
                <a:lnTo>
                  <a:pt x="7199180" y="0"/>
                </a:lnTo>
                <a:lnTo>
                  <a:pt x="7199180" y="6758230"/>
                </a:lnTo>
                <a:lnTo>
                  <a:pt x="0" y="6758230"/>
                </a:lnTo>
                <a:lnTo>
                  <a:pt x="0" y="0"/>
                </a:lnTo>
                <a:close/>
              </a:path>
            </a:pathLst>
          </a:custGeom>
          <a:blipFill>
            <a:blip r:embed="rId6"/>
            <a:stretch>
              <a:fillRect/>
            </a:stretch>
          </a:blipFill>
        </p:spPr>
      </p:sp>
      <p:sp>
        <p:nvSpPr>
          <p:cNvPr id="12" name="TextBox 12"/>
          <p:cNvSpPr txBox="1"/>
          <p:nvPr/>
        </p:nvSpPr>
        <p:spPr>
          <a:xfrm>
            <a:off x="189999" y="27263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5</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3" name="TextBox 13"/>
          <p:cNvSpPr txBox="1"/>
          <p:nvPr/>
        </p:nvSpPr>
        <p:spPr>
          <a:xfrm>
            <a:off x="1143186" y="244078"/>
            <a:ext cx="2556328"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项目测试</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sp>
        <p:nvSpPr>
          <p:cNvPr id="14" name="TextBox 14"/>
          <p:cNvSpPr txBox="1"/>
          <p:nvPr/>
        </p:nvSpPr>
        <p:spPr>
          <a:xfrm>
            <a:off x="3987082" y="416885"/>
            <a:ext cx="2490146" cy="285750"/>
          </a:xfrm>
          <a:prstGeom prst="rect">
            <a:avLst/>
          </a:prstGeom>
        </p:spPr>
        <p:txBody>
          <a:bodyPr lIns="0" tIns="0" rIns="0" bIns="0" rtlCol="0" anchor="t">
            <a:spAutoFit/>
          </a:bodyPr>
          <a:lstStyle/>
          <a:p>
            <a:pPr algn="ctr">
              <a:lnSpc>
                <a:spcPts val="2160"/>
              </a:lnSpc>
            </a:pPr>
            <a:r>
              <a:rPr lang="en-US" sz="1800">
                <a:solidFill>
                  <a:srgbClr val="FFFFFF"/>
                </a:solidFill>
                <a:latin typeface="Arimo" panose="020B0604020202020204"/>
                <a:ea typeface="Arimo" panose="020B0604020202020204"/>
                <a:cs typeface="Arimo" panose="020B0604020202020204"/>
                <a:sym typeface="Arimo" panose="020B0604020202020204"/>
              </a:rPr>
              <a:t>PROJECT TESTING</a:t>
            </a:r>
            <a:endParaRPr lang="en-US" sz="1800">
              <a:solidFill>
                <a:srgbClr val="FFFFFF"/>
              </a:solidFill>
              <a:latin typeface="Arimo" panose="020B0604020202020204"/>
              <a:ea typeface="Arimo" panose="020B0604020202020204"/>
              <a:cs typeface="Arimo" panose="020B0604020202020204"/>
              <a:sym typeface="Arimo" panose="020B0604020202020204"/>
            </a:endParaRPr>
          </a:p>
        </p:txBody>
      </p:sp>
      <p:sp>
        <p:nvSpPr>
          <p:cNvPr id="15" name="TextBox 15"/>
          <p:cNvSpPr txBox="1"/>
          <p:nvPr/>
        </p:nvSpPr>
        <p:spPr>
          <a:xfrm>
            <a:off x="449329" y="1610824"/>
            <a:ext cx="8545860" cy="3124200"/>
          </a:xfrm>
          <a:prstGeom prst="rect">
            <a:avLst/>
          </a:prstGeom>
        </p:spPr>
        <p:txBody>
          <a:bodyPr lIns="0" tIns="0" rIns="0" bIns="0" rtlCol="0" anchor="t">
            <a:spAutoFit/>
          </a:bodyPr>
          <a:lstStyle/>
          <a:p>
            <a:pPr algn="l">
              <a:lnSpc>
                <a:spcPts val="3480"/>
              </a:lnSpc>
            </a:pPr>
            <a:r>
              <a:rPr lang="en-US" sz="2900">
                <a:solidFill>
                  <a:srgbClr val="000000"/>
                </a:solidFill>
                <a:latin typeface="Calibri (MS)" panose="020F0502020204030204"/>
                <a:ea typeface="Calibri (MS)" panose="020F0502020204030204"/>
                <a:cs typeface="Calibri (MS)" panose="020F0502020204030204"/>
                <a:sym typeface="Calibri (MS)" panose="020F0502020204030204"/>
              </a:rPr>
              <a:t>基础参数</a:t>
            </a:r>
            <a:endParaRPr lang="en-US" sz="2900">
              <a:solidFill>
                <a:srgbClr val="000000"/>
              </a:solidFill>
              <a:latin typeface="Calibri (MS)" panose="020F0502020204030204"/>
              <a:ea typeface="Calibri (MS)" panose="020F0502020204030204"/>
              <a:cs typeface="Calibri (MS)" panose="020F0502020204030204"/>
              <a:sym typeface="Calibri (MS)" panose="020F0502020204030204"/>
            </a:endParaRPr>
          </a:p>
          <a:p>
            <a:pPr marL="626110" lvl="1" indent="-313055" algn="l">
              <a:lnSpc>
                <a:spcPts val="3480"/>
              </a:lnSpc>
              <a:buFont typeface="Arial" panose="020B0604020202020204"/>
              <a:buChar char="•"/>
            </a:pPr>
            <a:r>
              <a:rPr lang="en-US" sz="2900">
                <a:solidFill>
                  <a:srgbClr val="000000"/>
                </a:solidFill>
                <a:latin typeface="Calibri (MS)" panose="020F0502020204030204"/>
                <a:ea typeface="Calibri (MS)" panose="020F0502020204030204"/>
                <a:cs typeface="Calibri (MS)" panose="020F0502020204030204"/>
                <a:sym typeface="Calibri (MS)" panose="020F0502020204030204"/>
              </a:rPr>
              <a:t>线程数: 8个线程（与CPU核心数匹配）</a:t>
            </a:r>
            <a:endParaRPr lang="en-US" sz="2900">
              <a:solidFill>
                <a:srgbClr val="000000"/>
              </a:solidFill>
              <a:latin typeface="Calibri (MS)" panose="020F0502020204030204"/>
              <a:ea typeface="Calibri (MS)" panose="020F0502020204030204"/>
              <a:cs typeface="Calibri (MS)" panose="020F0502020204030204"/>
              <a:sym typeface="Calibri (MS)" panose="020F0502020204030204"/>
            </a:endParaRPr>
          </a:p>
          <a:p>
            <a:pPr marL="626110" lvl="1" indent="-313055" algn="l">
              <a:lnSpc>
                <a:spcPts val="3480"/>
              </a:lnSpc>
              <a:buFont typeface="Arial" panose="020B0604020202020204"/>
              <a:buChar char="•"/>
            </a:pPr>
            <a:r>
              <a:rPr lang="en-US" sz="2900">
                <a:solidFill>
                  <a:srgbClr val="000000"/>
                </a:solidFill>
                <a:latin typeface="Calibri (MS)" panose="020F0502020204030204"/>
                <a:ea typeface="Calibri (MS)" panose="020F0502020204030204"/>
                <a:cs typeface="Calibri (MS)" panose="020F0502020204030204"/>
                <a:sym typeface="Calibri (MS)" panose="020F0502020204030204"/>
              </a:rPr>
              <a:t>总迭代次数: 每线程执行10次迭代</a:t>
            </a:r>
            <a:endParaRPr lang="en-US" sz="2900">
              <a:solidFill>
                <a:srgbClr val="000000"/>
              </a:solidFill>
              <a:latin typeface="Calibri (MS)" panose="020F0502020204030204"/>
              <a:ea typeface="Calibri (MS)" panose="020F0502020204030204"/>
              <a:cs typeface="Calibri (MS)" panose="020F0502020204030204"/>
              <a:sym typeface="Calibri (MS)" panose="020F0502020204030204"/>
            </a:endParaRPr>
          </a:p>
          <a:p>
            <a:pPr marL="626110" lvl="1" indent="-313055" algn="l">
              <a:lnSpc>
                <a:spcPts val="3480"/>
              </a:lnSpc>
              <a:buFont typeface="Arial" panose="020B0604020202020204"/>
              <a:buChar char="•"/>
            </a:pPr>
            <a:r>
              <a:rPr lang="en-US" sz="2900">
                <a:solidFill>
                  <a:srgbClr val="000000"/>
                </a:solidFill>
                <a:latin typeface="Calibri (MS)" panose="020F0502020204030204"/>
                <a:ea typeface="Calibri (MS)" panose="020F0502020204030204"/>
                <a:cs typeface="Calibri (MS)" panose="020F0502020204030204"/>
                <a:sym typeface="Calibri (MS)" panose="020F0502020204030204"/>
              </a:rPr>
              <a:t>测试轮数: 重复10轮测试，取平均值确保结果稳定</a:t>
            </a:r>
            <a:endParaRPr lang="en-US" sz="2900">
              <a:solidFill>
                <a:srgbClr val="000000"/>
              </a:solidFill>
              <a:latin typeface="Calibri (MS)" panose="020F0502020204030204"/>
              <a:ea typeface="Calibri (MS)" panose="020F0502020204030204"/>
              <a:cs typeface="Calibri (MS)" panose="020F0502020204030204"/>
              <a:sym typeface="Calibri (MS)" panose="020F0502020204030204"/>
            </a:endParaRPr>
          </a:p>
          <a:p>
            <a:pPr marL="626110" lvl="1" indent="-313055" algn="l">
              <a:lnSpc>
                <a:spcPts val="3480"/>
              </a:lnSpc>
              <a:buFont typeface="Arial" panose="020B0604020202020204"/>
              <a:buChar char="•"/>
            </a:pPr>
            <a:r>
              <a:rPr lang="en-US" sz="2900">
                <a:solidFill>
                  <a:srgbClr val="000000"/>
                </a:solidFill>
                <a:latin typeface="Calibri (MS)" panose="020F0502020204030204"/>
                <a:ea typeface="Calibri (MS)" panose="020F0502020204030204"/>
                <a:cs typeface="Calibri (MS)" panose="020F0502020204030204"/>
                <a:sym typeface="Calibri (MS)" panose="020F0502020204030204"/>
              </a:rPr>
              <a:t>缓存数据大小: 2MB per线程（总计16MB工作集）</a:t>
            </a:r>
            <a:endParaRPr lang="en-US" sz="290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3480"/>
              </a:lnSpc>
              <a:spcBef>
                <a:spcPct val="0"/>
              </a:spcBef>
            </a:pPr>
          </a:p>
          <a:p>
            <a:pPr algn="l">
              <a:lnSpc>
                <a:spcPts val="3480"/>
              </a:lnSpc>
              <a:spcBef>
                <a:spcPct val="0"/>
              </a:spcBef>
            </a:pPr>
          </a:p>
        </p:txBody>
      </p:sp>
      <p:sp>
        <p:nvSpPr>
          <p:cNvPr id="16" name="TextBox 16"/>
          <p:cNvSpPr txBox="1"/>
          <p:nvPr/>
        </p:nvSpPr>
        <p:spPr>
          <a:xfrm>
            <a:off x="449329" y="982174"/>
            <a:ext cx="2590651" cy="581025"/>
          </a:xfrm>
          <a:prstGeom prst="rect">
            <a:avLst/>
          </a:prstGeom>
        </p:spPr>
        <p:txBody>
          <a:bodyPr lIns="0" tIns="0" rIns="0" bIns="0" rtlCol="0" anchor="t">
            <a:spAutoFit/>
          </a:bodyPr>
          <a:lstStyle/>
          <a:p>
            <a:pPr algn="ctr">
              <a:lnSpc>
                <a:spcPts val="4080"/>
              </a:lnSpc>
              <a:spcBef>
                <a:spcPct val="0"/>
              </a:spcBef>
            </a:pPr>
            <a:r>
              <a:rPr lang="en-US" sz="3400">
                <a:solidFill>
                  <a:srgbClr val="000000"/>
                </a:solidFill>
                <a:latin typeface="Calibri (MS)" panose="020F0502020204030204"/>
                <a:ea typeface="Calibri (MS)" panose="020F0502020204030204"/>
                <a:cs typeface="Calibri (MS)" panose="020F0502020204030204"/>
                <a:sym typeface="Calibri (MS)" panose="020F0502020204030204"/>
              </a:rPr>
              <a:t>测试可视化：</a:t>
            </a:r>
            <a:endParaRPr lang="en-US" sz="3400">
              <a:solidFill>
                <a:srgbClr val="000000"/>
              </a:solidFill>
              <a:latin typeface="Calibri (MS)" panose="020F0502020204030204"/>
              <a:ea typeface="Calibri (MS)" panose="020F0502020204030204"/>
              <a:cs typeface="Calibri (MS)" panose="020F0502020204030204"/>
              <a:sym typeface="Calibri (MS)"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16100484" y="264381"/>
            <a:ext cx="1896959" cy="667167"/>
            <a:chOff x="0" y="0"/>
            <a:chExt cx="2529278" cy="889556"/>
          </a:xfrm>
        </p:grpSpPr>
        <p:sp>
          <p:nvSpPr>
            <p:cNvPr id="4" name="Freeform 4"/>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5" name="Group 5"/>
          <p:cNvGrpSpPr/>
          <p:nvPr/>
        </p:nvGrpSpPr>
        <p:grpSpPr>
          <a:xfrm rot="0">
            <a:off x="-381000" y="284064"/>
            <a:ext cx="1347105" cy="659502"/>
            <a:chOff x="0" y="0"/>
            <a:chExt cx="1796140" cy="879336"/>
          </a:xfrm>
        </p:grpSpPr>
        <p:sp>
          <p:nvSpPr>
            <p:cNvPr id="6" name="Freeform 6"/>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7" name="Freeform 7"/>
          <p:cNvSpPr/>
          <p:nvPr/>
        </p:nvSpPr>
        <p:spPr>
          <a:xfrm>
            <a:off x="3876596" y="32623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a:grpSpLocks noChangeAspect="1"/>
          </p:cNvGrpSpPr>
          <p:nvPr/>
        </p:nvGrpSpPr>
        <p:grpSpPr>
          <a:xfrm rot="0">
            <a:off x="16100484" y="264381"/>
            <a:ext cx="1896959" cy="667167"/>
            <a:chOff x="0" y="0"/>
            <a:chExt cx="2529278" cy="889556"/>
          </a:xfrm>
        </p:grpSpPr>
        <p:sp>
          <p:nvSpPr>
            <p:cNvPr id="9" name="Freeform 9"/>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0" name="Freeform 10"/>
          <p:cNvSpPr/>
          <p:nvPr/>
        </p:nvSpPr>
        <p:spPr>
          <a:xfrm>
            <a:off x="6220017" y="1596020"/>
            <a:ext cx="5309708" cy="5371011"/>
          </a:xfrm>
          <a:custGeom>
            <a:avLst/>
            <a:gdLst/>
            <a:ahLst/>
            <a:cxnLst/>
            <a:rect l="l" t="t" r="r" b="b"/>
            <a:pathLst>
              <a:path w="5309708" h="5371011">
                <a:moveTo>
                  <a:pt x="0" y="0"/>
                </a:moveTo>
                <a:lnTo>
                  <a:pt x="5309708" y="0"/>
                </a:lnTo>
                <a:lnTo>
                  <a:pt x="5309708" y="5371011"/>
                </a:lnTo>
                <a:lnTo>
                  <a:pt x="0" y="5371011"/>
                </a:lnTo>
                <a:lnTo>
                  <a:pt x="0" y="0"/>
                </a:lnTo>
                <a:close/>
              </a:path>
            </a:pathLst>
          </a:custGeom>
          <a:blipFill>
            <a:blip r:embed="rId5"/>
            <a:stretch>
              <a:fillRect l="-152" r="-152"/>
            </a:stretch>
          </a:blipFill>
        </p:spPr>
      </p:sp>
      <p:sp>
        <p:nvSpPr>
          <p:cNvPr id="11" name="Freeform 11"/>
          <p:cNvSpPr/>
          <p:nvPr/>
        </p:nvSpPr>
        <p:spPr>
          <a:xfrm>
            <a:off x="11677398" y="1596020"/>
            <a:ext cx="5454933" cy="5371011"/>
          </a:xfrm>
          <a:custGeom>
            <a:avLst/>
            <a:gdLst/>
            <a:ahLst/>
            <a:cxnLst/>
            <a:rect l="l" t="t" r="r" b="b"/>
            <a:pathLst>
              <a:path w="5454933" h="5371011">
                <a:moveTo>
                  <a:pt x="0" y="0"/>
                </a:moveTo>
                <a:lnTo>
                  <a:pt x="5454933" y="0"/>
                </a:lnTo>
                <a:lnTo>
                  <a:pt x="5454933" y="5371011"/>
                </a:lnTo>
                <a:lnTo>
                  <a:pt x="0" y="5371011"/>
                </a:lnTo>
                <a:lnTo>
                  <a:pt x="0" y="0"/>
                </a:lnTo>
                <a:close/>
              </a:path>
            </a:pathLst>
          </a:custGeom>
          <a:blipFill>
            <a:blip r:embed="rId6"/>
            <a:stretch>
              <a:fillRect/>
            </a:stretch>
          </a:blipFill>
        </p:spPr>
      </p:sp>
      <p:sp>
        <p:nvSpPr>
          <p:cNvPr id="12" name="Freeform 12"/>
          <p:cNvSpPr/>
          <p:nvPr/>
        </p:nvSpPr>
        <p:spPr>
          <a:xfrm>
            <a:off x="618156" y="1596020"/>
            <a:ext cx="5303967" cy="5371011"/>
          </a:xfrm>
          <a:custGeom>
            <a:avLst/>
            <a:gdLst/>
            <a:ahLst/>
            <a:cxnLst/>
            <a:rect l="l" t="t" r="r" b="b"/>
            <a:pathLst>
              <a:path w="5303967" h="5371011">
                <a:moveTo>
                  <a:pt x="0" y="0"/>
                </a:moveTo>
                <a:lnTo>
                  <a:pt x="5303966" y="0"/>
                </a:lnTo>
                <a:lnTo>
                  <a:pt x="5303966" y="5371011"/>
                </a:lnTo>
                <a:lnTo>
                  <a:pt x="0" y="5371011"/>
                </a:lnTo>
                <a:lnTo>
                  <a:pt x="0" y="0"/>
                </a:lnTo>
                <a:close/>
              </a:path>
            </a:pathLst>
          </a:custGeom>
          <a:blipFill>
            <a:blip r:embed="rId7"/>
            <a:stretch>
              <a:fillRect/>
            </a:stretch>
          </a:blipFill>
        </p:spPr>
      </p:sp>
      <p:sp>
        <p:nvSpPr>
          <p:cNvPr id="13" name="TextBox 13"/>
          <p:cNvSpPr txBox="1"/>
          <p:nvPr/>
        </p:nvSpPr>
        <p:spPr>
          <a:xfrm>
            <a:off x="189999" y="272634"/>
            <a:ext cx="518661" cy="710565"/>
          </a:xfrm>
          <a:prstGeom prst="rect">
            <a:avLst/>
          </a:prstGeom>
        </p:spPr>
        <p:txBody>
          <a:bodyPr lIns="0" tIns="0" rIns="0" bIns="0" rtlCol="0" anchor="t">
            <a:spAutoFit/>
          </a:bodyPr>
          <a:lstStyle/>
          <a:p>
            <a:pPr algn="ctr">
              <a:lnSpc>
                <a:spcPts val="5040"/>
              </a:lnSpc>
            </a:pPr>
            <a:r>
              <a:rPr lang="en-US" sz="4200" b="1">
                <a:solidFill>
                  <a:srgbClr val="FFFFFF"/>
                </a:solidFill>
                <a:latin typeface="Arimo Bold" panose="020B0704020202020204"/>
                <a:ea typeface="Arimo Bold" panose="020B0704020202020204"/>
                <a:cs typeface="Arimo Bold" panose="020B0704020202020204"/>
                <a:sym typeface="Arimo Bold" panose="020B0704020202020204"/>
              </a:rPr>
              <a:t>5</a:t>
            </a:r>
            <a:endParaRPr lang="en-US" sz="420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4" name="TextBox 14"/>
          <p:cNvSpPr txBox="1"/>
          <p:nvPr/>
        </p:nvSpPr>
        <p:spPr>
          <a:xfrm>
            <a:off x="1143186" y="244078"/>
            <a:ext cx="2556328" cy="804771"/>
          </a:xfrm>
          <a:prstGeom prst="rect">
            <a:avLst/>
          </a:prstGeom>
        </p:spPr>
        <p:txBody>
          <a:bodyPr lIns="0" tIns="0" rIns="0" bIns="0" rtlCol="0" anchor="t">
            <a:spAutoFit/>
          </a:bodyPr>
          <a:lstStyle/>
          <a:p>
            <a:pPr algn="l">
              <a:lnSpc>
                <a:spcPts val="5760"/>
              </a:lnSpc>
            </a:pPr>
            <a:r>
              <a:rPr lang="en-US" sz="4800">
                <a:solidFill>
                  <a:srgbClr val="595959"/>
                </a:solidFill>
                <a:latin typeface="Arimo" panose="020B0604020202020204"/>
                <a:ea typeface="Arimo" panose="020B0604020202020204"/>
                <a:cs typeface="Arimo" panose="020B0604020202020204"/>
                <a:sym typeface="Arimo" panose="020B0604020202020204"/>
              </a:rPr>
              <a:t>项目测试</a:t>
            </a:r>
            <a:endParaRPr lang="en-US" sz="4800">
              <a:solidFill>
                <a:srgbClr val="595959"/>
              </a:solidFill>
              <a:latin typeface="Arimo" panose="020B0604020202020204"/>
              <a:ea typeface="Arimo" panose="020B0604020202020204"/>
              <a:cs typeface="Arimo" panose="020B0604020202020204"/>
              <a:sym typeface="Arimo" panose="020B0604020202020204"/>
            </a:endParaRPr>
          </a:p>
        </p:txBody>
      </p:sp>
      <p:sp>
        <p:nvSpPr>
          <p:cNvPr id="15" name="TextBox 15"/>
          <p:cNvSpPr txBox="1"/>
          <p:nvPr/>
        </p:nvSpPr>
        <p:spPr>
          <a:xfrm>
            <a:off x="3987082" y="416885"/>
            <a:ext cx="3165885" cy="285750"/>
          </a:xfrm>
          <a:prstGeom prst="rect">
            <a:avLst/>
          </a:prstGeom>
        </p:spPr>
        <p:txBody>
          <a:bodyPr lIns="0" tIns="0" rIns="0" bIns="0" rtlCol="0" anchor="t">
            <a:spAutoFit/>
          </a:bodyPr>
          <a:lstStyle/>
          <a:p>
            <a:pPr algn="ctr">
              <a:lnSpc>
                <a:spcPts val="2160"/>
              </a:lnSpc>
            </a:pPr>
            <a:r>
              <a:rPr lang="en-US" sz="1800">
                <a:solidFill>
                  <a:srgbClr val="FFFFFF"/>
                </a:solidFill>
                <a:latin typeface="Arimo" panose="020B0604020202020204"/>
                <a:ea typeface="Arimo" panose="020B0604020202020204"/>
                <a:cs typeface="Arimo" panose="020B0604020202020204"/>
                <a:sym typeface="Arimo" panose="020B0604020202020204"/>
              </a:rPr>
              <a:t>PROJECT TESTING</a:t>
            </a:r>
            <a:endParaRPr lang="en-US" sz="1800">
              <a:solidFill>
                <a:srgbClr val="FFFFFF"/>
              </a:solidFill>
              <a:latin typeface="Arimo" panose="020B0604020202020204"/>
              <a:ea typeface="Arimo" panose="020B0604020202020204"/>
              <a:cs typeface="Arimo" panose="020B0604020202020204"/>
              <a:sym typeface="Arimo" panose="020B0604020202020204"/>
            </a:endParaRPr>
          </a:p>
        </p:txBody>
      </p:sp>
      <p:sp>
        <p:nvSpPr>
          <p:cNvPr id="16" name="TextBox 16"/>
          <p:cNvSpPr txBox="1"/>
          <p:nvPr/>
        </p:nvSpPr>
        <p:spPr>
          <a:xfrm>
            <a:off x="966105" y="7452806"/>
            <a:ext cx="17321895" cy="2686050"/>
          </a:xfrm>
          <a:prstGeom prst="rect">
            <a:avLst/>
          </a:prstGeom>
        </p:spPr>
        <p:txBody>
          <a:bodyPr lIns="0" tIns="0" rIns="0" bIns="0" rtlCol="0" anchor="t">
            <a:spAutoFit/>
          </a:bodyPr>
          <a:lstStyle/>
          <a:p>
            <a:pPr algn="l">
              <a:lnSpc>
                <a:spcPts val="3480"/>
              </a:lnSpc>
            </a:pPr>
            <a:r>
              <a:rPr lang="en-US" sz="2900">
                <a:solidFill>
                  <a:srgbClr val="000000"/>
                </a:solidFill>
                <a:latin typeface="Calibri (MS)" panose="020F0502020204030204"/>
                <a:ea typeface="Calibri (MS)" panose="020F0502020204030204"/>
                <a:cs typeface="Calibri (MS)" panose="020F0502020204030204"/>
                <a:sym typeface="Calibri (MS)" panose="020F0502020204030204"/>
              </a:rPr>
              <a:t>从三个维度的对比可以看出：</a:t>
            </a:r>
            <a:endParaRPr lang="en-US" sz="2900">
              <a:solidFill>
                <a:srgbClr val="000000"/>
              </a:solidFill>
              <a:latin typeface="Calibri (MS)" panose="020F0502020204030204"/>
              <a:ea typeface="Calibri (MS)" panose="020F0502020204030204"/>
              <a:cs typeface="Calibri (MS)" panose="020F0502020204030204"/>
              <a:sym typeface="Calibri (MS)" panose="020F0502020204030204"/>
            </a:endParaRPr>
          </a:p>
          <a:p>
            <a:pPr marL="626110" lvl="1" indent="-313055" algn="l">
              <a:lnSpc>
                <a:spcPts val="3480"/>
              </a:lnSpc>
              <a:buAutoNum type="arabicPeriod"/>
            </a:pPr>
            <a:r>
              <a:rPr lang="en-US" sz="2900">
                <a:solidFill>
                  <a:srgbClr val="000000"/>
                </a:solidFill>
                <a:latin typeface="Calibri (MS)" panose="020F0502020204030204"/>
                <a:ea typeface="Calibri (MS)" panose="020F0502020204030204"/>
                <a:cs typeface="Calibri (MS)" panose="020F0502020204030204"/>
                <a:sym typeface="Calibri (MS)" panose="020F0502020204030204"/>
              </a:rPr>
              <a:t>缓存亲和性优势明显：Yat_Casched成功减少了不必要的CPU迁移</a:t>
            </a:r>
            <a:endParaRPr lang="en-US" sz="2900">
              <a:solidFill>
                <a:srgbClr val="000000"/>
              </a:solidFill>
              <a:latin typeface="Calibri (MS)" panose="020F0502020204030204"/>
              <a:ea typeface="Calibri (MS)" panose="020F0502020204030204"/>
              <a:cs typeface="Calibri (MS)" panose="020F0502020204030204"/>
              <a:sym typeface="Calibri (MS)" panose="020F0502020204030204"/>
            </a:endParaRPr>
          </a:p>
          <a:p>
            <a:pPr marL="626110" lvl="1" indent="-313055" algn="l">
              <a:lnSpc>
                <a:spcPts val="3480"/>
              </a:lnSpc>
              <a:spcBef>
                <a:spcPct val="0"/>
              </a:spcBef>
              <a:buAutoNum type="arabicPeriod"/>
            </a:pPr>
            <a:r>
              <a:rPr lang="en-US" sz="2900">
                <a:solidFill>
                  <a:srgbClr val="000000"/>
                </a:solidFill>
                <a:latin typeface="Calibri (MS)" panose="020F0502020204030204"/>
                <a:ea typeface="Calibri (MS)" panose="020F0502020204030204"/>
                <a:cs typeface="Calibri (MS)" panose="020F0502020204030204"/>
                <a:sym typeface="Calibri (MS)" panose="020F0502020204030204"/>
              </a:rPr>
              <a:t>性能提升稳定：在中等压力测试下表现出一致</a:t>
            </a:r>
            <a:r>
              <a:rPr lang="en-US" sz="2900">
                <a:solidFill>
                  <a:srgbClr val="000000"/>
                </a:solidFill>
                <a:latin typeface="Calibri (MS)" panose="020F0502020204030204"/>
                <a:ea typeface="Calibri (MS)" panose="020F0502020204030204"/>
                <a:cs typeface="Calibri (MS)" panose="020F0502020204030204"/>
                <a:sym typeface="Calibri (MS)" panose="020F0502020204030204"/>
              </a:rPr>
              <a:t>的性能优势。虽然只有2-4%左右的提升，离仿真实验的10-15%执行时间提升还有差距。不过后续会做到这个效果。</a:t>
            </a:r>
            <a:endParaRPr lang="en-US" sz="2900">
              <a:solidFill>
                <a:srgbClr val="000000"/>
              </a:solidFill>
              <a:latin typeface="Calibri (MS)" panose="020F0502020204030204"/>
              <a:ea typeface="Calibri (MS)" panose="020F0502020204030204"/>
              <a:cs typeface="Calibri (MS)" panose="020F0502020204030204"/>
              <a:sym typeface="Calibri (MS)" panose="020F0502020204030204"/>
            </a:endParaRPr>
          </a:p>
          <a:p>
            <a:pPr marL="626110" lvl="1" indent="-313055" algn="l">
              <a:lnSpc>
                <a:spcPts val="3480"/>
              </a:lnSpc>
              <a:spcBef>
                <a:spcPct val="0"/>
              </a:spcBef>
              <a:buAutoNum type="arabicPeriod"/>
            </a:pPr>
            <a:r>
              <a:rPr lang="en-US" sz="2900">
                <a:solidFill>
                  <a:srgbClr val="000000"/>
                </a:solidFill>
                <a:latin typeface="Calibri (MS)" panose="020F0502020204030204"/>
                <a:ea typeface="Calibri (MS)" panose="020F0502020204030204"/>
                <a:cs typeface="Calibri (MS)" panose="020F0502020204030204"/>
                <a:sym typeface="Calibri (MS)" panose="020F0502020204030204"/>
              </a:rPr>
              <a:t>调度策略有效：缓存感知机制在实际工作负载中发挥了预期作用</a:t>
            </a:r>
            <a:endParaRPr lang="en-US" sz="2900">
              <a:solidFill>
                <a:srgbClr val="000000"/>
              </a:solidFill>
              <a:latin typeface="Calibri (MS)" panose="020F0502020204030204"/>
              <a:ea typeface="Calibri (MS)" panose="020F0502020204030204"/>
              <a:cs typeface="Calibri (MS)" panose="020F0502020204030204"/>
              <a:sym typeface="Calibri (MS)" panose="020F0502020204030204"/>
            </a:endParaRPr>
          </a:p>
          <a:p>
            <a:pPr algn="l">
              <a:lnSpc>
                <a:spcPts val="3480"/>
              </a:lnSpc>
              <a:spcBef>
                <a:spcPct val="0"/>
              </a:spcBef>
            </a:p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10800000">
            <a:off x="0" y="-11"/>
            <a:ext cx="18288000" cy="3639927"/>
            <a:chOff x="0" y="0"/>
            <a:chExt cx="24384000" cy="4853236"/>
          </a:xfrm>
        </p:grpSpPr>
        <p:sp>
          <p:nvSpPr>
            <p:cNvPr id="4" name="Freeform 4"/>
            <p:cNvSpPr/>
            <p:nvPr/>
          </p:nvSpPr>
          <p:spPr>
            <a:xfrm>
              <a:off x="0" y="0"/>
              <a:ext cx="24384000" cy="4853178"/>
            </a:xfrm>
            <a:custGeom>
              <a:avLst/>
              <a:gdLst/>
              <a:ahLst/>
              <a:cxnLst/>
              <a:rect l="l" t="t" r="r" b="b"/>
              <a:pathLst>
                <a:path w="24384000" h="4853178">
                  <a:moveTo>
                    <a:pt x="0" y="0"/>
                  </a:moveTo>
                  <a:lnTo>
                    <a:pt x="24384000" y="0"/>
                  </a:lnTo>
                  <a:lnTo>
                    <a:pt x="24384000" y="4853178"/>
                  </a:lnTo>
                  <a:lnTo>
                    <a:pt x="0" y="4853178"/>
                  </a:lnTo>
                  <a:close/>
                </a:path>
              </a:pathLst>
            </a:custGeom>
            <a:solidFill>
              <a:srgbClr val="014924"/>
            </a:solidFill>
          </p:spPr>
        </p:sp>
      </p:grpSp>
      <p:grpSp>
        <p:nvGrpSpPr>
          <p:cNvPr id="5" name="Group 5"/>
          <p:cNvGrpSpPr/>
          <p:nvPr/>
        </p:nvGrpSpPr>
        <p:grpSpPr>
          <a:xfrm rot="-10800000">
            <a:off x="0" y="3740912"/>
            <a:ext cx="18288000" cy="106047"/>
            <a:chOff x="0" y="0"/>
            <a:chExt cx="24384000" cy="141396"/>
          </a:xfrm>
        </p:grpSpPr>
        <p:sp>
          <p:nvSpPr>
            <p:cNvPr id="6" name="Freeform 6"/>
            <p:cNvSpPr/>
            <p:nvPr/>
          </p:nvSpPr>
          <p:spPr>
            <a:xfrm>
              <a:off x="0" y="0"/>
              <a:ext cx="24384000" cy="141351"/>
            </a:xfrm>
            <a:custGeom>
              <a:avLst/>
              <a:gdLst/>
              <a:ahLst/>
              <a:cxnLst/>
              <a:rect l="l" t="t" r="r" b="b"/>
              <a:pathLst>
                <a:path w="24384000" h="141351">
                  <a:moveTo>
                    <a:pt x="0" y="0"/>
                  </a:moveTo>
                  <a:lnTo>
                    <a:pt x="24384000" y="0"/>
                  </a:lnTo>
                  <a:lnTo>
                    <a:pt x="24384000" y="141351"/>
                  </a:lnTo>
                  <a:lnTo>
                    <a:pt x="0" y="141351"/>
                  </a:lnTo>
                  <a:close/>
                </a:path>
              </a:pathLst>
            </a:custGeom>
            <a:solidFill>
              <a:srgbClr val="014924"/>
            </a:solidFill>
          </p:spPr>
        </p:sp>
      </p:grpSp>
      <p:sp>
        <p:nvSpPr>
          <p:cNvPr id="7" name="TextBox 7"/>
          <p:cNvSpPr txBox="1"/>
          <p:nvPr/>
        </p:nvSpPr>
        <p:spPr>
          <a:xfrm>
            <a:off x="1774125" y="7068175"/>
            <a:ext cx="15328928" cy="1183631"/>
          </a:xfrm>
          <a:prstGeom prst="rect">
            <a:avLst/>
          </a:prstGeom>
        </p:spPr>
        <p:txBody>
          <a:bodyPr lIns="0" tIns="0" rIns="0" bIns="0" rtlCol="0" anchor="t">
            <a:spAutoFit/>
          </a:bodyPr>
          <a:lstStyle/>
          <a:p>
            <a:pPr algn="ctr">
              <a:lnSpc>
                <a:spcPts val="8640"/>
              </a:lnSpc>
            </a:pPr>
            <a:r>
              <a:rPr lang="en-US" sz="7200" b="1">
                <a:solidFill>
                  <a:srgbClr val="014924"/>
                </a:solidFill>
                <a:latin typeface="Arimo Bold" panose="020B0704020202020204"/>
                <a:ea typeface="Arimo Bold" panose="020B0704020202020204"/>
                <a:cs typeface="Arimo Bold" panose="020B0704020202020204"/>
                <a:sym typeface="Arimo Bold" panose="020B0704020202020204"/>
              </a:rPr>
              <a:t>望各位评委老师们批评指正！</a:t>
            </a:r>
            <a:endParaRPr lang="en-US" sz="7200" b="1">
              <a:solidFill>
                <a:srgbClr val="014924"/>
              </a:solidFill>
              <a:latin typeface="Arimo Bold" panose="020B0704020202020204"/>
              <a:ea typeface="Arimo Bold" panose="020B0704020202020204"/>
              <a:cs typeface="Arimo Bold" panose="020B0704020202020204"/>
              <a:sym typeface="Arimo Bold" panose="020B0704020202020204"/>
            </a:endParaRPr>
          </a:p>
        </p:txBody>
      </p:sp>
      <p:sp>
        <p:nvSpPr>
          <p:cNvPr id="8" name="TextBox 8"/>
          <p:cNvSpPr txBox="1"/>
          <p:nvPr/>
        </p:nvSpPr>
        <p:spPr>
          <a:xfrm>
            <a:off x="577212" y="-95077"/>
            <a:ext cx="17133577" cy="4745398"/>
          </a:xfrm>
          <a:prstGeom prst="rect">
            <a:avLst/>
          </a:prstGeom>
        </p:spPr>
        <p:txBody>
          <a:bodyPr lIns="0" tIns="0" rIns="0" bIns="0" rtlCol="0" anchor="t">
            <a:spAutoFit/>
          </a:bodyPr>
          <a:lstStyle/>
          <a:p>
            <a:pPr algn="just">
              <a:lnSpc>
                <a:spcPts val="35820"/>
              </a:lnSpc>
            </a:pPr>
            <a:r>
              <a:rPr lang="en-US" sz="29850" b="1">
                <a:solidFill>
                  <a:srgbClr val="FFFFFF">
                    <a:alpha val="9804"/>
                  </a:srgbClr>
                </a:solidFill>
                <a:latin typeface="Arimo Bold" panose="020B0704020202020204"/>
                <a:ea typeface="Arimo Bold" panose="020B0704020202020204"/>
                <a:cs typeface="Arimo Bold" panose="020B0704020202020204"/>
                <a:sym typeface="Arimo Bold" panose="020B0704020202020204"/>
              </a:rPr>
              <a:t>THANKS</a:t>
            </a:r>
            <a:endParaRPr lang="en-US" sz="29850" b="1">
              <a:solidFill>
                <a:srgbClr val="FFFFFF">
                  <a:alpha val="9804"/>
                </a:srgbClr>
              </a:solidFill>
              <a:latin typeface="Arimo Bold" panose="020B0704020202020204"/>
              <a:ea typeface="Arimo Bold" panose="020B0704020202020204"/>
              <a:cs typeface="Arimo Bold" panose="020B0704020202020204"/>
              <a:sym typeface="Arimo Bold" panose="020B0704020202020204"/>
            </a:endParaRPr>
          </a:p>
        </p:txBody>
      </p:sp>
      <p:grpSp>
        <p:nvGrpSpPr>
          <p:cNvPr id="9" name="Group 9"/>
          <p:cNvGrpSpPr/>
          <p:nvPr/>
        </p:nvGrpSpPr>
        <p:grpSpPr>
          <a:xfrm rot="0">
            <a:off x="3089108" y="1932174"/>
            <a:ext cx="3658785" cy="3658788"/>
            <a:chOff x="0" y="0"/>
            <a:chExt cx="4878380" cy="4878384"/>
          </a:xfrm>
        </p:grpSpPr>
        <p:sp>
          <p:nvSpPr>
            <p:cNvPr id="10" name="Freeform 10"/>
            <p:cNvSpPr/>
            <p:nvPr/>
          </p:nvSpPr>
          <p:spPr>
            <a:xfrm>
              <a:off x="0" y="0"/>
              <a:ext cx="4878324" cy="4878324"/>
            </a:xfrm>
            <a:custGeom>
              <a:avLst/>
              <a:gdLst/>
              <a:ahLst/>
              <a:cxnLst/>
              <a:rect l="l" t="t" r="r" b="b"/>
              <a:pathLst>
                <a:path w="4878324" h="4878324">
                  <a:moveTo>
                    <a:pt x="0" y="2439162"/>
                  </a:moveTo>
                  <a:cubicBezTo>
                    <a:pt x="0" y="1092073"/>
                    <a:pt x="1092073" y="0"/>
                    <a:pt x="2439162" y="0"/>
                  </a:cubicBezTo>
                  <a:cubicBezTo>
                    <a:pt x="3786251" y="0"/>
                    <a:pt x="4878324" y="1092073"/>
                    <a:pt x="4878324" y="2439162"/>
                  </a:cubicBezTo>
                  <a:cubicBezTo>
                    <a:pt x="4878324" y="3786251"/>
                    <a:pt x="3786378" y="4878324"/>
                    <a:pt x="2439162" y="4878324"/>
                  </a:cubicBezTo>
                  <a:cubicBezTo>
                    <a:pt x="1091946" y="4878324"/>
                    <a:pt x="0" y="3786378"/>
                    <a:pt x="0" y="2439162"/>
                  </a:cubicBezTo>
                  <a:close/>
                </a:path>
              </a:pathLst>
            </a:custGeom>
            <a:gradFill rotWithShape="1">
              <a:gsLst>
                <a:gs pos="0">
                  <a:srgbClr val="FFFFFF">
                    <a:alpha val="100000"/>
                  </a:srgbClr>
                </a:gs>
                <a:gs pos="100000">
                  <a:srgbClr val="E8E8E8">
                    <a:alpha val="100000"/>
                  </a:srgbClr>
                </a:gs>
              </a:gsLst>
              <a:lin ang="5400000"/>
            </a:gradFill>
          </p:spPr>
        </p:sp>
      </p:grpSp>
      <p:grpSp>
        <p:nvGrpSpPr>
          <p:cNvPr id="11" name="Group 11"/>
          <p:cNvGrpSpPr/>
          <p:nvPr/>
        </p:nvGrpSpPr>
        <p:grpSpPr>
          <a:xfrm rot="-10800000">
            <a:off x="3308321" y="2151383"/>
            <a:ext cx="3183307" cy="3183308"/>
            <a:chOff x="0" y="0"/>
            <a:chExt cx="4244409" cy="4244411"/>
          </a:xfrm>
        </p:grpSpPr>
        <p:sp>
          <p:nvSpPr>
            <p:cNvPr id="12" name="Freeform 12"/>
            <p:cNvSpPr/>
            <p:nvPr/>
          </p:nvSpPr>
          <p:spPr>
            <a:xfrm>
              <a:off x="0" y="0"/>
              <a:ext cx="4244340" cy="4244340"/>
            </a:xfrm>
            <a:custGeom>
              <a:avLst/>
              <a:gdLst/>
              <a:ahLst/>
              <a:cxnLst/>
              <a:rect l="l" t="t" r="r" b="b"/>
              <a:pathLst>
                <a:path w="4244340" h="4244340">
                  <a:moveTo>
                    <a:pt x="0" y="2122170"/>
                  </a:moveTo>
                  <a:cubicBezTo>
                    <a:pt x="0" y="950087"/>
                    <a:pt x="950087" y="0"/>
                    <a:pt x="2122170" y="0"/>
                  </a:cubicBezTo>
                  <a:cubicBezTo>
                    <a:pt x="3294253" y="0"/>
                    <a:pt x="4244340" y="950087"/>
                    <a:pt x="4244340" y="2122170"/>
                  </a:cubicBezTo>
                  <a:cubicBezTo>
                    <a:pt x="4244340" y="3294253"/>
                    <a:pt x="3294253" y="4244340"/>
                    <a:pt x="2122170" y="4244340"/>
                  </a:cubicBezTo>
                  <a:cubicBezTo>
                    <a:pt x="950087" y="4244340"/>
                    <a:pt x="0" y="3294253"/>
                    <a:pt x="0" y="2122170"/>
                  </a:cubicBezTo>
                  <a:close/>
                </a:path>
              </a:pathLst>
            </a:custGeom>
            <a:gradFill rotWithShape="1">
              <a:gsLst>
                <a:gs pos="0">
                  <a:srgbClr val="FFFFFF">
                    <a:alpha val="100000"/>
                  </a:srgbClr>
                </a:gs>
                <a:gs pos="100000">
                  <a:srgbClr val="E8E8E8">
                    <a:alpha val="100000"/>
                  </a:srgbClr>
                </a:gs>
              </a:gsLst>
              <a:lin ang="5400000"/>
            </a:gradFill>
          </p:spPr>
        </p:sp>
      </p:grpSp>
      <p:grpSp>
        <p:nvGrpSpPr>
          <p:cNvPr id="13" name="Group 13"/>
          <p:cNvGrpSpPr>
            <a:grpSpLocks noChangeAspect="1"/>
          </p:cNvGrpSpPr>
          <p:nvPr/>
        </p:nvGrpSpPr>
        <p:grpSpPr>
          <a:xfrm rot="0">
            <a:off x="3466206" y="2227816"/>
            <a:ext cx="2904588" cy="2896216"/>
            <a:chOff x="0" y="0"/>
            <a:chExt cx="3872784" cy="3861622"/>
          </a:xfrm>
        </p:grpSpPr>
        <p:sp>
          <p:nvSpPr>
            <p:cNvPr id="14" name="Freeform 14"/>
            <p:cNvSpPr/>
            <p:nvPr/>
          </p:nvSpPr>
          <p:spPr>
            <a:xfrm>
              <a:off x="0" y="0"/>
              <a:ext cx="3872738" cy="3861562"/>
            </a:xfrm>
            <a:custGeom>
              <a:avLst/>
              <a:gdLst/>
              <a:ahLst/>
              <a:cxnLst/>
              <a:rect l="l" t="t" r="r" b="b"/>
              <a:pathLst>
                <a:path w="3872738" h="3861562">
                  <a:moveTo>
                    <a:pt x="0" y="0"/>
                  </a:moveTo>
                  <a:lnTo>
                    <a:pt x="3872738" y="0"/>
                  </a:lnTo>
                  <a:lnTo>
                    <a:pt x="3872738" y="3861562"/>
                  </a:lnTo>
                  <a:lnTo>
                    <a:pt x="0" y="3861562"/>
                  </a:lnTo>
                  <a:lnTo>
                    <a:pt x="0" y="0"/>
                  </a:lnTo>
                  <a:close/>
                </a:path>
              </a:pathLst>
            </a:custGeom>
            <a:blipFill>
              <a:blip r:embed="rId2"/>
              <a:stretch>
                <a:fillRect t="-36" r="-1" b="-38"/>
              </a:stretch>
            </a:blipFill>
          </p:spPr>
        </p:sp>
      </p:grpSp>
    </p:spTree>
  </p:cSld>
  <p:clrMapOvr>
    <a:masterClrMapping/>
  </p:clrMapOvr>
</p:sld>
</file>

<file path=ppt/tags/tag1.xml><?xml version="1.0" encoding="utf-8"?>
<p:tagLst xmlns:p="http://schemas.openxmlformats.org/presentationml/2006/main">
  <p:tag name="KSO_WM_UNIT_TABLE_BEAUTIFY" val="smartTable{7b9bae44-b61d-4fdd-b027-dfc691a8f3ed}"/>
</p:tagLst>
</file>

<file path=ppt/tags/tag2.xml><?xml version="1.0" encoding="utf-8"?>
<p:tagLst xmlns:p="http://schemas.openxmlformats.org/presentationml/2006/main">
  <p:tag name="KSO_WM_UNIT_TABLE_BEAUTIFY" val="smartTable{9e67a329-87f5-4c65-8d4a-28b90fc4c2f9}"/>
</p:tagLst>
</file>

<file path=ppt/tags/tag3.xml><?xml version="1.0" encoding="utf-8"?>
<p:tagLst xmlns:p="http://schemas.openxmlformats.org/presentationml/2006/main">
  <p:tag name="KSO_WM_UNIT_TABLE_BEAUTIFY" val="smartTable{aa75d056-cc15-4eb0-a396-041e06e5b830}"/>
  <p:tag name="TABLE_ENDDRAG_ORIGIN_RECT" val="1324*563"/>
  <p:tag name="TABLE_ENDDRAG_RECT" val="55*176*1324*563"/>
</p:tagLst>
</file>

<file path=ppt/tags/tag4.xml><?xml version="1.0" encoding="utf-8"?>
<p:tagLst xmlns:p="http://schemas.openxmlformats.org/presentationml/2006/main">
  <p:tag name="COMMONDATA" val="eyJoZGlkIjoiMjZiOGRiYThkM2I1OWIwNDYwMmY5YTk1OGE0YTQwZGIifQ=="/>
  <p:tag name="commondata" val="eyJoZGlkIjoiZjM4ZTA1ZWU0YzdlOTJmZDdhNzE1MjRiNGI0OTk2ZTM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6817</Words>
  <Application>WPS 演示</Application>
  <PresentationFormat>On-screen Show (4:3)</PresentationFormat>
  <Paragraphs>494</Paragraphs>
  <Slides>28</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28</vt:i4>
      </vt:variant>
    </vt:vector>
  </HeadingPairs>
  <TitlesOfParts>
    <vt:vector size="47" baseType="lpstr">
      <vt:lpstr>Arial</vt:lpstr>
      <vt:lpstr>宋体</vt:lpstr>
      <vt:lpstr>Wingdings</vt:lpstr>
      <vt:lpstr>Arimo Bold</vt:lpstr>
      <vt:lpstr>Arimo</vt:lpstr>
      <vt:lpstr>Arial</vt:lpstr>
      <vt:lpstr>Calibri (MS)</vt:lpstr>
      <vt:lpstr>Calibri (MS) Bold</vt:lpstr>
      <vt:lpstr>思源宋体 Bold</vt:lpstr>
      <vt:lpstr>思源宋体</vt:lpstr>
      <vt:lpstr>微软雅黑</vt:lpstr>
      <vt:lpstr>Arial Unicode MS</vt:lpstr>
      <vt:lpstr>Calibri</vt:lpstr>
      <vt:lpstr>Consolas</vt:lpstr>
      <vt:lpstr>字由点字典黑</vt:lpstr>
      <vt:lpstr>黑体</vt:lpstr>
      <vt:lpstr>字由点字典黑 Bold</vt:lpstr>
      <vt:lpstr>可画糯糯体-简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proj59.pptx</dc:title>
  <dc:creator/>
  <cp:lastModifiedBy>林炜东</cp:lastModifiedBy>
  <cp:revision>6</cp:revision>
  <dcterms:created xsi:type="dcterms:W3CDTF">2006-08-16T00:00:00Z</dcterms:created>
  <dcterms:modified xsi:type="dcterms:W3CDTF">2025-06-28T13:46:39Z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C0CB59357DA6439999F4ED69FB373172_12</vt:lpwstr>
  </property>
  <property fmtid="{D5CDD505-2E9C-101B-9397-08002B2CF9AE}" pid="3" name="KSOProductBuildVer">
    <vt:lpwstr>2052-12.1.0.18608</vt:lpwstr>
  </property>
</Properties>
</file>